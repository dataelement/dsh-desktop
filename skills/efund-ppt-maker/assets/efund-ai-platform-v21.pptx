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5"/>
  </p:notesMasterIdLst>
  <p:handoutMasterIdLst>
    <p:handoutMasterId r:id="rId36"/>
  </p:handoutMasterIdLst>
  <p:sldIdLst>
    <p:sldId id="801" r:id="rId2"/>
    <p:sldId id="800" r:id="rId3"/>
    <p:sldId id="802" r:id="rId4"/>
    <p:sldId id="790" r:id="rId5"/>
    <p:sldId id="810" r:id="rId6"/>
    <p:sldId id="793" r:id="rId7"/>
    <p:sldId id="798" r:id="rId8"/>
    <p:sldId id="804" r:id="rId9"/>
    <p:sldId id="791" r:id="rId10"/>
    <p:sldId id="775" r:id="rId11"/>
    <p:sldId id="774" r:id="rId12"/>
    <p:sldId id="421" r:id="rId13"/>
    <p:sldId id="808" r:id="rId14"/>
    <p:sldId id="807" r:id="rId15"/>
    <p:sldId id="789" r:id="rId16"/>
    <p:sldId id="806" r:id="rId17"/>
    <p:sldId id="490" r:id="rId18"/>
    <p:sldId id="759" r:id="rId19"/>
    <p:sldId id="378" r:id="rId20"/>
    <p:sldId id="381" r:id="rId21"/>
    <p:sldId id="383" r:id="rId22"/>
    <p:sldId id="773" r:id="rId23"/>
    <p:sldId id="814" r:id="rId24"/>
    <p:sldId id="813" r:id="rId25"/>
    <p:sldId id="776" r:id="rId26"/>
    <p:sldId id="257" r:id="rId27"/>
    <p:sldId id="815" r:id="rId28"/>
    <p:sldId id="816" r:id="rId29"/>
    <p:sldId id="513" r:id="rId30"/>
    <p:sldId id="788" r:id="rId31"/>
    <p:sldId id="812" r:id="rId32"/>
    <p:sldId id="811" r:id="rId33"/>
    <p:sldId id="324" r:id="rId34"/>
  </p:sldIdLst>
  <p:sldSz cx="9144000" cy="5143500" type="screen16x9"/>
  <p:notesSz cx="6807200" cy="9939338"/>
  <p:defaultTextStyle>
    <a:defPPr>
      <a:defRPr lang="en-US"/>
    </a:defPPr>
    <a:lvl1pPr algn="l" rtl="0" fontAlgn="base">
      <a:spcBef>
        <a:spcPct val="0"/>
      </a:spcBef>
      <a:spcAft>
        <a:spcPct val="0"/>
      </a:spcAft>
      <a:defRPr sz="2400" kern="1200">
        <a:solidFill>
          <a:schemeClr val="tx1"/>
        </a:solidFill>
        <a:latin typeface="Arial" charset="0"/>
        <a:ea typeface="MS PGothic" charset="0"/>
        <a:cs typeface="MS PGothic" charset="0"/>
      </a:defRPr>
    </a:lvl1pPr>
    <a:lvl2pPr marL="457200" algn="l" rtl="0" fontAlgn="base">
      <a:spcBef>
        <a:spcPct val="0"/>
      </a:spcBef>
      <a:spcAft>
        <a:spcPct val="0"/>
      </a:spcAft>
      <a:defRPr sz="2400" kern="1200">
        <a:solidFill>
          <a:schemeClr val="tx1"/>
        </a:solidFill>
        <a:latin typeface="Arial" charset="0"/>
        <a:ea typeface="MS PGothic" charset="0"/>
        <a:cs typeface="MS PGothic" charset="0"/>
      </a:defRPr>
    </a:lvl2pPr>
    <a:lvl3pPr marL="914400" algn="l" rtl="0" fontAlgn="base">
      <a:spcBef>
        <a:spcPct val="0"/>
      </a:spcBef>
      <a:spcAft>
        <a:spcPct val="0"/>
      </a:spcAft>
      <a:defRPr sz="2400" kern="1200">
        <a:solidFill>
          <a:schemeClr val="tx1"/>
        </a:solidFill>
        <a:latin typeface="Arial" charset="0"/>
        <a:ea typeface="MS PGothic" charset="0"/>
        <a:cs typeface="MS PGothic" charset="0"/>
      </a:defRPr>
    </a:lvl3pPr>
    <a:lvl4pPr marL="1371600" algn="l" rtl="0" fontAlgn="base">
      <a:spcBef>
        <a:spcPct val="0"/>
      </a:spcBef>
      <a:spcAft>
        <a:spcPct val="0"/>
      </a:spcAft>
      <a:defRPr sz="2400" kern="1200">
        <a:solidFill>
          <a:schemeClr val="tx1"/>
        </a:solidFill>
        <a:latin typeface="Arial" charset="0"/>
        <a:ea typeface="MS PGothic" charset="0"/>
        <a:cs typeface="MS PGothic" charset="0"/>
      </a:defRPr>
    </a:lvl4pPr>
    <a:lvl5pPr marL="1828800" algn="l" rtl="0" fontAlgn="base">
      <a:spcBef>
        <a:spcPct val="0"/>
      </a:spcBef>
      <a:spcAft>
        <a:spcPct val="0"/>
      </a:spcAft>
      <a:defRPr sz="2400" kern="1200">
        <a:solidFill>
          <a:schemeClr val="tx1"/>
        </a:solidFill>
        <a:latin typeface="Arial" charset="0"/>
        <a:ea typeface="MS PGothic" charset="0"/>
        <a:cs typeface="MS PGothic" charset="0"/>
      </a:defRPr>
    </a:lvl5pPr>
    <a:lvl6pPr marL="2286000" algn="l" defTabSz="457200" rtl="0" eaLnBrk="1" latinLnBrk="0" hangingPunct="1">
      <a:defRPr sz="2400" kern="1200">
        <a:solidFill>
          <a:schemeClr val="tx1"/>
        </a:solidFill>
        <a:latin typeface="Arial" charset="0"/>
        <a:ea typeface="MS PGothic" charset="0"/>
        <a:cs typeface="MS PGothic" charset="0"/>
      </a:defRPr>
    </a:lvl6pPr>
    <a:lvl7pPr marL="2743200" algn="l" defTabSz="457200" rtl="0" eaLnBrk="1" latinLnBrk="0" hangingPunct="1">
      <a:defRPr sz="2400" kern="1200">
        <a:solidFill>
          <a:schemeClr val="tx1"/>
        </a:solidFill>
        <a:latin typeface="Arial" charset="0"/>
        <a:ea typeface="MS PGothic" charset="0"/>
        <a:cs typeface="MS PGothic" charset="0"/>
      </a:defRPr>
    </a:lvl7pPr>
    <a:lvl8pPr marL="3200400" algn="l" defTabSz="457200" rtl="0" eaLnBrk="1" latinLnBrk="0" hangingPunct="1">
      <a:defRPr sz="2400" kern="1200">
        <a:solidFill>
          <a:schemeClr val="tx1"/>
        </a:solidFill>
        <a:latin typeface="Arial" charset="0"/>
        <a:ea typeface="MS PGothic" charset="0"/>
        <a:cs typeface="MS PGothic" charset="0"/>
      </a:defRPr>
    </a:lvl8pPr>
    <a:lvl9pPr marL="3657600" algn="l" defTabSz="457200" rtl="0" eaLnBrk="1" latinLnBrk="0" hangingPunct="1">
      <a:defRPr sz="2400" kern="1200">
        <a:solidFill>
          <a:schemeClr val="tx1"/>
        </a:solidFill>
        <a:latin typeface="Arial" charset="0"/>
        <a:ea typeface="MS PGothic" charset="0"/>
        <a:cs typeface="MS PGothic" charset="0"/>
      </a:defRPr>
    </a:lvl9pPr>
  </p:defaultTextStyle>
  <p:extLst>
    <p:ext uri="{521415D9-36F7-43E2-AB2F-B90AF26B5E84}">
      <p14:sectionLst xmlns:p14="http://schemas.microsoft.com/office/powerpoint/2010/main">
        <p14:section name="默认节" id="{C191765C-B270-4847-9700-050BD98DC0A1}">
          <p14:sldIdLst>
            <p14:sldId id="801"/>
            <p14:sldId id="800"/>
            <p14:sldId id="802"/>
            <p14:sldId id="790"/>
            <p14:sldId id="810"/>
            <p14:sldId id="793"/>
            <p14:sldId id="798"/>
            <p14:sldId id="804"/>
            <p14:sldId id="791"/>
            <p14:sldId id="775"/>
            <p14:sldId id="774"/>
            <p14:sldId id="421"/>
            <p14:sldId id="808"/>
            <p14:sldId id="807"/>
            <p14:sldId id="789"/>
            <p14:sldId id="806"/>
            <p14:sldId id="490"/>
            <p14:sldId id="759"/>
            <p14:sldId id="378"/>
            <p14:sldId id="381"/>
            <p14:sldId id="383"/>
            <p14:sldId id="773"/>
            <p14:sldId id="814"/>
            <p14:sldId id="813"/>
            <p14:sldId id="776"/>
            <p14:sldId id="257"/>
            <p14:sldId id="815"/>
            <p14:sldId id="816"/>
            <p14:sldId id="513"/>
            <p14:sldId id="788"/>
            <p14:sldId id="812"/>
            <p14:sldId id="811"/>
            <p14:sldId id="324"/>
          </p14:sldIdLst>
        </p14:section>
      </p14:sectionLst>
    </p:ext>
    <p:ext uri="{EFAFB233-063F-42B5-8137-9DF3F51BA10A}">
      <p15:sldGuideLst xmlns:p15="http://schemas.microsoft.com/office/powerpoint/2012/main">
        <p15:guide id="1" orient="horz" pos="865">
          <p15:clr>
            <a:srgbClr val="A4A3A4"/>
          </p15:clr>
        </p15:guide>
        <p15:guide id="2" pos="230">
          <p15:clr>
            <a:srgbClr val="A4A3A4"/>
          </p15:clr>
        </p15:guide>
        <p15:guide id="3" pos="2888">
          <p15:clr>
            <a:srgbClr val="A4A3A4"/>
          </p15:clr>
        </p15:guide>
        <p15:guide id="4" pos="3482">
          <p15:clr>
            <a:srgbClr val="A4A3A4"/>
          </p15:clr>
        </p15:guide>
        <p15:guide id="5"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F6FF"/>
    <a:srgbClr val="FFC000"/>
    <a:srgbClr val="D3E7FF"/>
    <a:srgbClr val="E3B115"/>
    <a:srgbClr val="FFC819"/>
    <a:srgbClr val="3854FF"/>
    <a:srgbClr val="B8E7FF"/>
    <a:srgbClr val="07439A"/>
    <a:srgbClr val="F6F3F9"/>
    <a:srgbClr val="C1C6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50" autoAdjust="0"/>
    <p:restoredTop sz="96405" autoAdjust="0"/>
  </p:normalViewPr>
  <p:slideViewPr>
    <p:cSldViewPr snapToGrid="0" showGuides="1">
      <p:cViewPr varScale="1">
        <p:scale>
          <a:sx n="166" d="100"/>
          <a:sy n="166" d="100"/>
        </p:scale>
        <p:origin x="184" y="328"/>
      </p:cViewPr>
      <p:guideLst>
        <p:guide orient="horz" pos="865"/>
        <p:guide pos="230"/>
        <p:guide pos="2888"/>
        <p:guide pos="3482"/>
        <p:guide pos="546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9" d="100"/>
          <a:sy n="59" d="100"/>
        </p:scale>
        <p:origin x="255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1026"/>
          <p:cNvSpPr>
            <a:spLocks noGrp="1"/>
          </p:cNvSpPr>
          <p:nvPr>
            <p:ph type="hdr" sz="quarter"/>
          </p:nvPr>
        </p:nvSpPr>
        <p:spPr bwMode="auto">
          <a:xfrm>
            <a:off x="1" y="0"/>
            <a:ext cx="2949786" cy="496967"/>
          </a:xfrm>
          <a:prstGeom prst="rect">
            <a:avLst/>
          </a:prstGeom>
          <a:noFill/>
          <a:ln w="9525">
            <a:noFill/>
            <a:miter lim="800000"/>
          </a:ln>
        </p:spPr>
        <p:txBody>
          <a:bodyPr vert="horz" wrap="square" lIns="95680" tIns="47840" rIns="95680" bIns="47840" numCol="1" anchor="t" anchorCtr="0" compatLnSpc="1"/>
          <a:lstStyle>
            <a:lvl1pPr eaLnBrk="0" hangingPunct="0">
              <a:defRPr sz="1300">
                <a:ea typeface="MS PGothic" charset="0"/>
                <a:cs typeface="+mn-cs"/>
              </a:defRPr>
            </a:lvl1pPr>
          </a:lstStyle>
          <a:p>
            <a:pPr>
              <a:defRPr/>
            </a:pPr>
            <a:endParaRPr lang="zh-CN" altLang="zh-CN"/>
          </a:p>
        </p:txBody>
      </p:sp>
      <p:sp>
        <p:nvSpPr>
          <p:cNvPr id="6147" name="Rectangle 1027"/>
          <p:cNvSpPr>
            <a:spLocks noGrp="1"/>
          </p:cNvSpPr>
          <p:nvPr>
            <p:ph type="dt" sz="quarter" idx="1"/>
          </p:nvPr>
        </p:nvSpPr>
        <p:spPr bwMode="auto">
          <a:xfrm>
            <a:off x="3857414" y="0"/>
            <a:ext cx="2949786" cy="496967"/>
          </a:xfrm>
          <a:prstGeom prst="rect">
            <a:avLst/>
          </a:prstGeom>
          <a:noFill/>
          <a:ln w="9525">
            <a:noFill/>
            <a:miter lim="800000"/>
          </a:ln>
        </p:spPr>
        <p:txBody>
          <a:bodyPr vert="horz" wrap="square" lIns="95680" tIns="47840" rIns="95680" bIns="47840" numCol="1" anchor="t" anchorCtr="0" compatLnSpc="1"/>
          <a:lstStyle>
            <a:lvl1pPr algn="r" eaLnBrk="0" hangingPunct="0">
              <a:defRPr sz="1300">
                <a:ea typeface="MS PGothic" charset="0"/>
                <a:cs typeface="+mn-cs"/>
              </a:defRPr>
            </a:lvl1pPr>
          </a:lstStyle>
          <a:p>
            <a:pPr>
              <a:defRPr/>
            </a:pPr>
            <a:fld id="{A68960BB-85D2-174E-9006-270BC3509234}" type="datetime1">
              <a:rPr lang="en-US" altLang="zh-CN" smtClean="0"/>
              <a:t>7/23/26</a:t>
            </a:fld>
            <a:endParaRPr lang="en-US" altLang="zh-CN" dirty="0"/>
          </a:p>
        </p:txBody>
      </p:sp>
      <p:sp>
        <p:nvSpPr>
          <p:cNvPr id="6148" name="Rectangle 1028"/>
          <p:cNvSpPr>
            <a:spLocks noGrp="1"/>
          </p:cNvSpPr>
          <p:nvPr>
            <p:ph type="ftr" sz="quarter" idx="2"/>
          </p:nvPr>
        </p:nvSpPr>
        <p:spPr bwMode="auto">
          <a:xfrm>
            <a:off x="1" y="9442371"/>
            <a:ext cx="2949786" cy="496967"/>
          </a:xfrm>
          <a:prstGeom prst="rect">
            <a:avLst/>
          </a:prstGeom>
          <a:noFill/>
          <a:ln w="9525">
            <a:noFill/>
            <a:miter lim="800000"/>
          </a:ln>
        </p:spPr>
        <p:txBody>
          <a:bodyPr vert="horz" wrap="square" lIns="95680" tIns="47840" rIns="95680" bIns="47840" numCol="1" anchor="b" anchorCtr="0" compatLnSpc="1"/>
          <a:lstStyle>
            <a:lvl1pPr eaLnBrk="0" hangingPunct="0">
              <a:defRPr sz="1300">
                <a:ea typeface="MS PGothic" charset="0"/>
                <a:cs typeface="+mn-cs"/>
              </a:defRPr>
            </a:lvl1pPr>
          </a:lstStyle>
          <a:p>
            <a:pPr>
              <a:defRPr/>
            </a:pPr>
            <a:endParaRPr lang="zh-CN" altLang="zh-CN"/>
          </a:p>
        </p:txBody>
      </p:sp>
      <p:sp>
        <p:nvSpPr>
          <p:cNvPr id="6149" name="Rectangle 1029"/>
          <p:cNvSpPr>
            <a:spLocks noGrp="1"/>
          </p:cNvSpPr>
          <p:nvPr>
            <p:ph type="sldNum" sz="quarter" idx="3"/>
          </p:nvPr>
        </p:nvSpPr>
        <p:spPr bwMode="auto">
          <a:xfrm>
            <a:off x="3857414" y="9442371"/>
            <a:ext cx="2949786" cy="496967"/>
          </a:xfrm>
          <a:prstGeom prst="rect">
            <a:avLst/>
          </a:prstGeom>
          <a:noFill/>
          <a:ln w="9525">
            <a:noFill/>
            <a:miter lim="800000"/>
          </a:ln>
        </p:spPr>
        <p:txBody>
          <a:bodyPr vert="horz" wrap="square" lIns="95680" tIns="47840" rIns="95680" bIns="47840" numCol="1" anchor="b" anchorCtr="0" compatLnSpc="1"/>
          <a:lstStyle>
            <a:lvl1pPr algn="r" eaLnBrk="0" hangingPunct="0">
              <a:defRPr sz="1300">
                <a:ea typeface="MS PGothic" charset="0"/>
                <a:cs typeface="+mn-cs"/>
              </a:defRPr>
            </a:lvl1pPr>
          </a:lstStyle>
          <a:p>
            <a:pPr>
              <a:defRPr/>
            </a:pPr>
            <a:fld id="{CE4CA4F6-556B-7242-8BE3-9F4ABA8DAB66}" type="slidenum">
              <a:rPr lang="en-US" altLang="zh-CN"/>
              <a:t>‹#›</a:t>
            </a:fld>
            <a:endParaRPr lang="en-US" altLang="zh-CN"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p:cNvSpPr>
          <p:nvPr>
            <p:ph type="hdr" sz="quarter"/>
          </p:nvPr>
        </p:nvSpPr>
        <p:spPr bwMode="auto">
          <a:xfrm>
            <a:off x="1" y="0"/>
            <a:ext cx="2949786" cy="496967"/>
          </a:xfrm>
          <a:prstGeom prst="rect">
            <a:avLst/>
          </a:prstGeom>
          <a:noFill/>
          <a:ln w="9525">
            <a:noFill/>
            <a:miter lim="800000"/>
          </a:ln>
        </p:spPr>
        <p:txBody>
          <a:bodyPr vert="horz" wrap="square" lIns="95680" tIns="47840" rIns="95680" bIns="47840" numCol="1" anchor="t" anchorCtr="0" compatLnSpc="1"/>
          <a:lstStyle>
            <a:lvl1pPr eaLnBrk="0" hangingPunct="0">
              <a:defRPr sz="1300">
                <a:ea typeface="MS PGothic" charset="0"/>
                <a:cs typeface="+mn-cs"/>
              </a:defRPr>
            </a:lvl1pPr>
          </a:lstStyle>
          <a:p>
            <a:pPr>
              <a:defRPr/>
            </a:pPr>
            <a:endParaRPr lang="zh-CN" altLang="zh-CN"/>
          </a:p>
        </p:txBody>
      </p:sp>
      <p:sp>
        <p:nvSpPr>
          <p:cNvPr id="5123" name="Rectangle 1027"/>
          <p:cNvSpPr>
            <a:spLocks noGrp="1"/>
          </p:cNvSpPr>
          <p:nvPr>
            <p:ph type="dt" idx="1"/>
          </p:nvPr>
        </p:nvSpPr>
        <p:spPr bwMode="auto">
          <a:xfrm>
            <a:off x="3857414" y="0"/>
            <a:ext cx="2949786" cy="496967"/>
          </a:xfrm>
          <a:prstGeom prst="rect">
            <a:avLst/>
          </a:prstGeom>
          <a:noFill/>
          <a:ln w="9525">
            <a:noFill/>
            <a:miter lim="800000"/>
          </a:ln>
        </p:spPr>
        <p:txBody>
          <a:bodyPr vert="horz" wrap="square" lIns="95680" tIns="47840" rIns="95680" bIns="47840" numCol="1" anchor="t" anchorCtr="0" compatLnSpc="1"/>
          <a:lstStyle>
            <a:lvl1pPr algn="r" eaLnBrk="0" hangingPunct="0">
              <a:defRPr sz="1300">
                <a:ea typeface="MS PGothic" charset="0"/>
                <a:cs typeface="+mn-cs"/>
              </a:defRPr>
            </a:lvl1pPr>
          </a:lstStyle>
          <a:p>
            <a:pPr>
              <a:defRPr/>
            </a:pPr>
            <a:fld id="{D30985F1-6194-2546-BC2B-17498869C80D}" type="datetime1">
              <a:rPr lang="en-US" altLang="zh-CN" smtClean="0"/>
              <a:t>7/23/26</a:t>
            </a:fld>
            <a:endParaRPr lang="en-US" altLang="zh-CN" dirty="0"/>
          </a:p>
        </p:txBody>
      </p:sp>
      <p:sp>
        <p:nvSpPr>
          <p:cNvPr id="13316" name="Rectangle 1028"/>
          <p:cNvSpPr>
            <a:spLocks noGrp="1" noRot="1" noChangeAspect="1"/>
          </p:cNvSpPr>
          <p:nvPr>
            <p:ph type="sldImg" idx="2"/>
          </p:nvPr>
        </p:nvSpPr>
        <p:spPr bwMode="auto">
          <a:xfrm>
            <a:off x="90892" y="746125"/>
            <a:ext cx="6625418" cy="3727450"/>
          </a:xfrm>
          <a:prstGeom prst="rect">
            <a:avLst/>
          </a:prstGeom>
          <a:noFill/>
          <a:ln w="9525">
            <a:solidFill>
              <a:srgbClr val="000000"/>
            </a:solidFill>
            <a:miter lim="800000"/>
          </a:ln>
        </p:spPr>
      </p:sp>
      <p:sp>
        <p:nvSpPr>
          <p:cNvPr id="5125" name="Rectangle 1029"/>
          <p:cNvSpPr>
            <a:spLocks noGrp="1"/>
          </p:cNvSpPr>
          <p:nvPr>
            <p:ph type="body" sz="quarter" idx="3"/>
          </p:nvPr>
        </p:nvSpPr>
        <p:spPr bwMode="auto">
          <a:xfrm>
            <a:off x="907628" y="4721186"/>
            <a:ext cx="4991946" cy="4472702"/>
          </a:xfrm>
          <a:prstGeom prst="rect">
            <a:avLst/>
          </a:prstGeom>
          <a:noFill/>
          <a:ln w="9525">
            <a:noFill/>
            <a:miter lim="800000"/>
          </a:ln>
        </p:spPr>
        <p:txBody>
          <a:bodyPr vert="horz" wrap="square" lIns="95680" tIns="47840" rIns="95680" bIns="4784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1030"/>
          <p:cNvSpPr>
            <a:spLocks noGrp="1"/>
          </p:cNvSpPr>
          <p:nvPr>
            <p:ph type="ftr" sz="quarter" idx="4"/>
          </p:nvPr>
        </p:nvSpPr>
        <p:spPr bwMode="auto">
          <a:xfrm>
            <a:off x="1" y="9442371"/>
            <a:ext cx="2949786" cy="496967"/>
          </a:xfrm>
          <a:prstGeom prst="rect">
            <a:avLst/>
          </a:prstGeom>
          <a:noFill/>
          <a:ln w="9525">
            <a:noFill/>
            <a:miter lim="800000"/>
          </a:ln>
        </p:spPr>
        <p:txBody>
          <a:bodyPr vert="horz" wrap="square" lIns="95680" tIns="47840" rIns="95680" bIns="47840" numCol="1" anchor="b" anchorCtr="0" compatLnSpc="1"/>
          <a:lstStyle>
            <a:lvl1pPr eaLnBrk="0" hangingPunct="0">
              <a:defRPr sz="1300">
                <a:ea typeface="MS PGothic" charset="0"/>
                <a:cs typeface="+mn-cs"/>
              </a:defRPr>
            </a:lvl1pPr>
          </a:lstStyle>
          <a:p>
            <a:pPr>
              <a:defRPr/>
            </a:pPr>
            <a:endParaRPr lang="zh-CN" altLang="zh-CN"/>
          </a:p>
        </p:txBody>
      </p:sp>
      <p:sp>
        <p:nvSpPr>
          <p:cNvPr id="5127" name="Rectangle 1031"/>
          <p:cNvSpPr>
            <a:spLocks noGrp="1"/>
          </p:cNvSpPr>
          <p:nvPr>
            <p:ph type="sldNum" sz="quarter" idx="5"/>
          </p:nvPr>
        </p:nvSpPr>
        <p:spPr bwMode="auto">
          <a:xfrm>
            <a:off x="3857414" y="9442371"/>
            <a:ext cx="2949786" cy="496967"/>
          </a:xfrm>
          <a:prstGeom prst="rect">
            <a:avLst/>
          </a:prstGeom>
          <a:noFill/>
          <a:ln w="9525">
            <a:noFill/>
            <a:miter lim="800000"/>
          </a:ln>
        </p:spPr>
        <p:txBody>
          <a:bodyPr vert="horz" wrap="square" lIns="95680" tIns="47840" rIns="95680" bIns="47840" numCol="1" anchor="b" anchorCtr="0" compatLnSpc="1"/>
          <a:lstStyle>
            <a:lvl1pPr algn="r" eaLnBrk="0" hangingPunct="0">
              <a:defRPr sz="1300">
                <a:ea typeface="MS PGothic" charset="0"/>
                <a:cs typeface="+mn-cs"/>
              </a:defRPr>
            </a:lvl1pPr>
          </a:lstStyle>
          <a:p>
            <a:pPr>
              <a:defRPr/>
            </a:pPr>
            <a:fld id="{494CCD7F-0C97-9D43-ADD7-444F994B5429}" type="slidenum">
              <a:rPr lang="en-US" altLang="zh-CN"/>
              <a:t>‹#›</a:t>
            </a:fld>
            <a:endParaRPr lang="en-US" altLang="zh-CN" dirty="0"/>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S PGothic" charset="0"/>
        <a:cs typeface="MS PGothic" charset="0"/>
      </a:defRPr>
    </a:lvl1pPr>
    <a:lvl2pPr marL="457200" algn="l" rtl="0" eaLnBrk="0" fontAlgn="base" hangingPunct="0">
      <a:spcBef>
        <a:spcPct val="30000"/>
      </a:spcBef>
      <a:spcAft>
        <a:spcPct val="0"/>
      </a:spcAft>
      <a:defRPr sz="1200" kern="1200">
        <a:solidFill>
          <a:schemeClr val="tx1"/>
        </a:solidFill>
        <a:latin typeface="Arial" charset="0"/>
        <a:ea typeface="MS PGothic" charset="0"/>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p:cNvSpPr>
          <p:nvPr>
            <p:ph type="sldNum" sz="quarter" idx="5"/>
          </p:nvPr>
        </p:nvSpPr>
        <p:spPr>
          <a:noFill/>
        </p:spPr>
        <p:txBody>
          <a:bodyPr/>
          <a:lstStyle>
            <a:lvl1pPr eaLnBrk="0" hangingPunct="0">
              <a:defRPr sz="2500">
                <a:solidFill>
                  <a:schemeClr val="tx1"/>
                </a:solidFill>
                <a:latin typeface="Arial" charset="0"/>
                <a:ea typeface="MS PGothic" charset="0"/>
                <a:cs typeface="MS PGothic" charset="0"/>
              </a:defRPr>
            </a:lvl1pPr>
            <a:lvl2pPr marL="777240" indent="-299085" eaLnBrk="0" hangingPunct="0">
              <a:defRPr sz="2500">
                <a:solidFill>
                  <a:schemeClr val="tx1"/>
                </a:solidFill>
                <a:latin typeface="Arial" charset="0"/>
                <a:ea typeface="MS PGothic" charset="0"/>
              </a:defRPr>
            </a:lvl2pPr>
            <a:lvl3pPr marL="1195705" indent="-239395" eaLnBrk="0" hangingPunct="0">
              <a:defRPr sz="2500">
                <a:solidFill>
                  <a:schemeClr val="tx1"/>
                </a:solidFill>
                <a:latin typeface="Arial" charset="0"/>
                <a:ea typeface="MS PGothic" charset="0"/>
              </a:defRPr>
            </a:lvl3pPr>
            <a:lvl4pPr marL="1674495" indent="-239395" eaLnBrk="0" hangingPunct="0">
              <a:defRPr sz="2500">
                <a:solidFill>
                  <a:schemeClr val="tx1"/>
                </a:solidFill>
                <a:latin typeface="Arial" charset="0"/>
                <a:ea typeface="MS PGothic" charset="0"/>
              </a:defRPr>
            </a:lvl4pPr>
            <a:lvl5pPr marL="2152650" indent="-239395" eaLnBrk="0" hangingPunct="0">
              <a:defRPr sz="2500">
                <a:solidFill>
                  <a:schemeClr val="tx1"/>
                </a:solidFill>
                <a:latin typeface="Arial" charset="0"/>
                <a:ea typeface="MS PGothic" charset="0"/>
              </a:defRPr>
            </a:lvl5pPr>
            <a:lvl6pPr marL="2631440" indent="-239395" eaLnBrk="0" fontAlgn="base" hangingPunct="0">
              <a:spcBef>
                <a:spcPct val="0"/>
              </a:spcBef>
              <a:spcAft>
                <a:spcPct val="0"/>
              </a:spcAft>
              <a:defRPr sz="2500">
                <a:solidFill>
                  <a:schemeClr val="tx1"/>
                </a:solidFill>
                <a:latin typeface="Arial" charset="0"/>
                <a:ea typeface="MS PGothic" charset="0"/>
              </a:defRPr>
            </a:lvl6pPr>
            <a:lvl7pPr marL="3109595" indent="-239395" eaLnBrk="0" fontAlgn="base" hangingPunct="0">
              <a:spcBef>
                <a:spcPct val="0"/>
              </a:spcBef>
              <a:spcAft>
                <a:spcPct val="0"/>
              </a:spcAft>
              <a:defRPr sz="2500">
                <a:solidFill>
                  <a:schemeClr val="tx1"/>
                </a:solidFill>
                <a:latin typeface="Arial" charset="0"/>
                <a:ea typeface="MS PGothic" charset="0"/>
              </a:defRPr>
            </a:lvl7pPr>
            <a:lvl8pPr marL="3587750" indent="-239395" eaLnBrk="0" fontAlgn="base" hangingPunct="0">
              <a:spcBef>
                <a:spcPct val="0"/>
              </a:spcBef>
              <a:spcAft>
                <a:spcPct val="0"/>
              </a:spcAft>
              <a:defRPr sz="2500">
                <a:solidFill>
                  <a:schemeClr val="tx1"/>
                </a:solidFill>
                <a:latin typeface="Arial" charset="0"/>
                <a:ea typeface="MS PGothic" charset="0"/>
              </a:defRPr>
            </a:lvl8pPr>
            <a:lvl9pPr marL="4066540" indent="-239395" eaLnBrk="0" fontAlgn="base" hangingPunct="0">
              <a:spcBef>
                <a:spcPct val="0"/>
              </a:spcBef>
              <a:spcAft>
                <a:spcPct val="0"/>
              </a:spcAft>
              <a:defRPr sz="2500">
                <a:solidFill>
                  <a:schemeClr val="tx1"/>
                </a:solidFill>
                <a:latin typeface="Arial" charset="0"/>
                <a:ea typeface="MS PGothic" charset="0"/>
              </a:defRPr>
            </a:lvl9pPr>
          </a:lstStyle>
          <a:p>
            <a:fld id="{ED8D654A-3275-6F43-928B-6FF3641A62A2}" type="slidenum">
              <a:rPr lang="en-US" altLang="zh-CN" sz="1300"/>
              <a:t>1</a:t>
            </a:fld>
            <a:endParaRPr lang="en-US" altLang="zh-CN" sz="1300" dirty="0"/>
          </a:p>
        </p:txBody>
      </p:sp>
      <p:sp>
        <p:nvSpPr>
          <p:cNvPr id="14338" name="Rectangle 2"/>
          <p:cNvSpPr>
            <a:spLocks noGrp="1" noRot="1" noChangeAspect="1"/>
          </p:cNvSpPr>
          <p:nvPr>
            <p:ph type="sldImg"/>
          </p:nvPr>
        </p:nvSpPr>
        <p:spPr>
          <a:xfrm>
            <a:off x="90488" y="746125"/>
            <a:ext cx="6626225" cy="3727450"/>
          </a:xfrm>
        </p:spPr>
      </p:sp>
      <p:sp>
        <p:nvSpPr>
          <p:cNvPr id="14339" name="Rectangle 3"/>
          <p:cNvSpPr>
            <a:spLocks noGrp="1"/>
          </p:cNvSpPr>
          <p:nvPr>
            <p:ph type="body" idx="1"/>
          </p:nvPr>
        </p:nvSpPr>
        <p:spPr>
          <a:noFill/>
        </p:spPr>
        <p:txBody>
          <a:bodyPr/>
          <a:lstStyle/>
          <a:p>
            <a:pPr eaLnBrk="1" hangingPunct="1"/>
            <a:endParaRPr lang="zh-CN">
              <a:ea typeface="MS PGothic" charset="0"/>
              <a:cs typeface="MS PGothic" charset="0"/>
            </a:endParaRPr>
          </a:p>
        </p:txBody>
      </p:sp>
      <p:sp>
        <p:nvSpPr>
          <p:cNvPr id="14340" name="Date Placeholder 7"/>
          <p:cNvSpPr>
            <a:spLocks noGrp="1"/>
          </p:cNvSpPr>
          <p:nvPr>
            <p:ph type="dt" sz="quarter" idx="1"/>
          </p:nvPr>
        </p:nvSpPr>
        <p:spPr>
          <a:noFill/>
        </p:spPr>
        <p:txBody>
          <a:bodyPr/>
          <a:lstStyle>
            <a:lvl1pPr eaLnBrk="0" hangingPunct="0">
              <a:defRPr sz="2500">
                <a:solidFill>
                  <a:schemeClr val="tx1"/>
                </a:solidFill>
                <a:latin typeface="Arial" charset="0"/>
                <a:ea typeface="MS PGothic" charset="0"/>
                <a:cs typeface="MS PGothic" charset="0"/>
              </a:defRPr>
            </a:lvl1pPr>
            <a:lvl2pPr marL="777240" indent="-299085" eaLnBrk="0" hangingPunct="0">
              <a:defRPr sz="2500">
                <a:solidFill>
                  <a:schemeClr val="tx1"/>
                </a:solidFill>
                <a:latin typeface="Arial" charset="0"/>
                <a:ea typeface="MS PGothic" charset="0"/>
              </a:defRPr>
            </a:lvl2pPr>
            <a:lvl3pPr marL="1195705" indent="-239395" eaLnBrk="0" hangingPunct="0">
              <a:defRPr sz="2500">
                <a:solidFill>
                  <a:schemeClr val="tx1"/>
                </a:solidFill>
                <a:latin typeface="Arial" charset="0"/>
                <a:ea typeface="MS PGothic" charset="0"/>
              </a:defRPr>
            </a:lvl3pPr>
            <a:lvl4pPr marL="1674495" indent="-239395" eaLnBrk="0" hangingPunct="0">
              <a:defRPr sz="2500">
                <a:solidFill>
                  <a:schemeClr val="tx1"/>
                </a:solidFill>
                <a:latin typeface="Arial" charset="0"/>
                <a:ea typeface="MS PGothic" charset="0"/>
              </a:defRPr>
            </a:lvl4pPr>
            <a:lvl5pPr marL="2152650" indent="-239395" eaLnBrk="0" hangingPunct="0">
              <a:defRPr sz="2500">
                <a:solidFill>
                  <a:schemeClr val="tx1"/>
                </a:solidFill>
                <a:latin typeface="Arial" charset="0"/>
                <a:ea typeface="MS PGothic" charset="0"/>
              </a:defRPr>
            </a:lvl5pPr>
            <a:lvl6pPr marL="2631440" indent="-239395" eaLnBrk="0" fontAlgn="base" hangingPunct="0">
              <a:spcBef>
                <a:spcPct val="0"/>
              </a:spcBef>
              <a:spcAft>
                <a:spcPct val="0"/>
              </a:spcAft>
              <a:defRPr sz="2500">
                <a:solidFill>
                  <a:schemeClr val="tx1"/>
                </a:solidFill>
                <a:latin typeface="Arial" charset="0"/>
                <a:ea typeface="MS PGothic" charset="0"/>
              </a:defRPr>
            </a:lvl6pPr>
            <a:lvl7pPr marL="3109595" indent="-239395" eaLnBrk="0" fontAlgn="base" hangingPunct="0">
              <a:spcBef>
                <a:spcPct val="0"/>
              </a:spcBef>
              <a:spcAft>
                <a:spcPct val="0"/>
              </a:spcAft>
              <a:defRPr sz="2500">
                <a:solidFill>
                  <a:schemeClr val="tx1"/>
                </a:solidFill>
                <a:latin typeface="Arial" charset="0"/>
                <a:ea typeface="MS PGothic" charset="0"/>
              </a:defRPr>
            </a:lvl7pPr>
            <a:lvl8pPr marL="3587750" indent="-239395" eaLnBrk="0" fontAlgn="base" hangingPunct="0">
              <a:spcBef>
                <a:spcPct val="0"/>
              </a:spcBef>
              <a:spcAft>
                <a:spcPct val="0"/>
              </a:spcAft>
              <a:defRPr sz="2500">
                <a:solidFill>
                  <a:schemeClr val="tx1"/>
                </a:solidFill>
                <a:latin typeface="Arial" charset="0"/>
                <a:ea typeface="MS PGothic" charset="0"/>
              </a:defRPr>
            </a:lvl8pPr>
            <a:lvl9pPr marL="4066540" indent="-239395" eaLnBrk="0" fontAlgn="base" hangingPunct="0">
              <a:spcBef>
                <a:spcPct val="0"/>
              </a:spcBef>
              <a:spcAft>
                <a:spcPct val="0"/>
              </a:spcAft>
              <a:defRPr sz="2500">
                <a:solidFill>
                  <a:schemeClr val="tx1"/>
                </a:solidFill>
                <a:latin typeface="Arial" charset="0"/>
                <a:ea typeface="MS PGothic" charset="0"/>
              </a:defRPr>
            </a:lvl9pPr>
          </a:lstStyle>
          <a:p>
            <a:fld id="{ED910A25-6F06-DC4C-A655-6A33ACE76204}" type="datetime1">
              <a:rPr lang="en-US" altLang="zh-CN" sz="1300"/>
              <a:t>7/23/26</a:t>
            </a:fld>
            <a:endParaRPr lang="en-US" altLang="zh-CN" sz="13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p:txBody>
      </p:sp>
      <p:sp>
        <p:nvSpPr>
          <p:cNvPr id="4" name="日期占位符 3"/>
          <p:cNvSpPr>
            <a:spLocks noGrp="1"/>
          </p:cNvSpPr>
          <p:nvPr>
            <p:ph type="dt" idx="10"/>
          </p:nvPr>
        </p:nvSpPr>
        <p:spPr/>
        <p:txBody>
          <a:bodyPr/>
          <a:lstStyle/>
          <a:p>
            <a:pPr>
              <a:defRPr/>
            </a:pPr>
            <a:fld id="{73BD08B8-CE5D-4361-AC02-25A5024566BA}" type="datetime1">
              <a:rPr lang="en-US" altLang="zh-CN" smtClean="0"/>
              <a:t>7/23/26</a:t>
            </a:fld>
            <a:endParaRPr lang="en-US" altLang="zh-CN"/>
          </a:p>
        </p:txBody>
      </p:sp>
      <p:sp>
        <p:nvSpPr>
          <p:cNvPr id="5" name="灯片编号占位符 4"/>
          <p:cNvSpPr>
            <a:spLocks noGrp="1"/>
          </p:cNvSpPr>
          <p:nvPr>
            <p:ph type="sldNum" sz="quarter" idx="11"/>
          </p:nvPr>
        </p:nvSpPr>
        <p:spPr/>
        <p:txBody>
          <a:bodyPr/>
          <a:lstStyle/>
          <a:p>
            <a:pPr>
              <a:defRPr/>
            </a:pPr>
            <a:fld id="{494CCD7F-0C97-9D43-ADD7-444F994B5429}" type="slidenum">
              <a:rPr lang="en-US" altLang="zh-CN" smtClean="0"/>
              <a:t>12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日期占位符 3"/>
          <p:cNvSpPr>
            <a:spLocks noGrp="1"/>
          </p:cNvSpPr>
          <p:nvPr>
            <p:ph type="dt" idx="10"/>
          </p:nvPr>
        </p:nvSpPr>
        <p:spPr/>
        <p:txBody>
          <a:bodyPr/>
          <a:lstStyle/>
          <a:p>
            <a:pPr>
              <a:defRPr/>
            </a:pPr>
            <a:fld id="{73BD08B8-CE5D-4361-AC02-25A5024566BA}" type="datetime1">
              <a:rPr lang="en-US" altLang="zh-CN" smtClean="0"/>
              <a:t>7/23/26</a:t>
            </a:fld>
            <a:endParaRPr lang="en-US" altLang="zh-CN"/>
          </a:p>
        </p:txBody>
      </p:sp>
      <p:sp>
        <p:nvSpPr>
          <p:cNvPr id="5" name="灯片编号占位符 4"/>
          <p:cNvSpPr>
            <a:spLocks noGrp="1"/>
          </p:cNvSpPr>
          <p:nvPr>
            <p:ph type="sldNum" sz="quarter" idx="11"/>
          </p:nvPr>
        </p:nvSpPr>
        <p:spPr/>
        <p:txBody>
          <a:bodyPr/>
          <a:lstStyle/>
          <a:p>
            <a:pPr>
              <a:defRPr/>
            </a:pPr>
            <a:fld id="{494CCD7F-0C97-9D43-ADD7-444F994B5429}" type="slidenum">
              <a:rPr lang="en-US" altLang="zh-CN" smtClean="0"/>
              <a:pPr>
                <a:defRPr/>
              </a:pPr>
              <a:t>13</a:t>
            </a:fld>
            <a:endParaRPr lang="en-US" altLang="zh-CN"/>
          </a:p>
        </p:txBody>
      </p:sp>
    </p:spTree>
    <p:extLst>
      <p:ext uri="{BB962C8B-B14F-4D97-AF65-F5344CB8AC3E}">
        <p14:creationId xmlns:p14="http://schemas.microsoft.com/office/powerpoint/2010/main" val="1907117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日期占位符 3"/>
          <p:cNvSpPr>
            <a:spLocks noGrp="1"/>
          </p:cNvSpPr>
          <p:nvPr>
            <p:ph type="dt" idx="10"/>
          </p:nvPr>
        </p:nvSpPr>
        <p:spPr/>
        <p:txBody>
          <a:bodyPr/>
          <a:lstStyle/>
          <a:p>
            <a:pPr>
              <a:defRPr/>
            </a:pPr>
            <a:fld id="{73BD08B8-CE5D-4361-AC02-25A5024566BA}" type="datetime1">
              <a:rPr lang="en-US" altLang="zh-CN" smtClean="0"/>
              <a:t>7/23/26</a:t>
            </a:fld>
            <a:endParaRPr lang="en-US" altLang="zh-CN"/>
          </a:p>
        </p:txBody>
      </p:sp>
      <p:sp>
        <p:nvSpPr>
          <p:cNvPr id="5" name="灯片编号占位符 4"/>
          <p:cNvSpPr>
            <a:spLocks noGrp="1"/>
          </p:cNvSpPr>
          <p:nvPr>
            <p:ph type="sldNum" sz="quarter" idx="11"/>
          </p:nvPr>
        </p:nvSpPr>
        <p:spPr/>
        <p:txBody>
          <a:bodyPr/>
          <a:lstStyle/>
          <a:p>
            <a:pPr>
              <a:defRPr/>
            </a:pPr>
            <a:fld id="{494CCD7F-0C97-9D43-ADD7-444F994B5429}" type="slidenum">
              <a:rPr lang="en-US" altLang="zh-CN" smtClean="0"/>
              <a:pPr>
                <a:defRPr/>
              </a:pPr>
              <a:t>14</a:t>
            </a:fld>
            <a:endParaRPr lang="en-US" altLang="zh-CN"/>
          </a:p>
        </p:txBody>
      </p:sp>
    </p:spTree>
    <p:extLst>
      <p:ext uri="{BB962C8B-B14F-4D97-AF65-F5344CB8AC3E}">
        <p14:creationId xmlns:p14="http://schemas.microsoft.com/office/powerpoint/2010/main" val="527788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800" dirty="0">
                <a:effectLst/>
              </a:rPr>
              <a:t>备注已脱敏</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endParaRPr lang="zh-CN" altLang="en-US" sz="1800" dirty="0"/>
          </a:p>
          <a:p>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r>
              <a:rPr lang="en-US" altLang="zh-CN" sz="1800" dirty="0">
                <a:effectLst/>
              </a:rPr>
              <a:t/>
            </a:r>
            <a:r>
              <a:rPr lang="zh-CN" altLang="en-US" sz="1800" dirty="0">
                <a:effectLst/>
              </a:rPr>
              <a:t/>
            </a:r>
            <a:endParaRPr lang="zh-CN" altLang="en-US" sz="1800" dirty="0"/>
          </a:p>
        </p:txBody>
      </p:sp>
      <p:sp>
        <p:nvSpPr>
          <p:cNvPr id="4" name="日期占位符 3"/>
          <p:cNvSpPr>
            <a:spLocks noGrp="1"/>
          </p:cNvSpPr>
          <p:nvPr>
            <p:ph type="dt" idx="10"/>
          </p:nvPr>
        </p:nvSpPr>
        <p:spPr/>
        <p:txBody>
          <a:bodyPr/>
          <a:lstStyle/>
          <a:p>
            <a:pPr>
              <a:defRPr/>
            </a:pPr>
            <a:fld id="{73BD08B8-CE5D-4361-AC02-25A5024566BA}" type="datetime1">
              <a:rPr lang="en-US" altLang="zh-CN" smtClean="0"/>
              <a:t>7/23/26</a:t>
            </a:fld>
            <a:endParaRPr lang="en-US" altLang="zh-CN"/>
          </a:p>
        </p:txBody>
      </p:sp>
      <p:sp>
        <p:nvSpPr>
          <p:cNvPr id="5" name="灯片编号占位符 4"/>
          <p:cNvSpPr>
            <a:spLocks noGrp="1"/>
          </p:cNvSpPr>
          <p:nvPr>
            <p:ph type="sldNum" sz="quarter" idx="11"/>
          </p:nvPr>
        </p:nvSpPr>
        <p:spPr/>
        <p:txBody>
          <a:bodyPr/>
          <a:lstStyle/>
          <a:p>
            <a:pPr>
              <a:defRPr/>
            </a:pPr>
            <a:fld id="{494CCD7F-0C97-9D43-ADD7-444F994B5429}" type="slidenum">
              <a:rPr lang="en-US" altLang="zh-CN" smtClean="0"/>
              <a:t>17</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E9E31F-976B-4F35-9BA3-366A7EE17FDA}" type="slidenum">
              <a:rPr kumimoji="0" lang="zh-CN" altLang="en-US" sz="1200" b="0" i="0" u="none" strike="noStrike" kern="1200" cap="none" spc="0" normalizeH="0" baseline="0" noProof="0" smtClean="0">
                <a:ln>
                  <a:noFill/>
                </a:ln>
                <a:solidFill>
                  <a:prstClr val="black"/>
                </a:solidFill>
                <a:effectLst/>
                <a:uLnTx/>
                <a:uFillTx/>
                <a:latin typeface="等线"/>
                <a:ea typeface="等线"/>
                <a:cs typeface="+mn-cs"/>
              </a:rPr>
              <a:t>19</a:t>
            </a:fld>
            <a:endParaRPr kumimoji="0" lang="zh-CN" altLang="en-US" sz="1200" b="0" i="0" u="none" strike="noStrike" kern="1200" cap="none" spc="0" normalizeH="0" baseline="0" noProof="0">
              <a:ln>
                <a:noFill/>
              </a:ln>
              <a:solidFill>
                <a:prstClr val="black"/>
              </a:solidFill>
              <a:effectLst/>
              <a:uLnTx/>
              <a:uFillTx/>
              <a:latin typeface="等线"/>
              <a:ea typeface="等线"/>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E9E31F-976B-4F35-9BA3-366A7EE17FDA}" type="slidenum">
              <a:rPr kumimoji="0" lang="zh-CN" altLang="en-US" sz="1200" b="0" i="0" u="none" strike="noStrike" kern="1200" cap="none" spc="0" normalizeH="0" baseline="0" noProof="0" smtClean="0">
                <a:ln>
                  <a:noFill/>
                </a:ln>
                <a:solidFill>
                  <a:prstClr val="black"/>
                </a:solidFill>
                <a:effectLst/>
                <a:uLnTx/>
                <a:uFillTx/>
                <a:latin typeface="等线"/>
                <a:ea typeface="等线"/>
                <a:cs typeface="+mn-cs"/>
              </a:rPr>
              <a:t>20</a:t>
            </a:fld>
            <a:endParaRPr kumimoji="0" lang="zh-CN" altLang="en-US" sz="1200" b="0" i="0" u="none" strike="noStrike" kern="1200" cap="none" spc="0" normalizeH="0" baseline="0" noProof="0">
              <a:ln>
                <a:noFill/>
              </a:ln>
              <a:solidFill>
                <a:prstClr val="black"/>
              </a:solidFill>
              <a:effectLst/>
              <a:uLnTx/>
              <a:uFillTx/>
              <a:latin typeface="等线"/>
              <a:ea typeface="等线"/>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E9E31F-976B-4F35-9BA3-366A7EE17FDA}" type="slidenum">
              <a:rPr kumimoji="0" lang="zh-CN" altLang="en-US" sz="1200" b="0" i="0" u="none" strike="noStrike" kern="1200" cap="none" spc="0" normalizeH="0" baseline="0" noProof="0" smtClean="0">
                <a:ln>
                  <a:noFill/>
                </a:ln>
                <a:solidFill>
                  <a:prstClr val="black"/>
                </a:solidFill>
                <a:effectLst/>
                <a:uLnTx/>
                <a:uFillTx/>
                <a:latin typeface="等线"/>
                <a:ea typeface="等线"/>
                <a:cs typeface="+mn-cs"/>
              </a:rPr>
              <a:t>21</a:t>
            </a:fld>
            <a:endParaRPr kumimoji="0" lang="zh-CN" altLang="en-US" sz="1200" b="0" i="0" u="none" strike="noStrike" kern="1200" cap="none" spc="0" normalizeH="0" baseline="0" noProof="0">
              <a:ln>
                <a:noFill/>
              </a:ln>
              <a:solidFill>
                <a:prstClr val="black"/>
              </a:solidFill>
              <a:effectLst/>
              <a:uLnTx/>
              <a:uFillTx/>
              <a:latin typeface="等线"/>
              <a:ea typeface="等线"/>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6125"/>
            <a:ext cx="6626225" cy="372745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0"/>
          </p:nvPr>
        </p:nvSpPr>
        <p:spPr/>
        <p:txBody>
          <a:bodyPr/>
          <a:lstStyle/>
          <a:p>
            <a:pPr>
              <a:defRPr/>
            </a:pPr>
            <a:fld id="{73BD08B8-CE5D-4361-AC02-25A5024566BA}" type="datetime1">
              <a:rPr lang="en-US" altLang="zh-CN" smtClean="0"/>
              <a:t>7/23/26</a:t>
            </a:fld>
            <a:endParaRPr lang="en-US" altLang="zh-CN"/>
          </a:p>
        </p:txBody>
      </p:sp>
      <p:sp>
        <p:nvSpPr>
          <p:cNvPr id="5" name="灯片编号占位符 4"/>
          <p:cNvSpPr>
            <a:spLocks noGrp="1"/>
          </p:cNvSpPr>
          <p:nvPr>
            <p:ph type="sldNum" sz="quarter" idx="11"/>
          </p:nvPr>
        </p:nvSpPr>
        <p:spPr/>
        <p:txBody>
          <a:bodyPr/>
          <a:lstStyle/>
          <a:p>
            <a:pPr>
              <a:defRPr/>
            </a:pPr>
            <a:fld id="{494CCD7F-0C97-9D43-ADD7-444F994B5429}" type="slidenum">
              <a:rPr lang="en-US" altLang="zh-CN" smtClean="0"/>
              <a:t>29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31"/>
          <p:cNvSpPr>
            <a:spLocks noGrp="1"/>
          </p:cNvSpPr>
          <p:nvPr>
            <p:ph type="sldNum" sz="quarter" idx="5"/>
          </p:nvPr>
        </p:nvSpPr>
        <p:spPr>
          <a:noFill/>
        </p:spPr>
        <p:txBody>
          <a:bodyPr/>
          <a:lstStyle>
            <a:lvl1pPr eaLnBrk="0" hangingPunct="0">
              <a:defRPr sz="2500">
                <a:solidFill>
                  <a:schemeClr val="tx1"/>
                </a:solidFill>
                <a:latin typeface="Arial" charset="0"/>
                <a:ea typeface="MS PGothic" charset="0"/>
                <a:cs typeface="MS PGothic" charset="0"/>
              </a:defRPr>
            </a:lvl1pPr>
            <a:lvl2pPr marL="776605" indent="-298450" eaLnBrk="0" hangingPunct="0">
              <a:defRPr sz="2500">
                <a:solidFill>
                  <a:schemeClr val="tx1"/>
                </a:solidFill>
                <a:latin typeface="Arial" charset="0"/>
                <a:ea typeface="MS PGothic" charset="0"/>
              </a:defRPr>
            </a:lvl2pPr>
            <a:lvl3pPr marL="1194435" indent="-238760" eaLnBrk="0" hangingPunct="0">
              <a:defRPr sz="2500">
                <a:solidFill>
                  <a:schemeClr val="tx1"/>
                </a:solidFill>
                <a:latin typeface="Arial" charset="0"/>
                <a:ea typeface="MS PGothic" charset="0"/>
              </a:defRPr>
            </a:lvl3pPr>
            <a:lvl4pPr marL="1672590" indent="-238760" eaLnBrk="0" hangingPunct="0">
              <a:defRPr sz="2500">
                <a:solidFill>
                  <a:schemeClr val="tx1"/>
                </a:solidFill>
                <a:latin typeface="Arial" charset="0"/>
                <a:ea typeface="MS PGothic" charset="0"/>
              </a:defRPr>
            </a:lvl4pPr>
            <a:lvl5pPr marL="2150110" indent="-238760" eaLnBrk="0" hangingPunct="0">
              <a:defRPr sz="2500">
                <a:solidFill>
                  <a:schemeClr val="tx1"/>
                </a:solidFill>
                <a:latin typeface="Arial" charset="0"/>
                <a:ea typeface="MS PGothic" charset="0"/>
              </a:defRPr>
            </a:lvl5pPr>
            <a:lvl6pPr marL="2628265" indent="-238760" eaLnBrk="0" fontAlgn="base" hangingPunct="0">
              <a:spcBef>
                <a:spcPct val="0"/>
              </a:spcBef>
              <a:spcAft>
                <a:spcPct val="0"/>
              </a:spcAft>
              <a:defRPr sz="2500">
                <a:solidFill>
                  <a:schemeClr val="tx1"/>
                </a:solidFill>
                <a:latin typeface="Arial" charset="0"/>
                <a:ea typeface="MS PGothic" charset="0"/>
              </a:defRPr>
            </a:lvl6pPr>
            <a:lvl7pPr marL="3105785" indent="-238760" eaLnBrk="0" fontAlgn="base" hangingPunct="0">
              <a:spcBef>
                <a:spcPct val="0"/>
              </a:spcBef>
              <a:spcAft>
                <a:spcPct val="0"/>
              </a:spcAft>
              <a:defRPr sz="2500">
                <a:solidFill>
                  <a:schemeClr val="tx1"/>
                </a:solidFill>
                <a:latin typeface="Arial" charset="0"/>
                <a:ea typeface="MS PGothic" charset="0"/>
              </a:defRPr>
            </a:lvl7pPr>
            <a:lvl8pPr marL="3583940" indent="-238760" eaLnBrk="0" fontAlgn="base" hangingPunct="0">
              <a:spcBef>
                <a:spcPct val="0"/>
              </a:spcBef>
              <a:spcAft>
                <a:spcPct val="0"/>
              </a:spcAft>
              <a:defRPr sz="2500">
                <a:solidFill>
                  <a:schemeClr val="tx1"/>
                </a:solidFill>
                <a:latin typeface="Arial" charset="0"/>
                <a:ea typeface="MS PGothic" charset="0"/>
              </a:defRPr>
            </a:lvl8pPr>
            <a:lvl9pPr marL="4061460" indent="-238760" eaLnBrk="0" fontAlgn="base" hangingPunct="0">
              <a:spcBef>
                <a:spcPct val="0"/>
              </a:spcBef>
              <a:spcAft>
                <a:spcPct val="0"/>
              </a:spcAft>
              <a:defRPr sz="2500">
                <a:solidFill>
                  <a:schemeClr val="tx1"/>
                </a:solidFill>
                <a:latin typeface="Arial" charset="0"/>
                <a:ea typeface="MS PGothic" charset="0"/>
              </a:defRPr>
            </a:lvl9pPr>
          </a:lstStyle>
          <a:p>
            <a:fld id="{483AC851-1F23-E440-BF9E-1B87C4090F93}" type="slidenum">
              <a:rPr lang="en-US" altLang="zh-CN" sz="1300"/>
              <a:t>33</a:t>
            </a:fld>
            <a:endParaRPr lang="en-US" altLang="zh-CN" sz="1300" dirty="0"/>
          </a:p>
        </p:txBody>
      </p:sp>
      <p:sp>
        <p:nvSpPr>
          <p:cNvPr id="18434" name="Rectangle 2"/>
          <p:cNvSpPr>
            <a:spLocks noGrp="1" noRot="1" noChangeAspect="1"/>
          </p:cNvSpPr>
          <p:nvPr>
            <p:ph type="sldImg"/>
          </p:nvPr>
        </p:nvSpPr>
        <p:spPr>
          <a:xfrm>
            <a:off x="90488" y="744538"/>
            <a:ext cx="6616700" cy="3722687"/>
          </a:xfrm>
        </p:spPr>
      </p:sp>
      <p:sp>
        <p:nvSpPr>
          <p:cNvPr id="18435" name="Rectangle 3"/>
          <p:cNvSpPr>
            <a:spLocks noGrp="1"/>
          </p:cNvSpPr>
          <p:nvPr>
            <p:ph type="body" idx="1"/>
          </p:nvPr>
        </p:nvSpPr>
        <p:spPr>
          <a:noFill/>
        </p:spPr>
        <p:txBody>
          <a:bodyPr/>
          <a:lstStyle/>
          <a:p>
            <a:pPr eaLnBrk="1" hangingPunct="1"/>
            <a:endParaRPr lang="zh-CN">
              <a:ea typeface="MS PGothic" charset="0"/>
              <a:cs typeface="MS PGothic" charset="0"/>
            </a:endParaRPr>
          </a:p>
        </p:txBody>
      </p:sp>
      <p:sp>
        <p:nvSpPr>
          <p:cNvPr id="18436" name="Date Placeholder 4"/>
          <p:cNvSpPr>
            <a:spLocks noGrp="1"/>
          </p:cNvSpPr>
          <p:nvPr>
            <p:ph type="dt" sz="quarter" idx="1"/>
          </p:nvPr>
        </p:nvSpPr>
        <p:spPr>
          <a:noFill/>
        </p:spPr>
        <p:txBody>
          <a:bodyPr/>
          <a:lstStyle>
            <a:lvl1pPr eaLnBrk="0" hangingPunct="0">
              <a:defRPr sz="2500">
                <a:solidFill>
                  <a:schemeClr val="tx1"/>
                </a:solidFill>
                <a:latin typeface="Arial" charset="0"/>
                <a:ea typeface="MS PGothic" charset="0"/>
                <a:cs typeface="MS PGothic" charset="0"/>
              </a:defRPr>
            </a:lvl1pPr>
            <a:lvl2pPr marL="776605" indent="-298450" eaLnBrk="0" hangingPunct="0">
              <a:defRPr sz="2500">
                <a:solidFill>
                  <a:schemeClr val="tx1"/>
                </a:solidFill>
                <a:latin typeface="Arial" charset="0"/>
                <a:ea typeface="MS PGothic" charset="0"/>
              </a:defRPr>
            </a:lvl2pPr>
            <a:lvl3pPr marL="1194435" indent="-238760" eaLnBrk="0" hangingPunct="0">
              <a:defRPr sz="2500">
                <a:solidFill>
                  <a:schemeClr val="tx1"/>
                </a:solidFill>
                <a:latin typeface="Arial" charset="0"/>
                <a:ea typeface="MS PGothic" charset="0"/>
              </a:defRPr>
            </a:lvl3pPr>
            <a:lvl4pPr marL="1672590" indent="-238760" eaLnBrk="0" hangingPunct="0">
              <a:defRPr sz="2500">
                <a:solidFill>
                  <a:schemeClr val="tx1"/>
                </a:solidFill>
                <a:latin typeface="Arial" charset="0"/>
                <a:ea typeface="MS PGothic" charset="0"/>
              </a:defRPr>
            </a:lvl4pPr>
            <a:lvl5pPr marL="2150110" indent="-238760" eaLnBrk="0" hangingPunct="0">
              <a:defRPr sz="2500">
                <a:solidFill>
                  <a:schemeClr val="tx1"/>
                </a:solidFill>
                <a:latin typeface="Arial" charset="0"/>
                <a:ea typeface="MS PGothic" charset="0"/>
              </a:defRPr>
            </a:lvl5pPr>
            <a:lvl6pPr marL="2628265" indent="-238760" eaLnBrk="0" fontAlgn="base" hangingPunct="0">
              <a:spcBef>
                <a:spcPct val="0"/>
              </a:spcBef>
              <a:spcAft>
                <a:spcPct val="0"/>
              </a:spcAft>
              <a:defRPr sz="2500">
                <a:solidFill>
                  <a:schemeClr val="tx1"/>
                </a:solidFill>
                <a:latin typeface="Arial" charset="0"/>
                <a:ea typeface="MS PGothic" charset="0"/>
              </a:defRPr>
            </a:lvl6pPr>
            <a:lvl7pPr marL="3105785" indent="-238760" eaLnBrk="0" fontAlgn="base" hangingPunct="0">
              <a:spcBef>
                <a:spcPct val="0"/>
              </a:spcBef>
              <a:spcAft>
                <a:spcPct val="0"/>
              </a:spcAft>
              <a:defRPr sz="2500">
                <a:solidFill>
                  <a:schemeClr val="tx1"/>
                </a:solidFill>
                <a:latin typeface="Arial" charset="0"/>
                <a:ea typeface="MS PGothic" charset="0"/>
              </a:defRPr>
            </a:lvl7pPr>
            <a:lvl8pPr marL="3583940" indent="-238760" eaLnBrk="0" fontAlgn="base" hangingPunct="0">
              <a:spcBef>
                <a:spcPct val="0"/>
              </a:spcBef>
              <a:spcAft>
                <a:spcPct val="0"/>
              </a:spcAft>
              <a:defRPr sz="2500">
                <a:solidFill>
                  <a:schemeClr val="tx1"/>
                </a:solidFill>
                <a:latin typeface="Arial" charset="0"/>
                <a:ea typeface="MS PGothic" charset="0"/>
              </a:defRPr>
            </a:lvl8pPr>
            <a:lvl9pPr marL="4061460" indent="-238760" eaLnBrk="0" fontAlgn="base" hangingPunct="0">
              <a:spcBef>
                <a:spcPct val="0"/>
              </a:spcBef>
              <a:spcAft>
                <a:spcPct val="0"/>
              </a:spcAft>
              <a:defRPr sz="2500">
                <a:solidFill>
                  <a:schemeClr val="tx1"/>
                </a:solidFill>
                <a:latin typeface="Arial" charset="0"/>
                <a:ea typeface="MS PGothic" charset="0"/>
              </a:defRPr>
            </a:lvl9pPr>
          </a:lstStyle>
          <a:p>
            <a:fld id="{19992CCA-DCD1-4F3C-8041-511F91D5ADE0}" type="datetime1">
              <a:rPr lang="en-US" altLang="zh-CN" sz="1300" smtClean="0"/>
              <a:t>7/23/26</a:t>
            </a:fld>
            <a:endParaRPr lang="en-US" altLang="zh-CN" sz="1300"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pic>
        <p:nvPicPr>
          <p:cNvPr id="6" name="Picture 5" descr="VCG21d6ab26ba9.jpg"/>
          <p:cNvPicPr>
            <a:picLocks noChangeAspect="1"/>
          </p:cNvPicPr>
          <p:nvPr userDrawn="1"/>
        </p:nvPicPr>
        <p:blipFill rotWithShape="1">
          <a:blip r:embed="rId2">
            <a:extLst>
              <a:ext uri="{28A0092B-C50C-407E-A947-70E740481C1C}">
                <a14:useLocalDpi xmlns:a14="http://schemas.microsoft.com/office/drawing/2010/main" val="0"/>
              </a:ext>
            </a:extLst>
          </a:blip>
          <a:srcRect l="30921" t="155" r="35021" b="-155"/>
          <a:stretch>
            <a:fillRect/>
          </a:stretch>
        </p:blipFill>
        <p:spPr>
          <a:xfrm>
            <a:off x="6912769" y="0"/>
            <a:ext cx="2231231" cy="4364431"/>
          </a:xfrm>
          <a:prstGeom prst="rect">
            <a:avLst/>
          </a:prstGeom>
        </p:spPr>
      </p:pic>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3008"/>
            <a:ext cx="9144000" cy="791975"/>
          </a:xfrm>
          <a:prstGeom prst="rect">
            <a:avLst/>
          </a:prstGeom>
        </p:spPr>
      </p:pic>
      <p:sp>
        <p:nvSpPr>
          <p:cNvPr id="14" name="Rectangle 22"/>
          <p:cNvSpPr>
            <a:spLocks noGrp="1"/>
          </p:cNvSpPr>
          <p:nvPr>
            <p:ph idx="1"/>
          </p:nvPr>
        </p:nvSpPr>
        <p:spPr bwMode="auto">
          <a:xfrm>
            <a:off x="362992" y="1268616"/>
            <a:ext cx="4632341" cy="1752080"/>
          </a:xfrm>
          <a:prstGeom prst="rect">
            <a:avLst/>
          </a:prstGeom>
          <a:noFill/>
          <a:ln>
            <a:noFill/>
          </a:ln>
        </p:spPr>
        <p:txBody>
          <a:bodyPr vert="horz" wrap="square" lIns="0" tIns="0" rIns="0" bIns="0" numCol="1" anchor="t" anchorCtr="0" compatLnSpc="1"/>
          <a:lstStyle>
            <a:lvl1pPr marL="0" indent="0" algn="l">
              <a:lnSpc>
                <a:spcPts val="3300"/>
              </a:lnSpc>
              <a:buFontTx/>
              <a:buNone/>
              <a:defRPr sz="2800" b="1" i="0">
                <a:solidFill>
                  <a:srgbClr val="005096"/>
                </a:solidFill>
                <a:latin typeface="华文黑体_易方达" pitchFamily="2" charset="-122"/>
                <a:ea typeface="华文黑体_易方达" pitchFamily="2" charset="-122"/>
                <a:cs typeface="华文黑体" charset="-122"/>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zh-CN" altLang="en-US" dirty="0"/>
              <a:t>单击此处编辑母版标题样式</a:t>
            </a:r>
            <a:endParaRPr lang="en-US" dirty="0"/>
          </a:p>
        </p:txBody>
      </p:sp>
      <p:sp>
        <p:nvSpPr>
          <p:cNvPr id="5" name="矩形 4"/>
          <p:cNvSpPr/>
          <p:nvPr userDrawn="1"/>
        </p:nvSpPr>
        <p:spPr>
          <a:xfrm>
            <a:off x="267299" y="4439400"/>
            <a:ext cx="6261092" cy="583565"/>
          </a:xfrm>
          <a:prstGeom prst="rect">
            <a:avLst/>
          </a:prstGeom>
        </p:spPr>
        <p:txBody>
          <a:bodyPr wrap="square">
            <a:spAutoFit/>
          </a:bodyPr>
          <a:lstStyle/>
          <a:p>
            <a:r>
              <a:rPr lang="zh-CN" altLang="zh-CN" sz="800" kern="1200" dirty="0">
                <a:solidFill>
                  <a:schemeClr val="bg1"/>
                </a:solidFill>
                <a:effectLst/>
                <a:latin typeface="华文黑体_易方达" pitchFamily="2" charset="-122"/>
                <a:ea typeface="华文黑体_易方达" pitchFamily="2" charset="-122"/>
                <a:cs typeface="华文黑体" charset="-122"/>
              </a:rPr>
              <a:t>本报告仅供本公司（指易方达基金管理有限公司，下同）内部使用或供机构投资者、销售渠道及其他合作方的具备投资专业知识的工作人员等参考，本报告中的信息或所表述的意见并不构成任何要约或要约邀请，也不构成对任何人的投资建议或收益担保。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p:txBody>
      </p:sp>
      <p:sp>
        <p:nvSpPr>
          <p:cNvPr id="9" name="内容占位符 8"/>
          <p:cNvSpPr>
            <a:spLocks noGrp="1"/>
          </p:cNvSpPr>
          <p:nvPr>
            <p:ph sz="quarter" idx="10"/>
          </p:nvPr>
        </p:nvSpPr>
        <p:spPr>
          <a:xfrm>
            <a:off x="362992" y="3192800"/>
            <a:ext cx="1891110" cy="345587"/>
          </a:xfrm>
          <a:prstGeom prst="rect">
            <a:avLst/>
          </a:prstGeom>
        </p:spPr>
        <p:txBody>
          <a:bodyPr/>
          <a:lstStyle>
            <a:lvl1pPr>
              <a:defRPr sz="1400">
                <a:latin typeface="Arial" charset="0"/>
                <a:ea typeface="华文黑体_易方达" pitchFamily="2" charset="-122"/>
                <a:cs typeface="Arial" charset="0"/>
              </a:defRPr>
            </a:lvl1pPr>
          </a:lstStyle>
          <a:p>
            <a:pPr lvl="0"/>
            <a:r>
              <a:rPr lang="zh-CN" altLang="en-US"/>
              <a:t>单击此处编辑母版文本样式</a:t>
            </a:r>
          </a:p>
        </p:txBody>
      </p:sp>
      <p:pic>
        <p:nvPicPr>
          <p:cNvPr id="7" name="Picture 14" descr="Master Logo.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333440" y="4598216"/>
            <a:ext cx="1389888" cy="301560"/>
          </a:xfrm>
          <a:prstGeom prst="rect">
            <a:avLst/>
          </a:prstGeom>
        </p:spPr>
      </p:pic>
      <p:sp>
        <p:nvSpPr>
          <p:cNvPr id="2" name="文本框 1"/>
          <p:cNvSpPr txBox="1"/>
          <p:nvPr userDrawn="1"/>
        </p:nvSpPr>
        <p:spPr>
          <a:xfrm>
            <a:off x="-1347538" y="1163915"/>
            <a:ext cx="1289857" cy="3553460"/>
          </a:xfrm>
          <a:prstGeom prst="rect">
            <a:avLst/>
          </a:prstGeom>
          <a:noFill/>
        </p:spPr>
        <p:txBody>
          <a:bodyPr wrap="square" rtlCol="0">
            <a:spAutoFit/>
          </a:bodyPr>
          <a:lstStyle/>
          <a:p>
            <a:pPr marL="0" indent="0">
              <a:buNone/>
            </a:pPr>
            <a:r>
              <a:rPr lang="en-US" altLang="zh-CN" sz="900" b="0" dirty="0">
                <a:solidFill>
                  <a:schemeClr val="bg1">
                    <a:lumMod val="65000"/>
                  </a:schemeClr>
                </a:solidFill>
                <a:latin typeface="华文黑体_易方达" pitchFamily="2" charset="-122"/>
                <a:ea typeface="华文黑体_易方达" pitchFamily="2" charset="-122"/>
              </a:rPr>
              <a:t>1.</a:t>
            </a:r>
            <a:r>
              <a:rPr lang="zh-CN" altLang="en-US" sz="900" b="0" dirty="0">
                <a:solidFill>
                  <a:schemeClr val="bg1">
                    <a:lumMod val="65000"/>
                  </a:schemeClr>
                </a:solidFill>
                <a:latin typeface="华文黑体_易方达" pitchFamily="2" charset="-122"/>
                <a:ea typeface="华文黑体_易方达" pitchFamily="2" charset="-122"/>
              </a:rPr>
              <a:t>大标题中文字体：华文黑体，</a:t>
            </a:r>
            <a:r>
              <a:rPr lang="en-US" altLang="zh-CN" sz="900" b="0" dirty="0">
                <a:solidFill>
                  <a:schemeClr val="bg1">
                    <a:lumMod val="65000"/>
                  </a:schemeClr>
                </a:solidFill>
                <a:latin typeface="华文黑体_易方达" pitchFamily="2" charset="-122"/>
                <a:ea typeface="华文黑体_易方达" pitchFamily="2" charset="-122"/>
              </a:rPr>
              <a:t>28</a:t>
            </a:r>
            <a:r>
              <a:rPr lang="zh-CN" altLang="en-US" sz="900" b="0" dirty="0">
                <a:solidFill>
                  <a:schemeClr val="bg1">
                    <a:lumMod val="65000"/>
                  </a:schemeClr>
                </a:solidFill>
                <a:latin typeface="华文黑体_易方达" pitchFamily="2" charset="-122"/>
                <a:ea typeface="华文黑体_易方达" pitchFamily="2" charset="-122"/>
              </a:rPr>
              <a:t>号 </a:t>
            </a: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r>
              <a:rPr lang="en-US" altLang="zh-CN" sz="900" b="0" dirty="0">
                <a:solidFill>
                  <a:schemeClr val="bg1">
                    <a:lumMod val="65000"/>
                  </a:schemeClr>
                </a:solidFill>
                <a:latin typeface="华文黑体_易方达" pitchFamily="2" charset="-122"/>
                <a:ea typeface="华文黑体_易方达" pitchFamily="2" charset="-122"/>
              </a:rPr>
              <a:t>2. </a:t>
            </a:r>
            <a:r>
              <a:rPr lang="zh-CN" altLang="en-US" sz="900" b="0" dirty="0">
                <a:solidFill>
                  <a:schemeClr val="bg1">
                    <a:lumMod val="65000"/>
                  </a:schemeClr>
                </a:solidFill>
                <a:latin typeface="华文黑体_易方达" pitchFamily="2" charset="-122"/>
                <a:ea typeface="华文黑体_易方达" pitchFamily="2" charset="-122"/>
              </a:rPr>
              <a:t>英文标题字体：</a:t>
            </a:r>
            <a:r>
              <a:rPr lang="en-US" altLang="zh-CN" sz="900" b="0" dirty="0">
                <a:solidFill>
                  <a:schemeClr val="bg1">
                    <a:lumMod val="65000"/>
                  </a:schemeClr>
                </a:solidFill>
                <a:latin typeface="华文黑体_易方达" pitchFamily="2" charset="-122"/>
                <a:ea typeface="华文黑体_易方达" pitchFamily="2" charset="-122"/>
              </a:rPr>
              <a:t>Arial</a:t>
            </a:r>
            <a:r>
              <a:rPr lang="zh-CN" altLang="en-US" sz="900" b="0" dirty="0">
                <a:solidFill>
                  <a:schemeClr val="bg1">
                    <a:lumMod val="65000"/>
                  </a:schemeClr>
                </a:solidFill>
                <a:latin typeface="华文黑体_易方达" pitchFamily="2" charset="-122"/>
                <a:ea typeface="华文黑体_易方达" pitchFamily="2" charset="-122"/>
              </a:rPr>
              <a:t>，加粗，</a:t>
            </a:r>
            <a:r>
              <a:rPr lang="en-US" altLang="zh-CN" sz="900" b="0" dirty="0">
                <a:solidFill>
                  <a:schemeClr val="bg1">
                    <a:lumMod val="65000"/>
                  </a:schemeClr>
                </a:solidFill>
                <a:latin typeface="华文黑体_易方达" pitchFamily="2" charset="-122"/>
                <a:ea typeface="华文黑体_易方达" pitchFamily="2" charset="-122"/>
              </a:rPr>
              <a:t>21</a:t>
            </a:r>
            <a:r>
              <a:rPr lang="zh-CN" altLang="en-US" sz="900" b="0" dirty="0">
                <a:solidFill>
                  <a:schemeClr val="bg1">
                    <a:lumMod val="65000"/>
                  </a:schemeClr>
                </a:solidFill>
                <a:latin typeface="华文黑体_易方达" pitchFamily="2" charset="-122"/>
                <a:ea typeface="华文黑体_易方达" pitchFamily="2" charset="-122"/>
              </a:rPr>
              <a:t>号（注：英文标题并非必须） </a:t>
            </a: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r>
              <a:rPr lang="en-US" altLang="zh-CN" sz="900" b="0" dirty="0">
                <a:solidFill>
                  <a:schemeClr val="bg1">
                    <a:lumMod val="65000"/>
                  </a:schemeClr>
                </a:solidFill>
                <a:latin typeface="华文黑体_易方达" pitchFamily="2" charset="-122"/>
                <a:ea typeface="华文黑体_易方达" pitchFamily="2" charset="-122"/>
              </a:rPr>
              <a:t>3.</a:t>
            </a:r>
            <a:r>
              <a:rPr lang="zh-CN" altLang="en-US" sz="900" b="0" dirty="0">
                <a:solidFill>
                  <a:schemeClr val="bg1">
                    <a:lumMod val="65000"/>
                  </a:schemeClr>
                </a:solidFill>
                <a:latin typeface="华文黑体_易方达" pitchFamily="2" charset="-122"/>
                <a:ea typeface="华文黑体_易方达" pitchFamily="2" charset="-122"/>
              </a:rPr>
              <a:t>颜色</a:t>
            </a:r>
            <a:r>
              <a:rPr lang="en-US" altLang="zh-CN" sz="900" b="0" dirty="0">
                <a:solidFill>
                  <a:schemeClr val="bg1">
                    <a:lumMod val="65000"/>
                  </a:schemeClr>
                </a:solidFill>
                <a:latin typeface="华文黑体_易方达" pitchFamily="2" charset="-122"/>
                <a:ea typeface="华文黑体_易方达" pitchFamily="2" charset="-122"/>
              </a:rPr>
              <a:t>RGB</a:t>
            </a:r>
            <a:r>
              <a:rPr lang="zh-CN" altLang="en-US" sz="900" b="0" dirty="0">
                <a:solidFill>
                  <a:schemeClr val="bg1">
                    <a:lumMod val="65000"/>
                  </a:schemeClr>
                </a:solidFill>
                <a:latin typeface="华文黑体_易方达" pitchFamily="2" charset="-122"/>
                <a:ea typeface="华文黑体_易方达" pitchFamily="2" charset="-122"/>
              </a:rPr>
              <a:t>（</a:t>
            </a:r>
            <a:r>
              <a:rPr lang="en-US" altLang="zh-CN" sz="900" b="0" dirty="0">
                <a:solidFill>
                  <a:schemeClr val="bg1">
                    <a:lumMod val="65000"/>
                  </a:schemeClr>
                </a:solidFill>
                <a:latin typeface="华文黑体_易方达" pitchFamily="2" charset="-122"/>
                <a:ea typeface="华文黑体_易方达" pitchFamily="2" charset="-122"/>
              </a:rPr>
              <a:t>0</a:t>
            </a:r>
            <a:r>
              <a:rPr lang="zh-CN" altLang="en-US" sz="900" b="0" dirty="0">
                <a:solidFill>
                  <a:schemeClr val="bg1">
                    <a:lumMod val="65000"/>
                  </a:schemeClr>
                </a:solidFill>
                <a:latin typeface="华文黑体_易方达" pitchFamily="2" charset="-122"/>
                <a:ea typeface="华文黑体_易方达" pitchFamily="2" charset="-122"/>
              </a:rPr>
              <a:t>，</a:t>
            </a:r>
            <a:r>
              <a:rPr lang="en-US" altLang="zh-CN" sz="900" b="0" dirty="0">
                <a:solidFill>
                  <a:schemeClr val="bg1">
                    <a:lumMod val="65000"/>
                  </a:schemeClr>
                </a:solidFill>
                <a:latin typeface="华文黑体_易方达" pitchFamily="2" charset="-122"/>
                <a:ea typeface="华文黑体_易方达" pitchFamily="2" charset="-122"/>
              </a:rPr>
              <a:t>80</a:t>
            </a:r>
            <a:r>
              <a:rPr lang="zh-CN" altLang="en-US" sz="900" b="0" dirty="0">
                <a:solidFill>
                  <a:schemeClr val="bg1">
                    <a:lumMod val="65000"/>
                  </a:schemeClr>
                </a:solidFill>
                <a:latin typeface="华文黑体_易方达" pitchFamily="2" charset="-122"/>
                <a:ea typeface="华文黑体_易方达" pitchFamily="2" charset="-122"/>
              </a:rPr>
              <a:t>，</a:t>
            </a:r>
            <a:r>
              <a:rPr lang="en-US" altLang="zh-CN" sz="900" b="0" dirty="0">
                <a:solidFill>
                  <a:schemeClr val="bg1">
                    <a:lumMod val="65000"/>
                  </a:schemeClr>
                </a:solidFill>
                <a:latin typeface="华文黑体_易方达" pitchFamily="2" charset="-122"/>
                <a:ea typeface="华文黑体_易方达" pitchFamily="2" charset="-122"/>
              </a:rPr>
              <a:t>150</a:t>
            </a:r>
            <a:r>
              <a:rPr lang="zh-CN" altLang="en-US" sz="900" b="0" dirty="0">
                <a:solidFill>
                  <a:schemeClr val="bg1">
                    <a:lumMod val="65000"/>
                  </a:schemeClr>
                </a:solidFill>
                <a:latin typeface="华文黑体_易方达" pitchFamily="2" charset="-122"/>
                <a:ea typeface="华文黑体_易方达" pitchFamily="2" charset="-122"/>
              </a:rPr>
              <a:t>）</a:t>
            </a: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r>
              <a:rPr lang="en-US" altLang="zh-CN" sz="900" b="0" dirty="0">
                <a:solidFill>
                  <a:schemeClr val="bg1">
                    <a:lumMod val="65000"/>
                  </a:schemeClr>
                </a:solidFill>
                <a:latin typeface="华文黑体_易方达" pitchFamily="2" charset="-122"/>
                <a:ea typeface="华文黑体_易方达" pitchFamily="2" charset="-122"/>
              </a:rPr>
              <a:t>3. </a:t>
            </a:r>
            <a:r>
              <a:rPr lang="zh-CN" altLang="en-US" sz="900" b="0" dirty="0">
                <a:solidFill>
                  <a:schemeClr val="bg1">
                    <a:lumMod val="65000"/>
                  </a:schemeClr>
                </a:solidFill>
                <a:latin typeface="华文黑体_易方达" pitchFamily="2" charset="-122"/>
                <a:ea typeface="华文黑体_易方达" pitchFamily="2" charset="-122"/>
              </a:rPr>
              <a:t>日期字体：</a:t>
            </a:r>
            <a:r>
              <a:rPr lang="en-US" altLang="zh-CN" sz="900" b="0" dirty="0">
                <a:solidFill>
                  <a:schemeClr val="bg1">
                    <a:lumMod val="65000"/>
                  </a:schemeClr>
                </a:solidFill>
                <a:latin typeface="华文黑体_易方达" pitchFamily="2" charset="-122"/>
                <a:ea typeface="华文黑体_易方达" pitchFamily="2" charset="-122"/>
              </a:rPr>
              <a:t>Arial</a:t>
            </a:r>
            <a:r>
              <a:rPr lang="zh-CN" altLang="en-US" sz="900" b="0" dirty="0">
                <a:solidFill>
                  <a:schemeClr val="bg1">
                    <a:lumMod val="65000"/>
                  </a:schemeClr>
                </a:solidFill>
                <a:latin typeface="华文黑体_易方达" pitchFamily="2" charset="-122"/>
                <a:ea typeface="华文黑体_易方达" pitchFamily="2" charset="-122"/>
              </a:rPr>
              <a:t>，</a:t>
            </a:r>
            <a:r>
              <a:rPr lang="en-US" altLang="zh-CN" sz="900" b="0" dirty="0">
                <a:solidFill>
                  <a:schemeClr val="bg1">
                    <a:lumMod val="65000"/>
                  </a:schemeClr>
                </a:solidFill>
                <a:latin typeface="华文黑体_易方达" pitchFamily="2" charset="-122"/>
                <a:ea typeface="华文黑体_易方达" pitchFamily="2" charset="-122"/>
              </a:rPr>
              <a:t>14</a:t>
            </a:r>
            <a:r>
              <a:rPr lang="zh-CN" altLang="en-US" sz="900" b="0" dirty="0">
                <a:solidFill>
                  <a:schemeClr val="bg1">
                    <a:lumMod val="65000"/>
                  </a:schemeClr>
                </a:solidFill>
                <a:latin typeface="华文黑体_易方达" pitchFamily="2" charset="-122"/>
                <a:ea typeface="华文黑体_易方达" pitchFamily="2" charset="-122"/>
              </a:rPr>
              <a:t>号 </a:t>
            </a: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b="0" dirty="0">
              <a:solidFill>
                <a:schemeClr val="bg1">
                  <a:lumMod val="65000"/>
                </a:schemeClr>
              </a:solidFill>
              <a:latin typeface="华文黑体_易方达" pitchFamily="2" charset="-122"/>
              <a:ea typeface="华文黑体_易方达" pitchFamily="2" charset="-122"/>
            </a:endParaRPr>
          </a:p>
          <a:p>
            <a:pPr marL="0" indent="0">
              <a:buNone/>
            </a:pPr>
            <a:r>
              <a:rPr lang="en-US" altLang="zh-CN" sz="900" b="0" dirty="0">
                <a:solidFill>
                  <a:schemeClr val="bg1">
                    <a:lumMod val="65000"/>
                  </a:schemeClr>
                </a:solidFill>
                <a:latin typeface="华文黑体_易方达" pitchFamily="2" charset="-122"/>
                <a:ea typeface="华文黑体_易方达" pitchFamily="2" charset="-122"/>
              </a:rPr>
              <a:t>4. </a:t>
            </a:r>
            <a:r>
              <a:rPr lang="zh-CN" altLang="en-US" sz="900" b="0" dirty="0">
                <a:solidFill>
                  <a:schemeClr val="bg1">
                    <a:lumMod val="65000"/>
                  </a:schemeClr>
                </a:solidFill>
                <a:latin typeface="华文黑体_易方达" pitchFamily="2" charset="-122"/>
                <a:ea typeface="华文黑体_易方达" pitchFamily="2" charset="-122"/>
              </a:rPr>
              <a:t>免责提示不能删去，底色不能修</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1975"/>
          </a:xfrm>
          <a:prstGeom prst="rect">
            <a:avLst/>
          </a:prstGeom>
        </p:spPr>
      </p:pic>
      <p:sp>
        <p:nvSpPr>
          <p:cNvPr id="5" name="Rectangle 21"/>
          <p:cNvSpPr>
            <a:spLocks noGrp="1"/>
          </p:cNvSpPr>
          <p:nvPr>
            <p:ph type="title"/>
          </p:nvPr>
        </p:nvSpPr>
        <p:spPr bwMode="auto">
          <a:xfrm>
            <a:off x="380093" y="1438256"/>
            <a:ext cx="2735640" cy="267876"/>
          </a:xfrm>
          <a:prstGeom prst="rect">
            <a:avLst/>
          </a:prstGeom>
          <a:noFill/>
          <a:ln>
            <a:noFill/>
          </a:ln>
        </p:spPr>
        <p:txBody>
          <a:bodyPr vert="horz" wrap="square" lIns="0" tIns="0" rIns="0" bIns="45720" numCol="1" anchor="t" anchorCtr="0" compatLnSpc="1"/>
          <a:lstStyle>
            <a:lvl1pPr marL="0" marR="0" indent="0" algn="l" defTabSz="914400" rtl="0" eaLnBrk="1" fontAlgn="base" latinLnBrk="0" hangingPunct="1">
              <a:lnSpc>
                <a:spcPct val="100000"/>
              </a:lnSpc>
              <a:spcBef>
                <a:spcPct val="0"/>
              </a:spcBef>
              <a:spcAft>
                <a:spcPct val="0"/>
              </a:spcAft>
              <a:buClrTx/>
              <a:buSzTx/>
              <a:buFontTx/>
              <a:buNone/>
              <a:defRPr sz="1400">
                <a:solidFill>
                  <a:srgbClr val="005096"/>
                </a:solidFill>
                <a:latin typeface="华文黑体_易方达" pitchFamily="2" charset="-122"/>
                <a:ea typeface="华文黑体_易方达" pitchFamily="2" charset="-122"/>
              </a:defRPr>
            </a:lvl1pPr>
          </a:lstStyle>
          <a:p>
            <a:pPr lvl="0"/>
            <a:r>
              <a:rPr lang="zh-CN" altLang="en-US" dirty="0"/>
              <a:t>单击此处编辑母版标题样式</a:t>
            </a:r>
            <a:endParaRPr lang="en-US" dirty="0"/>
          </a:p>
        </p:txBody>
      </p:sp>
      <p:sp>
        <p:nvSpPr>
          <p:cNvPr id="17" name="Rectangle 22"/>
          <p:cNvSpPr>
            <a:spLocks noGrp="1"/>
          </p:cNvSpPr>
          <p:nvPr>
            <p:ph idx="1"/>
          </p:nvPr>
        </p:nvSpPr>
        <p:spPr bwMode="auto">
          <a:xfrm>
            <a:off x="336351" y="2243266"/>
            <a:ext cx="5801981" cy="1180416"/>
          </a:xfrm>
          <a:prstGeom prst="rect">
            <a:avLst/>
          </a:prstGeom>
          <a:noFill/>
          <a:ln>
            <a:noFill/>
          </a:ln>
        </p:spPr>
        <p:txBody>
          <a:bodyPr vert="horz" wrap="square" lIns="0" tIns="0" rIns="0" bIns="0" numCol="1" anchor="t" anchorCtr="0" compatLnSpc="1"/>
          <a:lstStyle>
            <a:lvl1pPr marL="0" indent="0" algn="l">
              <a:lnSpc>
                <a:spcPts val="3300"/>
              </a:lnSpc>
              <a:buFontTx/>
              <a:buNone/>
              <a:defRPr sz="2800" b="1" i="0" baseline="0">
                <a:solidFill>
                  <a:srgbClr val="005096"/>
                </a:solidFill>
                <a:latin typeface="华文黑体_易方达" pitchFamily="2" charset="-122"/>
                <a:ea typeface="华文黑体_易方达" pitchFamily="2" charset="-122"/>
                <a:cs typeface="华文黑体" charset="-122"/>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zh-CN" altLang="en-US" dirty="0"/>
              <a:t>单击此处编辑母版标题样式</a:t>
            </a:r>
            <a:endParaRPr lang="en-US" dirty="0"/>
          </a:p>
        </p:txBody>
      </p:sp>
      <p:pic>
        <p:nvPicPr>
          <p:cNvPr id="15" name="Picture 14"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8974"/>
            <a:ext cx="1389888" cy="301560"/>
          </a:xfrm>
          <a:prstGeom prst="rect">
            <a:avLst/>
          </a:prstGeom>
        </p:spPr>
      </p:pic>
      <p:sp>
        <p:nvSpPr>
          <p:cNvPr id="2" name="矩形 1"/>
          <p:cNvSpPr/>
          <p:nvPr userDrawn="1"/>
        </p:nvSpPr>
        <p:spPr>
          <a:xfrm>
            <a:off x="-1334659" y="1359503"/>
            <a:ext cx="1228781" cy="2584450"/>
          </a:xfrm>
          <a:prstGeom prst="rect">
            <a:avLst/>
          </a:prstGeom>
        </p:spPr>
        <p:txBody>
          <a:bodyPr wrap="square">
            <a:spAutoFit/>
          </a:bodyPr>
          <a:lstStyle/>
          <a:p>
            <a:pPr marL="0" indent="0">
              <a:buNone/>
            </a:pPr>
            <a:r>
              <a:rPr lang="en-US" altLang="zh-CN" sz="900" dirty="0">
                <a:solidFill>
                  <a:schemeClr val="bg1">
                    <a:lumMod val="65000"/>
                  </a:schemeClr>
                </a:solidFill>
                <a:latin typeface="华文黑体_易方达" pitchFamily="2" charset="-122"/>
                <a:ea typeface="华文黑体_易方达" pitchFamily="2" charset="-122"/>
              </a:rPr>
              <a:t>1.</a:t>
            </a:r>
            <a:r>
              <a:rPr lang="zh-CN" altLang="en-US" sz="900" dirty="0">
                <a:solidFill>
                  <a:schemeClr val="bg1">
                    <a:lumMod val="65000"/>
                  </a:schemeClr>
                </a:solidFill>
                <a:latin typeface="华文黑体_易方达" pitchFamily="2" charset="-122"/>
                <a:ea typeface="华文黑体_易方达" pitchFamily="2" charset="-122"/>
              </a:rPr>
              <a:t>章节序号：Arial，24号，加粗</a:t>
            </a: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r>
              <a:rPr lang="zh-CN" altLang="en-US" sz="900" dirty="0">
                <a:solidFill>
                  <a:schemeClr val="bg1">
                    <a:lumMod val="65000"/>
                  </a:schemeClr>
                </a:solidFill>
                <a:latin typeface="华文黑体_易方达" pitchFamily="2" charset="-122"/>
                <a:ea typeface="华文黑体_易方达" pitchFamily="2" charset="-122"/>
              </a:rPr>
              <a:t> </a:t>
            </a: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r>
              <a:rPr lang="zh-CN" altLang="en-US" sz="900" dirty="0">
                <a:solidFill>
                  <a:schemeClr val="bg1">
                    <a:lumMod val="65000"/>
                  </a:schemeClr>
                </a:solidFill>
                <a:latin typeface="华文黑体_易方达" pitchFamily="2" charset="-122"/>
                <a:ea typeface="华文黑体_易方达" pitchFamily="2" charset="-122"/>
              </a:rPr>
              <a:t>2. 标题中文字体：华文黑体，28号 </a:t>
            </a: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r>
              <a:rPr lang="zh-CN" altLang="en-US" sz="900" dirty="0">
                <a:solidFill>
                  <a:schemeClr val="bg1">
                    <a:lumMod val="65000"/>
                  </a:schemeClr>
                </a:solidFill>
                <a:latin typeface="华文黑体_易方达" pitchFamily="2" charset="-122"/>
                <a:ea typeface="华文黑体_易方达" pitchFamily="2" charset="-122"/>
              </a:rPr>
              <a:t>3. 英文标题字体：Arial，21号，加粗</a:t>
            </a: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en-US" altLang="zh-CN" sz="900" dirty="0">
              <a:solidFill>
                <a:schemeClr val="bg1">
                  <a:lumMod val="65000"/>
                </a:schemeClr>
              </a:solidFill>
              <a:latin typeface="华文黑体_易方达" pitchFamily="2" charset="-122"/>
              <a:ea typeface="华文黑体_易方达" pitchFamily="2" charset="-122"/>
            </a:endParaRPr>
          </a:p>
          <a:p>
            <a:pPr marL="0" indent="0">
              <a:buNone/>
            </a:pPr>
            <a:endParaRPr lang="zh-CN" altLang="en-US"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 1、2、3文字颜色统一为深蓝（R0，G80，B150</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文字内容页">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1975"/>
          </a:xfrm>
          <a:prstGeom prst="rect">
            <a:avLst/>
          </a:prstGeom>
        </p:spPr>
      </p:pic>
      <p:pic>
        <p:nvPicPr>
          <p:cNvPr id="11" name="Picture 10"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8974"/>
            <a:ext cx="1389888" cy="301560"/>
          </a:xfrm>
          <a:prstGeom prst="rect">
            <a:avLst/>
          </a:prstGeom>
        </p:spPr>
      </p:pic>
      <p:sp>
        <p:nvSpPr>
          <p:cNvPr id="17" name="Rectangle 21"/>
          <p:cNvSpPr>
            <a:spLocks noGrp="1"/>
          </p:cNvSpPr>
          <p:nvPr>
            <p:ph type="title"/>
          </p:nvPr>
        </p:nvSpPr>
        <p:spPr bwMode="auto">
          <a:xfrm>
            <a:off x="363151" y="211497"/>
            <a:ext cx="6191653" cy="267876"/>
          </a:xfrm>
          <a:prstGeom prst="rect">
            <a:avLst/>
          </a:prstGeom>
          <a:noFill/>
          <a:ln>
            <a:noFill/>
          </a:ln>
        </p:spPr>
        <p:txBody>
          <a:bodyPr vert="horz" wrap="square" lIns="0" tIns="0" rIns="0" bIns="45720" numCol="1" anchor="t" anchorCtr="0" compatLnSpc="1"/>
          <a:lstStyle>
            <a:lvl1pPr marL="0" marR="0" indent="0" algn="l" defTabSz="914400" rtl="0" eaLnBrk="1" fontAlgn="base" latinLnBrk="0" hangingPunct="1">
              <a:lnSpc>
                <a:spcPct val="100000"/>
              </a:lnSpc>
              <a:spcBef>
                <a:spcPct val="0"/>
              </a:spcBef>
              <a:spcAft>
                <a:spcPct val="0"/>
              </a:spcAft>
              <a:buClrTx/>
              <a:buSzTx/>
              <a:buFontTx/>
              <a:buNone/>
              <a:defRPr sz="2300" b="1">
                <a:solidFill>
                  <a:schemeClr val="bg1"/>
                </a:solidFill>
                <a:latin typeface="华文黑体_易方达" pitchFamily="2" charset="-122"/>
                <a:ea typeface="华文黑体_易方达" pitchFamily="2" charset="-122"/>
              </a:defRPr>
            </a:lvl1pPr>
          </a:lstStyle>
          <a:p>
            <a:pPr lvl="0"/>
            <a:r>
              <a:rPr lang="zh-CN" altLang="en-US" dirty="0"/>
              <a:t>单击此处编辑母版标题样式</a:t>
            </a:r>
            <a:endParaRPr lang="en-US" dirty="0"/>
          </a:p>
        </p:txBody>
      </p:sp>
      <p:sp>
        <p:nvSpPr>
          <p:cNvPr id="33" name="Rectangle 22"/>
          <p:cNvSpPr>
            <a:spLocks noGrp="1"/>
          </p:cNvSpPr>
          <p:nvPr>
            <p:ph idx="10"/>
          </p:nvPr>
        </p:nvSpPr>
        <p:spPr bwMode="auto">
          <a:xfrm>
            <a:off x="360363" y="1295701"/>
            <a:ext cx="8030104" cy="2477639"/>
          </a:xfrm>
          <a:prstGeom prst="rect">
            <a:avLst/>
          </a:prstGeom>
          <a:noFill/>
          <a:ln>
            <a:noFill/>
          </a:ln>
        </p:spPr>
        <p:txBody>
          <a:bodyPr vert="horz" wrap="square" lIns="0" tIns="0" rIns="0" bIns="0" numCol="1" anchor="t" anchorCtr="0" compatLnSpc="1"/>
          <a:lstStyle>
            <a:lvl1pPr marL="0" marR="0" indent="0" algn="l" defTabSz="914400" rtl="0" eaLnBrk="1" fontAlgn="base" latinLnBrk="0" hangingPunct="1">
              <a:lnSpc>
                <a:spcPts val="1800"/>
              </a:lnSpc>
              <a:spcBef>
                <a:spcPts val="0"/>
              </a:spcBef>
              <a:spcAft>
                <a:spcPct val="0"/>
              </a:spcAft>
              <a:buClrTx/>
              <a:buSzTx/>
              <a:buFontTx/>
              <a:buNone/>
              <a:defRPr sz="1500" b="0" baseline="0">
                <a:solidFill>
                  <a:srgbClr val="005096"/>
                </a:solidFill>
                <a:latin typeface="华文黑体_易方达" pitchFamily="2" charset="-122"/>
                <a:ea typeface="华文黑体_易方达" pitchFamily="2" charset="-122"/>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zh-CN" altLang="en-US" dirty="0"/>
              <a:t>单击此处编辑母版标题样式</a:t>
            </a:r>
            <a:br>
              <a:rPr lang="en-US" altLang="zh-CN" dirty="0"/>
            </a:br>
            <a:endParaRPr lang="en-US" dirty="0"/>
          </a:p>
        </p:txBody>
      </p:sp>
      <p:sp>
        <p:nvSpPr>
          <p:cNvPr id="16" name="Slide Number Placeholder 5"/>
          <p:cNvSpPr txBox="1"/>
          <p:nvPr userDrawn="1"/>
        </p:nvSpPr>
        <p:spPr bwMode="auto">
          <a:xfrm>
            <a:off x="8359020" y="4788834"/>
            <a:ext cx="448205" cy="141726"/>
          </a:xfrm>
          <a:prstGeom prst="rect">
            <a:avLst/>
          </a:prstGeom>
          <a:noFill/>
          <a:ln>
            <a:noFill/>
          </a:ln>
        </p:spPr>
        <p:txBody>
          <a:bodyPr lIns="0" tIns="0" rIns="0" bIns="0"/>
          <a:lstStyle>
            <a:lvl1pPr eaLnBrk="0" hangingPunct="0">
              <a:defRPr sz="2400">
                <a:solidFill>
                  <a:schemeClr val="tx1"/>
                </a:solidFill>
                <a:latin typeface="Arial" charset="0"/>
                <a:ea typeface="MS PGothic" charset="0"/>
                <a:cs typeface="MS PGothic" charset="0"/>
              </a:defRPr>
            </a:lvl1pPr>
            <a:lvl2pPr marL="742950" indent="-285750" eaLnBrk="0" hangingPunct="0">
              <a:defRPr sz="2400">
                <a:solidFill>
                  <a:schemeClr val="tx1"/>
                </a:solidFill>
                <a:latin typeface="Arial" charset="0"/>
                <a:ea typeface="MS PGothic" charset="0"/>
              </a:defRPr>
            </a:lvl2pPr>
            <a:lvl3pPr marL="1143000" indent="-228600" eaLnBrk="0" hangingPunct="0">
              <a:defRPr sz="2400">
                <a:solidFill>
                  <a:schemeClr val="tx1"/>
                </a:solidFill>
                <a:latin typeface="Arial" charset="0"/>
                <a:ea typeface="MS PGothic" charset="0"/>
              </a:defRPr>
            </a:lvl3pPr>
            <a:lvl4pPr marL="1600200" indent="-228600" eaLnBrk="0" hangingPunct="0">
              <a:defRPr sz="2400">
                <a:solidFill>
                  <a:schemeClr val="tx1"/>
                </a:solidFill>
                <a:latin typeface="Arial" charset="0"/>
                <a:ea typeface="MS PGothic" charset="0"/>
              </a:defRPr>
            </a:lvl4pPr>
            <a:lvl5pPr marL="2057400" indent="-228600" eaLnBrk="0" hangingPunct="0">
              <a:defRPr sz="2400">
                <a:solidFill>
                  <a:schemeClr val="tx1"/>
                </a:solidFill>
                <a:latin typeface="Arial" charset="0"/>
                <a:ea typeface="MS PGothic" charset="0"/>
              </a:defRPr>
            </a:lvl5pPr>
            <a:lvl6pPr marL="2514600" indent="-228600" eaLnBrk="0" fontAlgn="base" hangingPunct="0">
              <a:spcBef>
                <a:spcPct val="0"/>
              </a:spcBef>
              <a:spcAft>
                <a:spcPct val="0"/>
              </a:spcAft>
              <a:defRPr sz="2400">
                <a:solidFill>
                  <a:schemeClr val="tx1"/>
                </a:solidFill>
                <a:latin typeface="Arial" charset="0"/>
                <a:ea typeface="MS PGothic" charset="0"/>
              </a:defRPr>
            </a:lvl6pPr>
            <a:lvl7pPr marL="2971800" indent="-228600" eaLnBrk="0" fontAlgn="base" hangingPunct="0">
              <a:spcBef>
                <a:spcPct val="0"/>
              </a:spcBef>
              <a:spcAft>
                <a:spcPct val="0"/>
              </a:spcAft>
              <a:defRPr sz="2400">
                <a:solidFill>
                  <a:schemeClr val="tx1"/>
                </a:solidFill>
                <a:latin typeface="Arial" charset="0"/>
                <a:ea typeface="MS PGothic" charset="0"/>
              </a:defRPr>
            </a:lvl7pPr>
            <a:lvl8pPr marL="3429000" indent="-228600" eaLnBrk="0" fontAlgn="base" hangingPunct="0">
              <a:spcBef>
                <a:spcPct val="0"/>
              </a:spcBef>
              <a:spcAft>
                <a:spcPct val="0"/>
              </a:spcAft>
              <a:defRPr sz="2400">
                <a:solidFill>
                  <a:schemeClr val="tx1"/>
                </a:solidFill>
                <a:latin typeface="Arial" charset="0"/>
                <a:ea typeface="MS PGothic" charset="0"/>
              </a:defRPr>
            </a:lvl8pPr>
            <a:lvl9pPr marL="3886200" indent="-228600" eaLnBrk="0" fontAlgn="base" hangingPunct="0">
              <a:spcBef>
                <a:spcPct val="0"/>
              </a:spcBef>
              <a:spcAft>
                <a:spcPct val="0"/>
              </a:spcAft>
              <a:defRPr sz="2400">
                <a:solidFill>
                  <a:schemeClr val="tx1"/>
                </a:solidFill>
                <a:latin typeface="Arial" charset="0"/>
                <a:ea typeface="MS PGothic" charset="0"/>
              </a:defRPr>
            </a:lvl9pPr>
          </a:lstStyle>
          <a:p>
            <a:pPr algn="r"/>
            <a:fld id="{BDAEED39-8CE5-E849-8BB2-D2203B6D9153}" type="slidenum">
              <a:rPr lang="en-US" altLang="zh-CN" sz="800" b="0" i="0" baseline="0" smtClean="0">
                <a:solidFill>
                  <a:srgbClr val="505050"/>
                </a:solidFill>
                <a:latin typeface="Arial" charset="0"/>
                <a:ea typeface="黑体" charset="-122"/>
                <a:cs typeface="Arial" charset="0"/>
              </a:rPr>
              <a:t>‹#›</a:t>
            </a:fld>
            <a:endParaRPr lang="en-US" altLang="zh-CN" sz="800" b="0" i="0" baseline="0" dirty="0">
              <a:solidFill>
                <a:srgbClr val="505050"/>
              </a:solidFill>
              <a:latin typeface="Arial" charset="0"/>
              <a:ea typeface="黑体" charset="-122"/>
              <a:cs typeface="Arial" charset="0"/>
            </a:endParaRPr>
          </a:p>
          <a:p>
            <a:pPr algn="r"/>
            <a:endParaRPr lang="en-US" altLang="zh-CN" sz="800" b="0" i="0" baseline="0" dirty="0">
              <a:solidFill>
                <a:srgbClr val="505050"/>
              </a:solidFill>
              <a:latin typeface="Arial" charset="0"/>
              <a:ea typeface="黑体" charset="-122"/>
              <a:cs typeface="Arial" charset="0"/>
            </a:endParaRPr>
          </a:p>
        </p:txBody>
      </p:sp>
      <p:pic>
        <p:nvPicPr>
          <p:cNvPr id="6"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6404"/>
            <a:ext cx="8424672" cy="6092"/>
          </a:xfrm>
          <a:prstGeom prst="rect">
            <a:avLst/>
          </a:prstGeom>
          <a:ln>
            <a:solidFill>
              <a:schemeClr val="bg1">
                <a:lumMod val="65000"/>
              </a:schemeClr>
            </a:solidFill>
          </a:ln>
        </p:spPr>
      </p:pic>
      <p:sp>
        <p:nvSpPr>
          <p:cNvPr id="2" name="文本框 1"/>
          <p:cNvSpPr txBox="1"/>
          <p:nvPr userDrawn="1"/>
        </p:nvSpPr>
        <p:spPr>
          <a:xfrm>
            <a:off x="368300" y="4250314"/>
            <a:ext cx="2576919" cy="337185"/>
          </a:xfrm>
          <a:prstGeom prst="rect">
            <a:avLst/>
          </a:prstGeom>
          <a:noFill/>
        </p:spPr>
        <p:txBody>
          <a:bodyPr wrap="square" rtlCol="0">
            <a:spAutoFit/>
          </a:bodyPr>
          <a:lstStyle/>
          <a:p>
            <a:endParaRPr lang="zh-CN" altLang="en-US" sz="1600" dirty="0">
              <a:latin typeface="Verdana" pitchFamily="34" charset="0"/>
              <a:ea typeface="黑体" charset="-122"/>
            </a:endParaRPr>
          </a:p>
        </p:txBody>
      </p:sp>
      <p:sp>
        <p:nvSpPr>
          <p:cNvPr id="3" name="文本框 2"/>
          <p:cNvSpPr txBox="1"/>
          <p:nvPr userDrawn="1"/>
        </p:nvSpPr>
        <p:spPr>
          <a:xfrm>
            <a:off x="283240" y="4752676"/>
            <a:ext cx="2576919" cy="213995"/>
          </a:xfrm>
          <a:prstGeom prst="rect">
            <a:avLst/>
          </a:prstGeom>
          <a:noFill/>
        </p:spPr>
        <p:txBody>
          <a:bodyPr wrap="square" rtlCol="0">
            <a:spAutoFit/>
          </a:bodyPr>
          <a:lstStyle/>
          <a:p>
            <a:r>
              <a:rPr lang="zh-CN" altLang="en-US" sz="800" dirty="0">
                <a:solidFill>
                  <a:srgbClr val="3C3C3C"/>
                </a:solidFill>
                <a:latin typeface="华文黑体_易方达" pitchFamily="2" charset="-122"/>
                <a:ea typeface="华文黑体_易方达" pitchFamily="2" charset="-122"/>
                <a:cs typeface="华文黑体" charset="-122"/>
              </a:rPr>
              <a:t>易方达基金管理有限公司</a:t>
            </a:r>
          </a:p>
        </p:txBody>
      </p:sp>
      <p:sp>
        <p:nvSpPr>
          <p:cNvPr id="4" name="矩形 3"/>
          <p:cNvSpPr/>
          <p:nvPr userDrawn="1"/>
        </p:nvSpPr>
        <p:spPr>
          <a:xfrm>
            <a:off x="-1342725" y="145397"/>
            <a:ext cx="1256098" cy="4799965"/>
          </a:xfrm>
          <a:prstGeom prst="rect">
            <a:avLst/>
          </a:prstGeom>
        </p:spPr>
        <p:txBody>
          <a:bodyPr wrap="square">
            <a:spAutoFit/>
          </a:bodyPr>
          <a:lstStyle/>
          <a:p>
            <a:r>
              <a:rPr lang="zh-CN" altLang="en-US" sz="900" dirty="0">
                <a:solidFill>
                  <a:schemeClr val="bg1">
                    <a:lumMod val="65000"/>
                  </a:schemeClr>
                </a:solidFill>
                <a:latin typeface="华文黑体_易方达" pitchFamily="2" charset="-122"/>
                <a:ea typeface="华文黑体_易方达" pitchFamily="2" charset="-122"/>
              </a:rPr>
              <a:t>1. 页面主标题：华文黑体，23号加粗，颜色：白色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2. 内文一级标题：华文黑体，15号，加粗，深蓝（R0，G80，B150）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3. 内文一级文字：华文黑体，12号，灰色（R60，G60，B60）</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 4. 内文二级标题：华文黑体，12号，加粗，深蓝（R0，G80，B150）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5. 内文二级文字：华文黑体，10号，灰色（R60，G60，B60）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6. 文字内容项目符号统一使用黑色小圆点，100%字</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所有备注中文为华文黑体，英文</a:t>
            </a:r>
            <a:r>
              <a:rPr lang="en-US" altLang="zh-CN" sz="900" dirty="0">
                <a:solidFill>
                  <a:schemeClr val="bg1">
                    <a:lumMod val="65000"/>
                  </a:schemeClr>
                </a:solidFill>
                <a:latin typeface="华文黑体_易方达" pitchFamily="2" charset="-122"/>
                <a:ea typeface="华文黑体_易方达" pitchFamily="2" charset="-122"/>
              </a:rPr>
              <a:t>Arial</a:t>
            </a:r>
            <a:r>
              <a:rPr lang="zh-CN" altLang="en-US" sz="900" dirty="0">
                <a:solidFill>
                  <a:schemeClr val="bg1">
                    <a:lumMod val="65000"/>
                  </a:schemeClr>
                </a:solidFill>
                <a:latin typeface="华文黑体_易方达" pitchFamily="2" charset="-122"/>
                <a:ea typeface="华文黑体_易方达" pitchFamily="2" charset="-122"/>
              </a:rPr>
              <a:t>，</a:t>
            </a:r>
            <a:r>
              <a:rPr lang="en-US" altLang="zh-CN" sz="900" dirty="0">
                <a:solidFill>
                  <a:schemeClr val="bg1">
                    <a:lumMod val="65000"/>
                  </a:schemeClr>
                </a:solidFill>
                <a:latin typeface="华文黑体_易方达" pitchFamily="2" charset="-122"/>
                <a:ea typeface="华文黑体_易方达" pitchFamily="2" charset="-122"/>
              </a:rPr>
              <a:t>7</a:t>
            </a:r>
            <a:r>
              <a:rPr lang="zh-CN" altLang="en-US" sz="900" dirty="0">
                <a:solidFill>
                  <a:schemeClr val="bg1">
                    <a:lumMod val="65000"/>
                  </a:schemeClr>
                </a:solidFill>
                <a:latin typeface="华文黑体_易方达" pitchFamily="2" charset="-122"/>
                <a:ea typeface="华文黑体_易方达" pitchFamily="2" charset="-122"/>
              </a:rPr>
              <a:t>号，灰色（</a:t>
            </a:r>
            <a:r>
              <a:rPr lang="en-US" altLang="zh-CN" sz="900" dirty="0">
                <a:solidFill>
                  <a:schemeClr val="bg1">
                    <a:lumMod val="65000"/>
                  </a:schemeClr>
                </a:solidFill>
                <a:latin typeface="华文黑体_易方达" pitchFamily="2" charset="-122"/>
                <a:ea typeface="华文黑体_易方达" pitchFamily="2" charset="-122"/>
              </a:rPr>
              <a:t>R60</a:t>
            </a:r>
            <a:r>
              <a:rPr lang="zh-CN" altLang="en-US" sz="900" dirty="0">
                <a:solidFill>
                  <a:schemeClr val="bg1">
                    <a:lumMod val="65000"/>
                  </a:schemeClr>
                </a:solidFill>
                <a:latin typeface="华文黑体_易方达" pitchFamily="2" charset="-122"/>
                <a:ea typeface="华文黑体_易方达" pitchFamily="2" charset="-122"/>
              </a:rPr>
              <a:t>，</a:t>
            </a:r>
            <a:r>
              <a:rPr lang="en-US" altLang="zh-CN" sz="900" dirty="0">
                <a:solidFill>
                  <a:schemeClr val="bg1">
                    <a:lumMod val="65000"/>
                  </a:schemeClr>
                </a:solidFill>
                <a:latin typeface="华文黑体_易方达" pitchFamily="2" charset="-122"/>
                <a:ea typeface="华文黑体_易方达" pitchFamily="2" charset="-122"/>
              </a:rPr>
              <a:t>G60</a:t>
            </a:r>
            <a:r>
              <a:rPr lang="zh-CN" altLang="en-US" sz="900" dirty="0">
                <a:solidFill>
                  <a:schemeClr val="bg1">
                    <a:lumMod val="65000"/>
                  </a:schemeClr>
                </a:solidFill>
                <a:latin typeface="华文黑体_易方达" pitchFamily="2" charset="-122"/>
                <a:ea typeface="华文黑体_易方达" pitchFamily="2" charset="-122"/>
              </a:rPr>
              <a:t>，</a:t>
            </a:r>
            <a:r>
              <a:rPr lang="en-US" altLang="zh-CN" sz="900" dirty="0">
                <a:solidFill>
                  <a:schemeClr val="bg1">
                    <a:lumMod val="65000"/>
                  </a:schemeClr>
                </a:solidFill>
                <a:latin typeface="华文黑体_易方达" pitchFamily="2" charset="-122"/>
                <a:ea typeface="华文黑体_易方达" pitchFamily="2" charset="-122"/>
              </a:rPr>
              <a:t>B60</a:t>
            </a:r>
            <a:r>
              <a:rPr lang="zh-CN" altLang="en-US" sz="900" dirty="0">
                <a:solidFill>
                  <a:schemeClr val="bg1">
                    <a:lumMod val="65000"/>
                  </a:schemeClr>
                </a:solidFill>
                <a:latin typeface="华文黑体_易方达" pitchFamily="2" charset="-122"/>
                <a:ea typeface="华文黑体_易方达" pitchFamily="2" charset="-122"/>
              </a:rPr>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1975"/>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8974"/>
            <a:ext cx="1389888" cy="301560"/>
          </a:xfrm>
          <a:prstGeom prst="rect">
            <a:avLst/>
          </a:prstGeom>
        </p:spPr>
      </p:pic>
      <p:sp>
        <p:nvSpPr>
          <p:cNvPr id="14" name="Rectangle 21"/>
          <p:cNvSpPr>
            <a:spLocks noGrp="1"/>
          </p:cNvSpPr>
          <p:nvPr>
            <p:ph type="title"/>
          </p:nvPr>
        </p:nvSpPr>
        <p:spPr bwMode="auto">
          <a:xfrm>
            <a:off x="363151" y="211497"/>
            <a:ext cx="6230154" cy="267876"/>
          </a:xfrm>
          <a:prstGeom prst="rect">
            <a:avLst/>
          </a:prstGeom>
          <a:noFill/>
          <a:ln>
            <a:noFill/>
          </a:ln>
        </p:spPr>
        <p:txBody>
          <a:bodyPr vert="horz" wrap="square" lIns="0" tIns="0" rIns="0" bIns="45720" numCol="1" anchor="t" anchorCtr="0" compatLnSpc="1"/>
          <a:lstStyle>
            <a:lvl1pPr marL="0" marR="0" indent="0" algn="l" defTabSz="914400" rtl="0" eaLnBrk="1" fontAlgn="base" latinLnBrk="0" hangingPunct="1">
              <a:lnSpc>
                <a:spcPct val="100000"/>
              </a:lnSpc>
              <a:spcBef>
                <a:spcPct val="0"/>
              </a:spcBef>
              <a:spcAft>
                <a:spcPct val="0"/>
              </a:spcAft>
              <a:buClrTx/>
              <a:buSzTx/>
              <a:buFontTx/>
              <a:buNone/>
              <a:defRPr sz="2300" b="1">
                <a:solidFill>
                  <a:schemeClr val="bg1"/>
                </a:solidFill>
                <a:latin typeface="华文黑体_易方达" pitchFamily="2" charset="-122"/>
                <a:ea typeface="华文黑体_易方达" pitchFamily="2" charset="-122"/>
              </a:defRPr>
            </a:lvl1pPr>
          </a:lstStyle>
          <a:p>
            <a:pPr lvl="0"/>
            <a:r>
              <a:rPr lang="zh-CN" altLang="en-US" dirty="0"/>
              <a:t>单击此处编辑母版标题样式</a:t>
            </a:r>
            <a:endParaRPr lang="en-US" dirty="0"/>
          </a:p>
        </p:txBody>
      </p:sp>
      <p:sp>
        <p:nvSpPr>
          <p:cNvPr id="15" name="Rectangle 22"/>
          <p:cNvSpPr>
            <a:spLocks noGrp="1"/>
          </p:cNvSpPr>
          <p:nvPr>
            <p:ph idx="10"/>
          </p:nvPr>
        </p:nvSpPr>
        <p:spPr bwMode="auto">
          <a:xfrm>
            <a:off x="360363" y="1295701"/>
            <a:ext cx="4465637" cy="2477639"/>
          </a:xfrm>
          <a:prstGeom prst="rect">
            <a:avLst/>
          </a:prstGeom>
          <a:noFill/>
          <a:ln>
            <a:noFill/>
          </a:ln>
        </p:spPr>
        <p:txBody>
          <a:bodyPr vert="horz" wrap="square" lIns="0" tIns="0" rIns="0" bIns="0" numCol="1" anchor="t" anchorCtr="0" compatLnSpc="1"/>
          <a:lstStyle>
            <a:lvl1pPr marL="0" marR="0" indent="0" algn="l" defTabSz="914400" rtl="0" eaLnBrk="1" fontAlgn="base" latinLnBrk="0" hangingPunct="1">
              <a:lnSpc>
                <a:spcPts val="1800"/>
              </a:lnSpc>
              <a:spcBef>
                <a:spcPts val="0"/>
              </a:spcBef>
              <a:spcAft>
                <a:spcPct val="0"/>
              </a:spcAft>
              <a:buClrTx/>
              <a:buSzTx/>
              <a:buFontTx/>
              <a:buNone/>
              <a:defRPr sz="1500" b="0" baseline="0">
                <a:solidFill>
                  <a:srgbClr val="005096"/>
                </a:solidFill>
                <a:latin typeface="华文黑体_易方达" pitchFamily="2" charset="-122"/>
                <a:ea typeface="华文黑体_易方达" pitchFamily="2" charset="-122"/>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zh-CN" altLang="en-US" dirty="0"/>
              <a:t>单击此处编辑母版标题样式</a:t>
            </a:r>
            <a:br>
              <a:rPr lang="en-US" altLang="zh-CN" dirty="0"/>
            </a:br>
            <a:endParaRPr lang="en-US" dirty="0"/>
          </a:p>
        </p:txBody>
      </p:sp>
      <p:sp>
        <p:nvSpPr>
          <p:cNvPr id="17" name="Slide Number Placeholder 5"/>
          <p:cNvSpPr txBox="1"/>
          <p:nvPr userDrawn="1"/>
        </p:nvSpPr>
        <p:spPr bwMode="auto">
          <a:xfrm>
            <a:off x="8359020" y="4788834"/>
            <a:ext cx="448205" cy="141726"/>
          </a:xfrm>
          <a:prstGeom prst="rect">
            <a:avLst/>
          </a:prstGeom>
          <a:noFill/>
          <a:ln>
            <a:noFill/>
          </a:ln>
        </p:spPr>
        <p:txBody>
          <a:bodyPr lIns="0" tIns="0" rIns="0" bIns="0"/>
          <a:lstStyle>
            <a:lvl1pPr eaLnBrk="0" hangingPunct="0">
              <a:defRPr sz="2400">
                <a:solidFill>
                  <a:schemeClr val="tx1"/>
                </a:solidFill>
                <a:latin typeface="Arial" charset="0"/>
                <a:ea typeface="MS PGothic" charset="0"/>
                <a:cs typeface="MS PGothic" charset="0"/>
              </a:defRPr>
            </a:lvl1pPr>
            <a:lvl2pPr marL="742950" indent="-285750" eaLnBrk="0" hangingPunct="0">
              <a:defRPr sz="2400">
                <a:solidFill>
                  <a:schemeClr val="tx1"/>
                </a:solidFill>
                <a:latin typeface="Arial" charset="0"/>
                <a:ea typeface="MS PGothic" charset="0"/>
              </a:defRPr>
            </a:lvl2pPr>
            <a:lvl3pPr marL="1143000" indent="-228600" eaLnBrk="0" hangingPunct="0">
              <a:defRPr sz="2400">
                <a:solidFill>
                  <a:schemeClr val="tx1"/>
                </a:solidFill>
                <a:latin typeface="Arial" charset="0"/>
                <a:ea typeface="MS PGothic" charset="0"/>
              </a:defRPr>
            </a:lvl3pPr>
            <a:lvl4pPr marL="1600200" indent="-228600" eaLnBrk="0" hangingPunct="0">
              <a:defRPr sz="2400">
                <a:solidFill>
                  <a:schemeClr val="tx1"/>
                </a:solidFill>
                <a:latin typeface="Arial" charset="0"/>
                <a:ea typeface="MS PGothic" charset="0"/>
              </a:defRPr>
            </a:lvl4pPr>
            <a:lvl5pPr marL="2057400" indent="-228600" eaLnBrk="0" hangingPunct="0">
              <a:defRPr sz="2400">
                <a:solidFill>
                  <a:schemeClr val="tx1"/>
                </a:solidFill>
                <a:latin typeface="Arial" charset="0"/>
                <a:ea typeface="MS PGothic" charset="0"/>
              </a:defRPr>
            </a:lvl5pPr>
            <a:lvl6pPr marL="2514600" indent="-228600" eaLnBrk="0" fontAlgn="base" hangingPunct="0">
              <a:spcBef>
                <a:spcPct val="0"/>
              </a:spcBef>
              <a:spcAft>
                <a:spcPct val="0"/>
              </a:spcAft>
              <a:defRPr sz="2400">
                <a:solidFill>
                  <a:schemeClr val="tx1"/>
                </a:solidFill>
                <a:latin typeface="Arial" charset="0"/>
                <a:ea typeface="MS PGothic" charset="0"/>
              </a:defRPr>
            </a:lvl6pPr>
            <a:lvl7pPr marL="2971800" indent="-228600" eaLnBrk="0" fontAlgn="base" hangingPunct="0">
              <a:spcBef>
                <a:spcPct val="0"/>
              </a:spcBef>
              <a:spcAft>
                <a:spcPct val="0"/>
              </a:spcAft>
              <a:defRPr sz="2400">
                <a:solidFill>
                  <a:schemeClr val="tx1"/>
                </a:solidFill>
                <a:latin typeface="Arial" charset="0"/>
                <a:ea typeface="MS PGothic" charset="0"/>
              </a:defRPr>
            </a:lvl7pPr>
            <a:lvl8pPr marL="3429000" indent="-228600" eaLnBrk="0" fontAlgn="base" hangingPunct="0">
              <a:spcBef>
                <a:spcPct val="0"/>
              </a:spcBef>
              <a:spcAft>
                <a:spcPct val="0"/>
              </a:spcAft>
              <a:defRPr sz="2400">
                <a:solidFill>
                  <a:schemeClr val="tx1"/>
                </a:solidFill>
                <a:latin typeface="Arial" charset="0"/>
                <a:ea typeface="MS PGothic" charset="0"/>
              </a:defRPr>
            </a:lvl8pPr>
            <a:lvl9pPr marL="3886200" indent="-228600" eaLnBrk="0" fontAlgn="base" hangingPunct="0">
              <a:spcBef>
                <a:spcPct val="0"/>
              </a:spcBef>
              <a:spcAft>
                <a:spcPct val="0"/>
              </a:spcAft>
              <a:defRPr sz="2400">
                <a:solidFill>
                  <a:schemeClr val="tx1"/>
                </a:solidFill>
                <a:latin typeface="Arial" charset="0"/>
                <a:ea typeface="MS PGothic" charset="0"/>
              </a:defRPr>
            </a:lvl9pPr>
          </a:lstStyle>
          <a:p>
            <a:pPr algn="r"/>
            <a:fld id="{BDAEED39-8CE5-E849-8BB2-D2203B6D9153}" type="slidenum">
              <a:rPr lang="en-US" altLang="zh-CN" sz="800" b="0" i="0" baseline="0" smtClean="0">
                <a:solidFill>
                  <a:srgbClr val="505050"/>
                </a:solidFill>
                <a:latin typeface="Arial" charset="0"/>
                <a:ea typeface="黑体" charset="-122"/>
                <a:cs typeface="Arial" charset="0"/>
              </a:rPr>
              <a:t>‹#›</a:t>
            </a:fld>
            <a:endParaRPr lang="en-US" altLang="zh-CN" sz="800" b="0" i="0" baseline="0" dirty="0">
              <a:solidFill>
                <a:srgbClr val="505050"/>
              </a:solidFill>
              <a:latin typeface="Arial" charset="0"/>
              <a:ea typeface="黑体" charset="-122"/>
              <a:cs typeface="Arial" charset="0"/>
            </a:endParaRPr>
          </a:p>
          <a:p>
            <a:pPr algn="r"/>
            <a:endParaRPr lang="en-US" altLang="zh-CN" sz="800" b="0" i="0" baseline="0" dirty="0">
              <a:solidFill>
                <a:srgbClr val="505050"/>
              </a:solidFill>
              <a:latin typeface="Arial" charset="0"/>
              <a:ea typeface="黑体" charset="-122"/>
              <a:cs typeface="Arial" charset="0"/>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6404"/>
            <a:ext cx="8424672" cy="6092"/>
          </a:xfrm>
          <a:prstGeom prst="rect">
            <a:avLst/>
          </a:prstGeom>
          <a:ln>
            <a:solidFill>
              <a:schemeClr val="bg1">
                <a:lumMod val="65000"/>
              </a:schemeClr>
            </a:solidFill>
          </a:ln>
        </p:spPr>
      </p:pic>
      <p:sp>
        <p:nvSpPr>
          <p:cNvPr id="12" name="文本框 11"/>
          <p:cNvSpPr txBox="1"/>
          <p:nvPr userDrawn="1"/>
        </p:nvSpPr>
        <p:spPr>
          <a:xfrm>
            <a:off x="283240" y="4752676"/>
            <a:ext cx="2576919" cy="213995"/>
          </a:xfrm>
          <a:prstGeom prst="rect">
            <a:avLst/>
          </a:prstGeom>
          <a:noFill/>
        </p:spPr>
        <p:txBody>
          <a:bodyPr wrap="square" rtlCol="0">
            <a:spAutoFit/>
          </a:bodyPr>
          <a:lstStyle/>
          <a:p>
            <a:r>
              <a:rPr lang="zh-CN" altLang="en-US" sz="800" dirty="0">
                <a:solidFill>
                  <a:srgbClr val="3C3C3C"/>
                </a:solidFill>
                <a:latin typeface="华文黑体_易方达" pitchFamily="2" charset="-122"/>
                <a:ea typeface="华文黑体_易方达" pitchFamily="2" charset="-122"/>
                <a:cs typeface="华文黑体" charset="-122"/>
              </a:rPr>
              <a:t>易方达基金管理有限公司</a:t>
            </a:r>
          </a:p>
        </p:txBody>
      </p:sp>
      <p:sp>
        <p:nvSpPr>
          <p:cNvPr id="2" name="矩形 1"/>
          <p:cNvSpPr/>
          <p:nvPr userDrawn="1"/>
        </p:nvSpPr>
        <p:spPr>
          <a:xfrm>
            <a:off x="-1342724" y="791975"/>
            <a:ext cx="1217596" cy="4246245"/>
          </a:xfrm>
          <a:prstGeom prst="rect">
            <a:avLst/>
          </a:prstGeom>
        </p:spPr>
        <p:txBody>
          <a:bodyPr wrap="square">
            <a:spAutoFit/>
          </a:bodyPr>
          <a:lstStyle/>
          <a:p>
            <a:r>
              <a:rPr lang="zh-CN" altLang="en-US" sz="900" dirty="0">
                <a:solidFill>
                  <a:schemeClr val="bg1">
                    <a:lumMod val="65000"/>
                  </a:schemeClr>
                </a:solidFill>
                <a:latin typeface="华文黑体_易方达" pitchFamily="2" charset="-122"/>
                <a:ea typeface="华文黑体_易方达" pitchFamily="2" charset="-122"/>
              </a:rPr>
              <a:t>1. 图表标题字体为华文黑体，一般为10号（视需要可调），深蓝（R0，G80，B150）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2. 备注为华文黑体+Arial，7号，灰色（R60，G60，B60）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3. 图例字体使用华文黑体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4. 图表中数字字体统一为Arial</a:t>
            </a: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图表统一使用纯白底色，不得自行添加背景色，不能对图表使用渐变、阴影、立体等复杂效果， 所有图表不使用边框</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图中背景实线使用浅灰色实线背景（</a:t>
            </a:r>
            <a:r>
              <a:rPr lang="en-US" altLang="zh-CN" sz="900" dirty="0">
                <a:solidFill>
                  <a:schemeClr val="bg1">
                    <a:lumMod val="65000"/>
                  </a:schemeClr>
                </a:solidFill>
                <a:latin typeface="华文黑体_易方达" pitchFamily="2" charset="-122"/>
                <a:ea typeface="华文黑体_易方达" pitchFamily="2" charset="-122"/>
              </a:rPr>
              <a:t>R204</a:t>
            </a:r>
            <a:r>
              <a:rPr lang="zh-CN" altLang="en-US" sz="900" dirty="0">
                <a:solidFill>
                  <a:schemeClr val="bg1">
                    <a:lumMod val="65000"/>
                  </a:schemeClr>
                </a:solidFill>
                <a:latin typeface="华文黑体_易方达" pitchFamily="2" charset="-122"/>
                <a:ea typeface="华文黑体_易方达" pitchFamily="2" charset="-122"/>
              </a:rPr>
              <a:t>，</a:t>
            </a:r>
            <a:r>
              <a:rPr lang="en-US" altLang="zh-CN" sz="900" dirty="0">
                <a:solidFill>
                  <a:schemeClr val="bg1">
                    <a:lumMod val="65000"/>
                  </a:schemeClr>
                </a:solidFill>
                <a:latin typeface="华文黑体_易方达" pitchFamily="2" charset="-122"/>
                <a:ea typeface="华文黑体_易方达" pitchFamily="2" charset="-122"/>
              </a:rPr>
              <a:t>G204</a:t>
            </a:r>
            <a:r>
              <a:rPr lang="zh-CN" altLang="en-US" sz="900" dirty="0">
                <a:solidFill>
                  <a:schemeClr val="bg1">
                    <a:lumMod val="65000"/>
                  </a:schemeClr>
                </a:solidFill>
                <a:latin typeface="华文黑体_易方达" pitchFamily="2" charset="-122"/>
                <a:ea typeface="华文黑体_易方达" pitchFamily="2" charset="-122"/>
              </a:rPr>
              <a:t>，</a:t>
            </a:r>
            <a:r>
              <a:rPr lang="en-US" altLang="zh-CN" sz="900" dirty="0">
                <a:solidFill>
                  <a:schemeClr val="bg1">
                    <a:lumMod val="65000"/>
                  </a:schemeClr>
                </a:solidFill>
                <a:latin typeface="华文黑体_易方达" pitchFamily="2" charset="-122"/>
                <a:ea typeface="华文黑体_易方达" pitchFamily="2" charset="-122"/>
              </a:rPr>
              <a:t>B204</a:t>
            </a:r>
            <a:r>
              <a:rPr lang="zh-CN" altLang="en-US" sz="900" dirty="0">
                <a:solidFill>
                  <a:schemeClr val="bg1">
                    <a:lumMod val="65000"/>
                  </a:schemeClr>
                </a:solidFill>
                <a:latin typeface="华文黑体_易方达" pitchFamily="2" charset="-122"/>
                <a:ea typeface="华文黑体_易方达" pitchFamily="2" charset="-122"/>
              </a:rPr>
              <a:t>）</a:t>
            </a:r>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连接线条建议</a:t>
            </a:r>
            <a:r>
              <a:rPr lang="en-US" altLang="zh-CN" sz="900" dirty="0">
                <a:solidFill>
                  <a:schemeClr val="bg1">
                    <a:lumMod val="65000"/>
                  </a:schemeClr>
                </a:solidFill>
                <a:latin typeface="华文黑体_易方达" pitchFamily="2" charset="-122"/>
                <a:ea typeface="华文黑体_易方达" pitchFamily="2" charset="-122"/>
              </a:rPr>
              <a:t>1.5</a:t>
            </a:r>
            <a:r>
              <a:rPr lang="zh-CN" altLang="en-US" sz="900" dirty="0">
                <a:solidFill>
                  <a:schemeClr val="bg1">
                    <a:lumMod val="65000"/>
                  </a:schemeClr>
                </a:solidFill>
                <a:latin typeface="华文黑体_易方达" pitchFamily="2" charset="-122"/>
                <a:ea typeface="华文黑体_易方达" pitchFamily="2" charset="-122"/>
              </a:rPr>
              <a:t>磅，灰色 （</a:t>
            </a:r>
            <a:r>
              <a:rPr lang="en-US" altLang="zh-CN" sz="900" dirty="0">
                <a:solidFill>
                  <a:schemeClr val="bg1">
                    <a:lumMod val="65000"/>
                  </a:schemeClr>
                </a:solidFill>
                <a:latin typeface="华文黑体_易方达" pitchFamily="2" charset="-122"/>
                <a:ea typeface="华文黑体_易方达" pitchFamily="2" charset="-122"/>
              </a:rPr>
              <a:t>R150</a:t>
            </a:r>
            <a:r>
              <a:rPr lang="zh-CN" altLang="en-US" sz="900" dirty="0">
                <a:solidFill>
                  <a:schemeClr val="bg1">
                    <a:lumMod val="65000"/>
                  </a:schemeClr>
                </a:solidFill>
                <a:latin typeface="华文黑体_易方达" pitchFamily="2" charset="-122"/>
                <a:ea typeface="华文黑体_易方达" pitchFamily="2" charset="-122"/>
              </a:rPr>
              <a:t>；</a:t>
            </a:r>
            <a:r>
              <a:rPr lang="en-US" altLang="zh-CN" sz="900" dirty="0">
                <a:solidFill>
                  <a:schemeClr val="bg1">
                    <a:lumMod val="65000"/>
                  </a:schemeClr>
                </a:solidFill>
                <a:latin typeface="华文黑体_易方达" pitchFamily="2" charset="-122"/>
                <a:ea typeface="华文黑体_易方达" pitchFamily="2" charset="-122"/>
              </a:rPr>
              <a:t>G150</a:t>
            </a:r>
            <a:r>
              <a:rPr lang="zh-CN" altLang="en-US" sz="900" dirty="0">
                <a:solidFill>
                  <a:schemeClr val="bg1">
                    <a:lumMod val="65000"/>
                  </a:schemeClr>
                </a:solidFill>
                <a:latin typeface="华文黑体_易方达" pitchFamily="2" charset="-122"/>
                <a:ea typeface="华文黑体_易方达" pitchFamily="2" charset="-122"/>
              </a:rPr>
              <a:t>；</a:t>
            </a:r>
            <a:r>
              <a:rPr lang="en-US" altLang="zh-CN" sz="900" dirty="0">
                <a:solidFill>
                  <a:schemeClr val="bg1">
                    <a:lumMod val="65000"/>
                  </a:schemeClr>
                </a:solidFill>
                <a:latin typeface="华文黑体_易方达" pitchFamily="2" charset="-122"/>
                <a:ea typeface="华文黑体_易方达" pitchFamily="2" charset="-122"/>
              </a:rPr>
              <a:t>B150</a:t>
            </a:r>
            <a:r>
              <a:rPr lang="zh-CN" altLang="en-US" sz="900" dirty="0">
                <a:solidFill>
                  <a:schemeClr val="bg1">
                    <a:lumMod val="65000"/>
                  </a:schemeClr>
                </a:solidFill>
                <a:latin typeface="华文黑体_易方达" pitchFamily="2" charset="-122"/>
                <a:ea typeface="华文黑体_易方达" pitchFamily="2" charset="-122"/>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表格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1975"/>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8974"/>
            <a:ext cx="1389888" cy="301560"/>
          </a:xfrm>
          <a:prstGeom prst="rect">
            <a:avLst/>
          </a:prstGeom>
        </p:spPr>
      </p:pic>
      <p:sp>
        <p:nvSpPr>
          <p:cNvPr id="16" name="Rectangle 21"/>
          <p:cNvSpPr>
            <a:spLocks noGrp="1"/>
          </p:cNvSpPr>
          <p:nvPr>
            <p:ph type="title"/>
          </p:nvPr>
        </p:nvSpPr>
        <p:spPr bwMode="auto">
          <a:xfrm>
            <a:off x="363151" y="211497"/>
            <a:ext cx="6268655" cy="267876"/>
          </a:xfrm>
          <a:prstGeom prst="rect">
            <a:avLst/>
          </a:prstGeom>
          <a:noFill/>
          <a:ln>
            <a:noFill/>
          </a:ln>
        </p:spPr>
        <p:txBody>
          <a:bodyPr vert="horz" wrap="square" lIns="0" tIns="0" rIns="0" bIns="45720" numCol="1" anchor="t" anchorCtr="0" compatLnSpc="1"/>
          <a:lstStyle>
            <a:lvl1pPr marL="0" marR="0" indent="0" algn="l" defTabSz="914400" rtl="0" eaLnBrk="1" fontAlgn="base" latinLnBrk="0" hangingPunct="1">
              <a:lnSpc>
                <a:spcPct val="100000"/>
              </a:lnSpc>
              <a:spcBef>
                <a:spcPct val="0"/>
              </a:spcBef>
              <a:spcAft>
                <a:spcPct val="0"/>
              </a:spcAft>
              <a:buClrTx/>
              <a:buSzTx/>
              <a:buFontTx/>
              <a:buNone/>
              <a:defRPr sz="2300" b="1">
                <a:solidFill>
                  <a:schemeClr val="bg1"/>
                </a:solidFill>
                <a:latin typeface="华文黑体_易方达" pitchFamily="2" charset="-122"/>
                <a:ea typeface="华文黑体_易方达" pitchFamily="2" charset="-122"/>
              </a:defRPr>
            </a:lvl1pPr>
          </a:lstStyle>
          <a:p>
            <a:pPr lvl="0"/>
            <a:r>
              <a:rPr lang="zh-CN" altLang="en-US" dirty="0"/>
              <a:t>单击此处编辑母版标题样式</a:t>
            </a:r>
            <a:endParaRPr lang="en-US" dirty="0"/>
          </a:p>
        </p:txBody>
      </p:sp>
      <p:sp>
        <p:nvSpPr>
          <p:cNvPr id="17" name="Rectangle 22"/>
          <p:cNvSpPr>
            <a:spLocks noGrp="1"/>
          </p:cNvSpPr>
          <p:nvPr>
            <p:ph idx="10"/>
          </p:nvPr>
        </p:nvSpPr>
        <p:spPr bwMode="auto">
          <a:xfrm>
            <a:off x="360363" y="1295701"/>
            <a:ext cx="8432609" cy="930741"/>
          </a:xfrm>
          <a:prstGeom prst="rect">
            <a:avLst/>
          </a:prstGeom>
          <a:noFill/>
          <a:ln>
            <a:noFill/>
          </a:ln>
        </p:spPr>
        <p:txBody>
          <a:bodyPr vert="horz" wrap="square" lIns="0" tIns="0" rIns="0" bIns="0" numCol="1" anchor="t" anchorCtr="0" compatLnSpc="1"/>
          <a:lstStyle>
            <a:lvl1pPr marL="0" marR="0" indent="0" algn="l" defTabSz="914400" rtl="0" eaLnBrk="1" fontAlgn="base" latinLnBrk="0" hangingPunct="1">
              <a:lnSpc>
                <a:spcPts val="1800"/>
              </a:lnSpc>
              <a:spcBef>
                <a:spcPts val="0"/>
              </a:spcBef>
              <a:spcAft>
                <a:spcPct val="0"/>
              </a:spcAft>
              <a:buClrTx/>
              <a:buSzTx/>
              <a:buFontTx/>
              <a:buNone/>
              <a:defRPr sz="1500" b="0" baseline="0">
                <a:solidFill>
                  <a:srgbClr val="005096"/>
                </a:solidFill>
                <a:latin typeface="华文黑体_易方达" pitchFamily="2" charset="-122"/>
                <a:ea typeface="华文黑体_易方达" pitchFamily="2" charset="-122"/>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zh-CN" altLang="en-US" dirty="0"/>
              <a:t>单击此处编辑母版标题样式</a:t>
            </a:r>
            <a:br>
              <a:rPr lang="en-US" altLang="zh-CN" dirty="0"/>
            </a:br>
            <a:endParaRPr lang="en-US" dirty="0"/>
          </a:p>
        </p:txBody>
      </p:sp>
      <p:sp>
        <p:nvSpPr>
          <p:cNvPr id="21" name="Slide Number Placeholder 5"/>
          <p:cNvSpPr txBox="1"/>
          <p:nvPr userDrawn="1"/>
        </p:nvSpPr>
        <p:spPr bwMode="auto">
          <a:xfrm>
            <a:off x="8359020" y="4788834"/>
            <a:ext cx="448205" cy="141726"/>
          </a:xfrm>
          <a:prstGeom prst="rect">
            <a:avLst/>
          </a:prstGeom>
          <a:noFill/>
          <a:ln>
            <a:noFill/>
          </a:ln>
        </p:spPr>
        <p:txBody>
          <a:bodyPr lIns="0" tIns="0" rIns="0" bIns="0"/>
          <a:lstStyle>
            <a:lvl1pPr eaLnBrk="0" hangingPunct="0">
              <a:defRPr sz="2400">
                <a:solidFill>
                  <a:schemeClr val="tx1"/>
                </a:solidFill>
                <a:latin typeface="Arial" charset="0"/>
                <a:ea typeface="MS PGothic" charset="0"/>
                <a:cs typeface="MS PGothic" charset="0"/>
              </a:defRPr>
            </a:lvl1pPr>
            <a:lvl2pPr marL="742950" indent="-285750" eaLnBrk="0" hangingPunct="0">
              <a:defRPr sz="2400">
                <a:solidFill>
                  <a:schemeClr val="tx1"/>
                </a:solidFill>
                <a:latin typeface="Arial" charset="0"/>
                <a:ea typeface="MS PGothic" charset="0"/>
              </a:defRPr>
            </a:lvl2pPr>
            <a:lvl3pPr marL="1143000" indent="-228600" eaLnBrk="0" hangingPunct="0">
              <a:defRPr sz="2400">
                <a:solidFill>
                  <a:schemeClr val="tx1"/>
                </a:solidFill>
                <a:latin typeface="Arial" charset="0"/>
                <a:ea typeface="MS PGothic" charset="0"/>
              </a:defRPr>
            </a:lvl3pPr>
            <a:lvl4pPr marL="1600200" indent="-228600" eaLnBrk="0" hangingPunct="0">
              <a:defRPr sz="2400">
                <a:solidFill>
                  <a:schemeClr val="tx1"/>
                </a:solidFill>
                <a:latin typeface="Arial" charset="0"/>
                <a:ea typeface="MS PGothic" charset="0"/>
              </a:defRPr>
            </a:lvl4pPr>
            <a:lvl5pPr marL="2057400" indent="-228600" eaLnBrk="0" hangingPunct="0">
              <a:defRPr sz="2400">
                <a:solidFill>
                  <a:schemeClr val="tx1"/>
                </a:solidFill>
                <a:latin typeface="Arial" charset="0"/>
                <a:ea typeface="MS PGothic" charset="0"/>
              </a:defRPr>
            </a:lvl5pPr>
            <a:lvl6pPr marL="2514600" indent="-228600" eaLnBrk="0" fontAlgn="base" hangingPunct="0">
              <a:spcBef>
                <a:spcPct val="0"/>
              </a:spcBef>
              <a:spcAft>
                <a:spcPct val="0"/>
              </a:spcAft>
              <a:defRPr sz="2400">
                <a:solidFill>
                  <a:schemeClr val="tx1"/>
                </a:solidFill>
                <a:latin typeface="Arial" charset="0"/>
                <a:ea typeface="MS PGothic" charset="0"/>
              </a:defRPr>
            </a:lvl6pPr>
            <a:lvl7pPr marL="2971800" indent="-228600" eaLnBrk="0" fontAlgn="base" hangingPunct="0">
              <a:spcBef>
                <a:spcPct val="0"/>
              </a:spcBef>
              <a:spcAft>
                <a:spcPct val="0"/>
              </a:spcAft>
              <a:defRPr sz="2400">
                <a:solidFill>
                  <a:schemeClr val="tx1"/>
                </a:solidFill>
                <a:latin typeface="Arial" charset="0"/>
                <a:ea typeface="MS PGothic" charset="0"/>
              </a:defRPr>
            </a:lvl7pPr>
            <a:lvl8pPr marL="3429000" indent="-228600" eaLnBrk="0" fontAlgn="base" hangingPunct="0">
              <a:spcBef>
                <a:spcPct val="0"/>
              </a:spcBef>
              <a:spcAft>
                <a:spcPct val="0"/>
              </a:spcAft>
              <a:defRPr sz="2400">
                <a:solidFill>
                  <a:schemeClr val="tx1"/>
                </a:solidFill>
                <a:latin typeface="Arial" charset="0"/>
                <a:ea typeface="MS PGothic" charset="0"/>
              </a:defRPr>
            </a:lvl8pPr>
            <a:lvl9pPr marL="3886200" indent="-228600" eaLnBrk="0" fontAlgn="base" hangingPunct="0">
              <a:spcBef>
                <a:spcPct val="0"/>
              </a:spcBef>
              <a:spcAft>
                <a:spcPct val="0"/>
              </a:spcAft>
              <a:defRPr sz="2400">
                <a:solidFill>
                  <a:schemeClr val="tx1"/>
                </a:solidFill>
                <a:latin typeface="Arial" charset="0"/>
                <a:ea typeface="MS PGothic" charset="0"/>
              </a:defRPr>
            </a:lvl9pPr>
          </a:lstStyle>
          <a:p>
            <a:pPr algn="r"/>
            <a:fld id="{BDAEED39-8CE5-E849-8BB2-D2203B6D9153}" type="slidenum">
              <a:rPr lang="en-US" altLang="zh-CN" sz="800" b="0" i="0" baseline="0" smtClean="0">
                <a:solidFill>
                  <a:srgbClr val="505050"/>
                </a:solidFill>
                <a:latin typeface="Arial" charset="0"/>
                <a:ea typeface="黑体" charset="-122"/>
                <a:cs typeface="Arial" charset="0"/>
              </a:rPr>
              <a:t>‹#›</a:t>
            </a:fld>
            <a:endParaRPr lang="en-US" altLang="zh-CN" sz="800" b="0" i="0" baseline="0" dirty="0">
              <a:solidFill>
                <a:srgbClr val="505050"/>
              </a:solidFill>
              <a:latin typeface="Arial" charset="0"/>
              <a:ea typeface="黑体" charset="-122"/>
              <a:cs typeface="Arial" charset="0"/>
            </a:endParaRPr>
          </a:p>
          <a:p>
            <a:pPr algn="r"/>
            <a:endParaRPr lang="en-US" altLang="zh-CN" sz="800" b="0" i="0" baseline="0" dirty="0">
              <a:solidFill>
                <a:srgbClr val="505050"/>
              </a:solidFill>
              <a:latin typeface="Arial" charset="0"/>
              <a:ea typeface="黑体" charset="-122"/>
              <a:cs typeface="Arial" charset="0"/>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6404"/>
            <a:ext cx="8424672" cy="6092"/>
          </a:xfrm>
          <a:prstGeom prst="rect">
            <a:avLst/>
          </a:prstGeom>
          <a:ln>
            <a:solidFill>
              <a:schemeClr val="bg1">
                <a:lumMod val="65000"/>
              </a:schemeClr>
            </a:solidFill>
          </a:ln>
        </p:spPr>
      </p:pic>
      <p:sp>
        <p:nvSpPr>
          <p:cNvPr id="12" name="文本框 11"/>
          <p:cNvSpPr txBox="1"/>
          <p:nvPr userDrawn="1"/>
        </p:nvSpPr>
        <p:spPr>
          <a:xfrm>
            <a:off x="283240" y="4752676"/>
            <a:ext cx="2576919" cy="213995"/>
          </a:xfrm>
          <a:prstGeom prst="rect">
            <a:avLst/>
          </a:prstGeom>
          <a:noFill/>
        </p:spPr>
        <p:txBody>
          <a:bodyPr wrap="square" rtlCol="0">
            <a:spAutoFit/>
          </a:bodyPr>
          <a:lstStyle/>
          <a:p>
            <a:r>
              <a:rPr lang="zh-CN" altLang="en-US" sz="800" dirty="0">
                <a:solidFill>
                  <a:srgbClr val="3C3C3C"/>
                </a:solidFill>
                <a:latin typeface="华文黑体_易方达" pitchFamily="2" charset="-122"/>
                <a:ea typeface="华文黑体_易方达" pitchFamily="2" charset="-122"/>
                <a:cs typeface="华文黑体" charset="-122"/>
              </a:rPr>
              <a:t>易方达基金管理有限公司</a:t>
            </a:r>
          </a:p>
        </p:txBody>
      </p:sp>
      <p:sp>
        <p:nvSpPr>
          <p:cNvPr id="2" name="矩形 1"/>
          <p:cNvSpPr/>
          <p:nvPr userDrawn="1"/>
        </p:nvSpPr>
        <p:spPr>
          <a:xfrm>
            <a:off x="-1400475" y="1269062"/>
            <a:ext cx="1400475" cy="3276600"/>
          </a:xfrm>
          <a:prstGeom prst="rect">
            <a:avLst/>
          </a:prstGeom>
        </p:spPr>
        <p:txBody>
          <a:bodyPr wrap="square">
            <a:spAutoFit/>
          </a:bodyPr>
          <a:lstStyle/>
          <a:p>
            <a:r>
              <a:rPr lang="zh-CN" altLang="en-US" sz="900" dirty="0">
                <a:solidFill>
                  <a:schemeClr val="bg1">
                    <a:lumMod val="65000"/>
                  </a:schemeClr>
                </a:solidFill>
                <a:latin typeface="华文黑体_易方达" pitchFamily="2" charset="-122"/>
                <a:ea typeface="华文黑体_易方达" pitchFamily="2" charset="-122"/>
              </a:rPr>
              <a:t>1. 表格标题文字为华文黑体，颜色深蓝（R0，G80，B150）</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 2. 表头背景颜色为亮蓝（R30，G185，B225），字体为白色加粗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3. 表格内文字字体统一为华文黑体，字体颜色为灰色（R60，G60，B60）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4. 表格数字字体统一为Arial，字体颜色为灰色，同上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5. 表格背景色为灰色（R242，G242，B242）或白色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表内文字、数字等的字体大小可根据需要调整</a:t>
            </a:r>
          </a:p>
        </p:txBody>
      </p:sp>
      <p:sp>
        <p:nvSpPr>
          <p:cNvPr id="4" name="表格占位符 3"/>
          <p:cNvSpPr>
            <a:spLocks noGrp="1"/>
          </p:cNvSpPr>
          <p:nvPr>
            <p:ph type="tbl" sz="quarter" idx="11"/>
          </p:nvPr>
        </p:nvSpPr>
        <p:spPr>
          <a:xfrm>
            <a:off x="368300" y="2741453"/>
            <a:ext cx="8412163" cy="1635670"/>
          </a:xfrm>
          <a:prstGeom prst="rect">
            <a:avLst/>
          </a:prstGeom>
        </p:spPr>
        <p:txBody>
          <a:bodyPr/>
          <a:lstStyle/>
          <a:p>
            <a:r>
              <a:rPr lang="zh-CN" altLang="en-US"/>
              <a:t>单击图标添加表格</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3008"/>
            <a:ext cx="9144000" cy="791975"/>
          </a:xfrm>
          <a:prstGeom prst="rect">
            <a:avLst/>
          </a:prstGeom>
        </p:spPr>
      </p:pic>
      <p:sp>
        <p:nvSpPr>
          <p:cNvPr id="14" name="Rectangle 22"/>
          <p:cNvSpPr>
            <a:spLocks noGrp="1"/>
          </p:cNvSpPr>
          <p:nvPr>
            <p:ph idx="10" hasCustomPrompt="1"/>
          </p:nvPr>
        </p:nvSpPr>
        <p:spPr bwMode="auto">
          <a:xfrm>
            <a:off x="349052" y="1187760"/>
            <a:ext cx="4857750" cy="2086416"/>
          </a:xfrm>
          <a:prstGeom prst="rect">
            <a:avLst/>
          </a:prstGeom>
          <a:noFill/>
          <a:ln>
            <a:noFill/>
          </a:ln>
        </p:spPr>
        <p:txBody>
          <a:bodyPr vert="horz" wrap="square" lIns="0" tIns="0" rIns="0" bIns="0" numCol="1" anchor="t" anchorCtr="0" compatLnSpc="1"/>
          <a:lstStyle>
            <a:lvl1pPr marL="0" indent="0" algn="l">
              <a:lnSpc>
                <a:spcPct val="100000"/>
              </a:lnSpc>
              <a:buFontTx/>
              <a:buNone/>
              <a:defRPr lang="zh-CN" altLang="en-US" sz="4495" b="1" i="0" kern="1200" dirty="0" smtClean="0">
                <a:solidFill>
                  <a:srgbClr val="005096"/>
                </a:solidFill>
                <a:latin typeface="华文黑体_易方达" pitchFamily="2" charset="-122"/>
                <a:ea typeface="华文黑体_易方达" pitchFamily="2" charset="-122"/>
                <a:cs typeface="华文黑体" charset="-122"/>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zh-CN" altLang="en-US" dirty="0"/>
              <a:t>谢谢</a:t>
            </a:r>
            <a:br>
              <a:rPr lang="en-US" altLang="zh-CN" dirty="0"/>
            </a:br>
            <a:endParaRPr lang="en-US" dirty="0"/>
          </a:p>
        </p:txBody>
      </p:sp>
      <p:pic>
        <p:nvPicPr>
          <p:cNvPr id="6" name="Picture 5"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4595507"/>
            <a:ext cx="1389888" cy="301560"/>
          </a:xfrm>
          <a:prstGeom prst="rect">
            <a:avLst/>
          </a:prstGeom>
        </p:spPr>
      </p:pic>
      <p:sp>
        <p:nvSpPr>
          <p:cNvPr id="8" name="Rectangle 22"/>
          <p:cNvSpPr>
            <a:spLocks noGrp="1"/>
          </p:cNvSpPr>
          <p:nvPr>
            <p:ph idx="4294967295"/>
          </p:nvPr>
        </p:nvSpPr>
        <p:spPr bwMode="auto">
          <a:xfrm>
            <a:off x="3540648" y="3516675"/>
            <a:ext cx="5239963" cy="443091"/>
          </a:xfrm>
          <a:prstGeom prst="rect">
            <a:avLst/>
          </a:prstGeom>
          <a:noFill/>
          <a:ln>
            <a:noFill/>
          </a:ln>
        </p:spPr>
        <p:txBody>
          <a:bodyPr vert="horz" wrap="square" lIns="0" tIns="0" rIns="0" bIns="0" numCol="1" anchor="t" anchorCtr="0" compatLnSpc="1"/>
          <a:lstStyle>
            <a:lvl1pPr marL="0" marR="0" indent="0" algn="l" defTabSz="914400" rtl="0" eaLnBrk="1" fontAlgn="base" latinLnBrk="0" hangingPunct="1">
              <a:lnSpc>
                <a:spcPts val="950"/>
              </a:lnSpc>
              <a:spcBef>
                <a:spcPts val="0"/>
              </a:spcBef>
              <a:spcAft>
                <a:spcPct val="0"/>
              </a:spcAft>
              <a:buClrTx/>
              <a:buSzTx/>
              <a:buFontTx/>
              <a:buNone/>
              <a:defRPr sz="800" b="0" baseline="0">
                <a:solidFill>
                  <a:schemeClr val="bg1"/>
                </a:solidFill>
                <a:latin typeface="华文黑体" charset="-122"/>
                <a:ea typeface="华文黑体" charset="-122"/>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lnSpc>
                <a:spcPct val="150000"/>
              </a:lnSpc>
            </a:pPr>
            <a:r>
              <a:rPr lang="zh-CN" altLang="en-US" sz="1000" b="1">
                <a:latin typeface="黑体" charset="-122"/>
                <a:ea typeface="黑体" charset="-122"/>
              </a:rPr>
              <a:t>单击此处编辑母版文本样式</a:t>
            </a:r>
          </a:p>
        </p:txBody>
      </p:sp>
      <p:sp>
        <p:nvSpPr>
          <p:cNvPr id="2" name="矩形 1"/>
          <p:cNvSpPr/>
          <p:nvPr userDrawn="1"/>
        </p:nvSpPr>
        <p:spPr>
          <a:xfrm>
            <a:off x="-1361975" y="1216617"/>
            <a:ext cx="1284973" cy="2722880"/>
          </a:xfrm>
          <a:prstGeom prst="rect">
            <a:avLst/>
          </a:prstGeom>
        </p:spPr>
        <p:txBody>
          <a:bodyPr wrap="square">
            <a:spAutoFit/>
          </a:bodyPr>
          <a:lstStyle/>
          <a:p>
            <a:r>
              <a:rPr lang="zh-CN" altLang="en-US" sz="900" dirty="0">
                <a:solidFill>
                  <a:schemeClr val="bg1">
                    <a:lumMod val="65000"/>
                  </a:schemeClr>
                </a:solidFill>
                <a:latin typeface="华文黑体_易方达" pitchFamily="2" charset="-122"/>
                <a:ea typeface="华文黑体_易方达" pitchFamily="2" charset="-122"/>
              </a:rPr>
              <a:t>1. 答谢词字体：华文黑体，45号，加粗，答谢词内容可根据实际需要修改 </a:t>
            </a:r>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2. 公司信息：中文为华文黑体，11号；英文和数字字体为Arial，11号，公司名称、处所等相关信息可根据具体需要修改</a:t>
            </a:r>
          </a:p>
          <a:p>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 封底页不得擅自添加任何图片 </a:t>
            </a:r>
            <a:endParaRPr lang="en-US" altLang="zh-CN" sz="900" dirty="0">
              <a:solidFill>
                <a:schemeClr val="bg1">
                  <a:lumMod val="65000"/>
                </a:schemeClr>
              </a:solidFill>
              <a:latin typeface="华文黑体_易方达" pitchFamily="2" charset="-122"/>
              <a:ea typeface="华文黑体_易方达" pitchFamily="2" charset="-122"/>
            </a:endParaRPr>
          </a:p>
          <a:p>
            <a:r>
              <a:rPr lang="zh-CN" altLang="en-US" sz="900" dirty="0">
                <a:solidFill>
                  <a:schemeClr val="bg1">
                    <a:lumMod val="65000"/>
                  </a:schemeClr>
                </a:solidFill>
                <a:latin typeface="华文黑体_易方达" pitchFamily="2" charset="-122"/>
                <a:ea typeface="华文黑体_易方达" pitchFamily="2" charset="-122"/>
              </a:rPr>
              <a:t>• 文字、颜色、位置等不得擅自变</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1747"/>
          </a:xfrm>
          <a:prstGeom prst="rect">
            <a:avLst/>
          </a:prstGeom>
        </p:spPr>
      </p:pic>
      <p:sp>
        <p:nvSpPr>
          <p:cNvPr id="17" name="Rectangle 21"/>
          <p:cNvSpPr>
            <a:spLocks noGrp="1"/>
          </p:cNvSpPr>
          <p:nvPr>
            <p:ph type="title"/>
          </p:nvPr>
        </p:nvSpPr>
        <p:spPr bwMode="auto">
          <a:xfrm>
            <a:off x="363151" y="211437"/>
            <a:ext cx="3946375" cy="267799"/>
          </a:xfrm>
          <a:prstGeom prst="rect">
            <a:avLst/>
          </a:prstGeom>
          <a:noFill/>
          <a:ln>
            <a:noFill/>
          </a:ln>
        </p:spPr>
        <p:txBody>
          <a:bodyPr vert="horz" wrap="square" lIns="0" tIns="0" rIns="0" bIns="45720" numCol="1" anchor="t" anchorCtr="0" compatLnSpc="1"/>
          <a:lstStyle>
            <a:lvl1pPr marL="0" marR="0" indent="0" algn="l" defTabSz="913765" rtl="0" eaLnBrk="1" fontAlgn="base" latinLnBrk="0" hangingPunct="1">
              <a:lnSpc>
                <a:spcPct val="100000"/>
              </a:lnSpc>
              <a:spcBef>
                <a:spcPct val="0"/>
              </a:spcBef>
              <a:spcAft>
                <a:spcPct val="0"/>
              </a:spcAft>
              <a:buClrTx/>
              <a:buSzTx/>
              <a:buFontTx/>
              <a:buNone/>
              <a:defRPr sz="2300">
                <a:solidFill>
                  <a:schemeClr val="bg1"/>
                </a:solidFill>
                <a:latin typeface="+mj-lt"/>
                <a:ea typeface="华文黑体_易方达" pitchFamily="2" charset="-122"/>
              </a:defRPr>
            </a:lvl1pPr>
          </a:lstStyle>
          <a:p>
            <a:pPr lvl="0"/>
            <a:r>
              <a:rPr lang="en-US" altLang="zh-CN" dirty="0"/>
              <a:t>Click to add title</a:t>
            </a:r>
            <a:endParaRPr lang="en-US" dirty="0"/>
          </a:p>
        </p:txBody>
      </p:sp>
      <p:sp>
        <p:nvSpPr>
          <p:cNvPr id="33" name="Rectangle 22"/>
          <p:cNvSpPr>
            <a:spLocks noGrp="1"/>
          </p:cNvSpPr>
          <p:nvPr>
            <p:ph idx="10"/>
          </p:nvPr>
        </p:nvSpPr>
        <p:spPr bwMode="auto">
          <a:xfrm>
            <a:off x="360363" y="1295328"/>
            <a:ext cx="8030104" cy="2476924"/>
          </a:xfrm>
          <a:prstGeom prst="rect">
            <a:avLst/>
          </a:prstGeom>
          <a:noFill/>
          <a:ln>
            <a:noFill/>
          </a:ln>
        </p:spPr>
        <p:txBody>
          <a:bodyPr vert="horz" wrap="square" lIns="0" tIns="0" rIns="0" bIns="0" numCol="1" anchor="t" anchorCtr="0" compatLnSpc="1"/>
          <a:lstStyle>
            <a:lvl1pPr marL="0" marR="0" indent="0" algn="l" defTabSz="913765" rtl="0" eaLnBrk="1" fontAlgn="base" latinLnBrk="0" hangingPunct="1">
              <a:lnSpc>
                <a:spcPts val="1800"/>
              </a:lnSpc>
              <a:spcBef>
                <a:spcPts val="0"/>
              </a:spcBef>
              <a:spcAft>
                <a:spcPct val="0"/>
              </a:spcAft>
              <a:buClrTx/>
              <a:buSzTx/>
              <a:buFontTx/>
              <a:buNone/>
              <a:defRPr sz="1500" b="0" baseline="0">
                <a:solidFill>
                  <a:srgbClr val="005096"/>
                </a:solidFill>
                <a:latin typeface="+mn-lt"/>
                <a:ea typeface="华文黑体_易方达" pitchFamily="2" charset="-122"/>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en-US" altLang="zh-CN" dirty="0"/>
              <a:t>Click to add title</a:t>
            </a:r>
            <a:endParaRPr lang="en-US" dirty="0"/>
          </a:p>
        </p:txBody>
      </p:sp>
      <p:sp>
        <p:nvSpPr>
          <p:cNvPr id="16" name="Slide Number Placeholder 5"/>
          <p:cNvSpPr txBox="1"/>
          <p:nvPr userDrawn="1"/>
        </p:nvSpPr>
        <p:spPr bwMode="auto">
          <a:xfrm>
            <a:off x="8359021" y="4787453"/>
            <a:ext cx="448205" cy="141685"/>
          </a:xfrm>
          <a:prstGeom prst="rect">
            <a:avLst/>
          </a:prstGeom>
          <a:noFill/>
          <a:ln>
            <a:noFill/>
          </a:ln>
        </p:spPr>
        <p:txBody>
          <a:bodyPr lIns="0" tIns="0" rIns="0" bIns="0"/>
          <a:lstStyle>
            <a:lvl1pPr eaLnBrk="0" hangingPunct="0">
              <a:defRPr sz="2400">
                <a:solidFill>
                  <a:schemeClr val="tx1"/>
                </a:solidFill>
                <a:latin typeface="Arial" charset="0"/>
                <a:ea typeface="MS PGothic" charset="0"/>
                <a:cs typeface="MS PGothic" charset="0"/>
              </a:defRPr>
            </a:lvl1pPr>
            <a:lvl2pPr marL="742950" indent="-285750" eaLnBrk="0" hangingPunct="0">
              <a:defRPr sz="2400">
                <a:solidFill>
                  <a:schemeClr val="tx1"/>
                </a:solidFill>
                <a:latin typeface="Arial" charset="0"/>
                <a:ea typeface="MS PGothic" charset="0"/>
              </a:defRPr>
            </a:lvl2pPr>
            <a:lvl3pPr marL="1143000" indent="-228600" eaLnBrk="0" hangingPunct="0">
              <a:defRPr sz="2400">
                <a:solidFill>
                  <a:schemeClr val="tx1"/>
                </a:solidFill>
                <a:latin typeface="Arial" charset="0"/>
                <a:ea typeface="MS PGothic" charset="0"/>
              </a:defRPr>
            </a:lvl3pPr>
            <a:lvl4pPr marL="1600200" indent="-228600" eaLnBrk="0" hangingPunct="0">
              <a:defRPr sz="2400">
                <a:solidFill>
                  <a:schemeClr val="tx1"/>
                </a:solidFill>
                <a:latin typeface="Arial" charset="0"/>
                <a:ea typeface="MS PGothic" charset="0"/>
              </a:defRPr>
            </a:lvl4pPr>
            <a:lvl5pPr marL="2057400" indent="-228600" eaLnBrk="0" hangingPunct="0">
              <a:defRPr sz="2400">
                <a:solidFill>
                  <a:schemeClr val="tx1"/>
                </a:solidFill>
                <a:latin typeface="Arial" charset="0"/>
                <a:ea typeface="MS PGothic" charset="0"/>
              </a:defRPr>
            </a:lvl5pPr>
            <a:lvl6pPr marL="2514600" indent="-228600" eaLnBrk="0" fontAlgn="base" hangingPunct="0">
              <a:spcBef>
                <a:spcPct val="0"/>
              </a:spcBef>
              <a:spcAft>
                <a:spcPct val="0"/>
              </a:spcAft>
              <a:defRPr sz="2400">
                <a:solidFill>
                  <a:schemeClr val="tx1"/>
                </a:solidFill>
                <a:latin typeface="Arial" charset="0"/>
                <a:ea typeface="MS PGothic" charset="0"/>
              </a:defRPr>
            </a:lvl6pPr>
            <a:lvl7pPr marL="2971800" indent="-228600" eaLnBrk="0" fontAlgn="base" hangingPunct="0">
              <a:spcBef>
                <a:spcPct val="0"/>
              </a:spcBef>
              <a:spcAft>
                <a:spcPct val="0"/>
              </a:spcAft>
              <a:defRPr sz="2400">
                <a:solidFill>
                  <a:schemeClr val="tx1"/>
                </a:solidFill>
                <a:latin typeface="Arial" charset="0"/>
                <a:ea typeface="MS PGothic" charset="0"/>
              </a:defRPr>
            </a:lvl7pPr>
            <a:lvl8pPr marL="3429000" indent="-228600" eaLnBrk="0" fontAlgn="base" hangingPunct="0">
              <a:spcBef>
                <a:spcPct val="0"/>
              </a:spcBef>
              <a:spcAft>
                <a:spcPct val="0"/>
              </a:spcAft>
              <a:defRPr sz="2400">
                <a:solidFill>
                  <a:schemeClr val="tx1"/>
                </a:solidFill>
                <a:latin typeface="Arial" charset="0"/>
                <a:ea typeface="MS PGothic" charset="0"/>
              </a:defRPr>
            </a:lvl8pPr>
            <a:lvl9pPr marL="3886200" indent="-228600" eaLnBrk="0" fontAlgn="base" hangingPunct="0">
              <a:spcBef>
                <a:spcPct val="0"/>
              </a:spcBef>
              <a:spcAft>
                <a:spcPct val="0"/>
              </a:spcAft>
              <a:defRPr sz="2400">
                <a:solidFill>
                  <a:schemeClr val="tx1"/>
                </a:solidFill>
                <a:latin typeface="Arial" charset="0"/>
                <a:ea typeface="MS PGothic" charset="0"/>
              </a:defRPr>
            </a:lvl9pPr>
          </a:lstStyle>
          <a:p>
            <a:pPr algn="r"/>
            <a:fld id="{BDAEED39-8CE5-E849-8BB2-D2203B6D9153}" type="slidenum">
              <a:rPr lang="en-US" altLang="zh-CN" sz="800" smtClean="0">
                <a:solidFill>
                  <a:srgbClr val="505050"/>
                </a:solidFill>
                <a:latin typeface="Arial" charset="0"/>
                <a:ea typeface="黑体" charset="-122"/>
                <a:cs typeface="Arial" charset="0"/>
              </a:rPr>
              <a:t>‹#›</a:t>
            </a:fld>
            <a:endParaRPr lang="en-US" altLang="zh-CN" sz="800" dirty="0">
              <a:solidFill>
                <a:srgbClr val="505050"/>
              </a:solidFill>
              <a:latin typeface="Arial" charset="0"/>
              <a:ea typeface="黑体" charset="-122"/>
              <a:cs typeface="Arial" charset="0"/>
            </a:endParaRPr>
          </a:p>
          <a:p>
            <a:pPr algn="r"/>
            <a:endParaRPr lang="en-US" altLang="zh-CN" sz="800" dirty="0">
              <a:solidFill>
                <a:srgbClr val="505050"/>
              </a:solidFill>
              <a:latin typeface="Arial" charset="0"/>
              <a:ea typeface="黑体" charset="-122"/>
              <a:cs typeface="Arial" charset="0"/>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5042"/>
            <a:ext cx="8424672" cy="6090"/>
          </a:xfrm>
          <a:prstGeom prst="rect">
            <a:avLst/>
          </a:prstGeom>
          <a:ln>
            <a:solidFill>
              <a:schemeClr val="bg1">
                <a:lumMod val="65000"/>
              </a:schemeClr>
            </a:solidFill>
          </a:ln>
        </p:spPr>
      </p:pic>
      <p:sp>
        <p:nvSpPr>
          <p:cNvPr id="2" name="文本框 1"/>
          <p:cNvSpPr txBox="1"/>
          <p:nvPr userDrawn="1"/>
        </p:nvSpPr>
        <p:spPr>
          <a:xfrm>
            <a:off x="368300" y="4249088"/>
            <a:ext cx="2576919" cy="338241"/>
          </a:xfrm>
          <a:prstGeom prst="rect">
            <a:avLst/>
          </a:prstGeom>
          <a:noFill/>
        </p:spPr>
        <p:txBody>
          <a:bodyPr wrap="square" rtlCol="0">
            <a:spAutoFit/>
          </a:bodyPr>
          <a:lstStyle/>
          <a:p>
            <a:endParaRPr lang="zh-CN" altLang="en-US" sz="1600" dirty="0">
              <a:solidFill>
                <a:srgbClr val="000000"/>
              </a:solidFill>
              <a:latin typeface="Verdana" pitchFamily="34" charset="0"/>
              <a:ea typeface="黑体"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12"/>
            <a:ext cx="1480616" cy="628722"/>
          </a:xfrm>
          <a:prstGeom prst="rect">
            <a:avLst/>
          </a:prstGeom>
        </p:spPr>
      </p:pic>
      <p:sp>
        <p:nvSpPr>
          <p:cNvPr id="13" name="文本框 12"/>
          <p:cNvSpPr txBox="1"/>
          <p:nvPr userDrawn="1"/>
        </p:nvSpPr>
        <p:spPr>
          <a:xfrm>
            <a:off x="283241" y="4751305"/>
            <a:ext cx="2576919" cy="215245"/>
          </a:xfrm>
          <a:prstGeom prst="rect">
            <a:avLst/>
          </a:prstGeom>
          <a:noFill/>
        </p:spPr>
        <p:txBody>
          <a:bodyPr wrap="square" rtlCol="0">
            <a:spAutoFit/>
          </a:bodyPr>
          <a:lstStyle/>
          <a:p>
            <a:r>
              <a:rPr lang="en-US" altLang="zh-CN" sz="800" dirty="0">
                <a:solidFill>
                  <a:srgbClr val="3C3C3C"/>
                </a:solidFill>
                <a:latin typeface="Arial" charset="0"/>
                <a:ea typeface="华文黑体_易方达" pitchFamily="2" charset="-122"/>
                <a:cs typeface="华文黑体" charset="-122"/>
              </a:rPr>
              <a:t>E Fund Management Co., Ltd.</a:t>
            </a:r>
            <a:endParaRPr lang="zh-CN" altLang="en-US" sz="800" dirty="0">
              <a:solidFill>
                <a:srgbClr val="3C3C3C"/>
              </a:solidFill>
              <a:latin typeface="Arial" charset="0"/>
              <a:ea typeface="华文黑体_易方达" pitchFamily="2" charset="-122"/>
              <a:cs typeface="华文黑体" charset="-122"/>
            </a:endParaRPr>
          </a:p>
        </p:txBody>
      </p:sp>
      <p:sp>
        <p:nvSpPr>
          <p:cNvPr id="14" name="文本框 13"/>
          <p:cNvSpPr txBox="1"/>
          <p:nvPr userDrawn="1"/>
        </p:nvSpPr>
        <p:spPr>
          <a:xfrm>
            <a:off x="3974708" y="4765944"/>
            <a:ext cx="2576919" cy="215245"/>
          </a:xfrm>
          <a:prstGeom prst="rect">
            <a:avLst/>
          </a:prstGeom>
          <a:noFill/>
        </p:spPr>
        <p:txBody>
          <a:bodyPr wrap="square" rtlCol="0">
            <a:spAutoFit/>
          </a:bodyPr>
          <a:lstStyle/>
          <a:p>
            <a:r>
              <a:rPr lang="en-US" altLang="zh-CN" sz="800" dirty="0">
                <a:solidFill>
                  <a:srgbClr val="3C3C3C"/>
                </a:solidFill>
                <a:latin typeface="Arial" charset="0"/>
                <a:ea typeface="华文黑体_易方达" pitchFamily="2" charset="-122"/>
                <a:cs typeface="Arial" charset="0"/>
              </a:rPr>
              <a:t>For Internal Use Only</a:t>
            </a:r>
            <a:endParaRPr lang="zh-CN" altLang="en-US" sz="800" dirty="0">
              <a:solidFill>
                <a:srgbClr val="3C3C3C"/>
              </a:solidFill>
              <a:latin typeface="Arial" charset="0"/>
              <a:ea typeface="华文黑体_易方达" pitchFamily="2" charset="-122"/>
              <a:cs typeface="Arial"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1747"/>
          </a:xfrm>
          <a:prstGeom prst="rect">
            <a:avLst/>
          </a:prstGeom>
        </p:spPr>
      </p:pic>
      <p:pic>
        <p:nvPicPr>
          <p:cNvPr id="11" name="Picture 10"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8902"/>
            <a:ext cx="1389888" cy="301473"/>
          </a:xfrm>
          <a:prstGeom prst="rect">
            <a:avLst/>
          </a:prstGeom>
        </p:spPr>
      </p:pic>
      <p:sp>
        <p:nvSpPr>
          <p:cNvPr id="33" name="Rectangle 22"/>
          <p:cNvSpPr>
            <a:spLocks noGrp="1"/>
          </p:cNvSpPr>
          <p:nvPr>
            <p:ph idx="10"/>
          </p:nvPr>
        </p:nvSpPr>
        <p:spPr bwMode="auto">
          <a:xfrm>
            <a:off x="360363" y="1295328"/>
            <a:ext cx="8030104" cy="2476924"/>
          </a:xfrm>
          <a:prstGeom prst="rect">
            <a:avLst/>
          </a:prstGeom>
          <a:noFill/>
          <a:ln>
            <a:noFill/>
          </a:ln>
        </p:spPr>
        <p:txBody>
          <a:bodyPr vert="horz" wrap="square" lIns="0" tIns="0" rIns="0" bIns="0" numCol="1" anchor="t" anchorCtr="0" compatLnSpc="1"/>
          <a:lstStyle>
            <a:lvl1pPr marL="0" marR="0" indent="0" algn="l" defTabSz="913130" rtl="0" eaLnBrk="1" fontAlgn="base" latinLnBrk="0" hangingPunct="1">
              <a:lnSpc>
                <a:spcPts val="1800"/>
              </a:lnSpc>
              <a:spcBef>
                <a:spcPts val="0"/>
              </a:spcBef>
              <a:spcAft>
                <a:spcPct val="0"/>
              </a:spcAft>
              <a:buClrTx/>
              <a:buSzTx/>
              <a:buFontTx/>
              <a:buNone/>
              <a:defRPr sz="1500" b="0" baseline="0">
                <a:solidFill>
                  <a:srgbClr val="005096"/>
                </a:solidFill>
                <a:latin typeface="Arial" charset="0"/>
                <a:ea typeface="华文黑体_易方达" pitchFamily="2" charset="-122"/>
                <a:cs typeface="Arial" charset="0"/>
              </a:defRPr>
            </a:lvl1pPr>
            <a:lvl2pPr algn="l">
              <a:lnSpc>
                <a:spcPts val="2400"/>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zh-CN" altLang="en-US" dirty="0"/>
              <a:t>单击此处编辑母版标题样式</a:t>
            </a:r>
            <a:br>
              <a:rPr lang="en-US" altLang="zh-CN" dirty="0"/>
            </a:br>
            <a:endParaRPr lang="en-US" dirty="0"/>
          </a:p>
        </p:txBody>
      </p:sp>
      <p:sp>
        <p:nvSpPr>
          <p:cNvPr id="16" name="Slide Number Placeholder 5"/>
          <p:cNvSpPr txBox="1"/>
          <p:nvPr userDrawn="1"/>
        </p:nvSpPr>
        <p:spPr bwMode="auto">
          <a:xfrm>
            <a:off x="8359021" y="4787453"/>
            <a:ext cx="448205" cy="141685"/>
          </a:xfrm>
          <a:prstGeom prst="rect">
            <a:avLst/>
          </a:prstGeom>
          <a:noFill/>
          <a:ln>
            <a:noFill/>
          </a:ln>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charset="0"/>
                <a:ea typeface="黑体" charset="-122"/>
                <a:cs typeface="Arial" charset="0"/>
              </a:rPr>
              <a:t>‹#›</a:t>
            </a:fld>
            <a:endParaRPr lang="en-US" altLang="zh-CN" sz="800" b="0" i="0" baseline="0" dirty="0">
              <a:solidFill>
                <a:srgbClr val="505050"/>
              </a:solidFill>
              <a:latin typeface="Arial" charset="0"/>
              <a:ea typeface="黑体" charset="-122"/>
              <a:cs typeface="Arial" charset="0"/>
            </a:endParaRPr>
          </a:p>
          <a:p>
            <a:pPr algn="r"/>
            <a:endParaRPr lang="en-US" altLang="zh-CN" sz="800" b="0" i="0" baseline="0" dirty="0">
              <a:solidFill>
                <a:srgbClr val="505050"/>
              </a:solidFill>
              <a:latin typeface="Arial" charset="0"/>
              <a:ea typeface="黑体" charset="-122"/>
              <a:cs typeface="Arial" charset="0"/>
            </a:endParaRPr>
          </a:p>
        </p:txBody>
      </p:sp>
      <p:pic>
        <p:nvPicPr>
          <p:cNvPr id="6"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5042"/>
            <a:ext cx="8424672" cy="6090"/>
          </a:xfrm>
          <a:prstGeom prst="rect">
            <a:avLst/>
          </a:prstGeom>
          <a:ln>
            <a:solidFill>
              <a:schemeClr val="bg1">
                <a:lumMod val="65000"/>
              </a:schemeClr>
            </a:solidFill>
          </a:ln>
        </p:spPr>
      </p:pic>
      <p:sp>
        <p:nvSpPr>
          <p:cNvPr id="2" name="文本框 1"/>
          <p:cNvSpPr txBox="1"/>
          <p:nvPr userDrawn="1"/>
        </p:nvSpPr>
        <p:spPr>
          <a:xfrm>
            <a:off x="368300" y="4249088"/>
            <a:ext cx="2576919" cy="338241"/>
          </a:xfrm>
          <a:prstGeom prst="rect">
            <a:avLst/>
          </a:prstGeom>
          <a:noFill/>
        </p:spPr>
        <p:txBody>
          <a:bodyPr wrap="square" rtlCol="0">
            <a:spAutoFit/>
          </a:bodyPr>
          <a:lstStyle/>
          <a:p>
            <a:endParaRPr lang="zh-CN" altLang="en-US" sz="1600" dirty="0">
              <a:latin typeface="Arial" charset="0"/>
              <a:ea typeface="华文黑体_易方达" pitchFamily="2" charset="-122"/>
              <a:cs typeface="Arial" charset="0"/>
            </a:endParaRPr>
          </a:p>
        </p:txBody>
      </p:sp>
      <p:sp>
        <p:nvSpPr>
          <p:cNvPr id="3" name="文本框 2"/>
          <p:cNvSpPr txBox="1"/>
          <p:nvPr userDrawn="1"/>
        </p:nvSpPr>
        <p:spPr>
          <a:xfrm>
            <a:off x="283241" y="4751305"/>
            <a:ext cx="2576919" cy="215245"/>
          </a:xfrm>
          <a:prstGeom prst="rect">
            <a:avLst/>
          </a:prstGeom>
          <a:noFill/>
        </p:spPr>
        <p:txBody>
          <a:bodyPr wrap="square" rtlCol="0">
            <a:spAutoFit/>
          </a:bodyPr>
          <a:lstStyle/>
          <a:p>
            <a:r>
              <a:rPr lang="zh-CN" altLang="en-US" sz="800" dirty="0">
                <a:solidFill>
                  <a:srgbClr val="3C3C3C"/>
                </a:solidFill>
                <a:latin typeface="Arial" charset="0"/>
                <a:ea typeface="华文黑体_易方达" pitchFamily="2" charset="-122"/>
                <a:cs typeface="Arial" charset="0"/>
              </a:rPr>
              <a:t>易方达基金管理有限公司</a:t>
            </a:r>
          </a:p>
        </p:txBody>
      </p:sp>
      <p:sp>
        <p:nvSpPr>
          <p:cNvPr id="12" name="文本框 11"/>
          <p:cNvSpPr txBox="1"/>
          <p:nvPr userDrawn="1"/>
        </p:nvSpPr>
        <p:spPr>
          <a:xfrm>
            <a:off x="4118641" y="4750673"/>
            <a:ext cx="2576919" cy="215245"/>
          </a:xfrm>
          <a:prstGeom prst="rect">
            <a:avLst/>
          </a:prstGeom>
          <a:noFill/>
        </p:spPr>
        <p:txBody>
          <a:bodyPr wrap="square" rtlCol="0">
            <a:spAutoFit/>
          </a:bodyPr>
          <a:lstStyle/>
          <a:p>
            <a:r>
              <a:rPr lang="zh-CN" altLang="en-US" sz="800" dirty="0">
                <a:solidFill>
                  <a:srgbClr val="3C3C3C"/>
                </a:solidFill>
                <a:latin typeface="Arial" charset="0"/>
                <a:ea typeface="华文黑体_易方达" pitchFamily="2" charset="-122"/>
                <a:cs typeface="Arial" charset="0"/>
              </a:rPr>
              <a:t>仅供内部交流讨论，禁止外传</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791747"/>
          </a:xfrm>
          <a:prstGeom prst="rect">
            <a:avLst/>
          </a:prstGeom>
        </p:spPr>
      </p:pic>
      <p:pic>
        <p:nvPicPr>
          <p:cNvPr id="11" name="Picture 10" descr="Master Log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90723" y="248902"/>
            <a:ext cx="1389888" cy="301473"/>
          </a:xfrm>
          <a:prstGeom prst="rect">
            <a:avLst/>
          </a:prstGeom>
        </p:spPr>
      </p:pic>
      <p:sp>
        <p:nvSpPr>
          <p:cNvPr id="33" name="Rectangle 22"/>
          <p:cNvSpPr>
            <a:spLocks noGrp="1"/>
          </p:cNvSpPr>
          <p:nvPr>
            <p:ph idx="10"/>
          </p:nvPr>
        </p:nvSpPr>
        <p:spPr bwMode="auto">
          <a:xfrm>
            <a:off x="360363" y="1295328"/>
            <a:ext cx="8030104" cy="2476924"/>
          </a:xfrm>
          <a:prstGeom prst="rect">
            <a:avLst/>
          </a:prstGeom>
          <a:noFill/>
          <a:ln>
            <a:noFill/>
          </a:ln>
        </p:spPr>
        <p:txBody>
          <a:bodyPr vert="horz" wrap="square" lIns="0" tIns="0" rIns="0" bIns="0" numCol="1" anchor="t" anchorCtr="0" compatLnSpc="1"/>
          <a:lstStyle>
            <a:lvl1pPr marL="0" marR="0" indent="0" algn="l" defTabSz="912495" rtl="0" eaLnBrk="1" fontAlgn="base" latinLnBrk="0" hangingPunct="1">
              <a:lnSpc>
                <a:spcPts val="1795"/>
              </a:lnSpc>
              <a:spcBef>
                <a:spcPts val="0"/>
              </a:spcBef>
              <a:spcAft>
                <a:spcPct val="0"/>
              </a:spcAft>
              <a:buClrTx/>
              <a:buSzTx/>
              <a:buFontTx/>
              <a:buNone/>
              <a:defRPr sz="1500" b="0" baseline="0">
                <a:solidFill>
                  <a:srgbClr val="005096"/>
                </a:solidFill>
                <a:latin typeface="Arial" charset="0"/>
                <a:ea typeface="华文黑体_易方达" pitchFamily="2" charset="-122"/>
                <a:cs typeface="Arial" charset="0"/>
              </a:defRPr>
            </a:lvl1pPr>
            <a:lvl2pPr algn="l">
              <a:lnSpc>
                <a:spcPts val="2395"/>
              </a:lnSpc>
              <a:buFontTx/>
              <a:buNone/>
              <a:defRPr sz="1500" baseline="0">
                <a:solidFill>
                  <a:schemeClr val="bg1"/>
                </a:solidFill>
                <a:latin typeface="Arial" charset="0"/>
              </a:defRPr>
            </a:lvl2pPr>
            <a:lvl3pPr>
              <a:buFontTx/>
              <a:buNone/>
              <a:defRPr/>
            </a:lvl3pPr>
            <a:lvl4pPr>
              <a:buFontTx/>
              <a:buNone/>
              <a:defRPr/>
            </a:lvl4pPr>
            <a:lvl5pPr>
              <a:buFontTx/>
              <a:buNone/>
              <a:defRPr/>
            </a:lvl5pPr>
          </a:lstStyle>
          <a:p>
            <a:pPr lvl="0"/>
            <a:r>
              <a:rPr lang="zh-CN" altLang="en-US" dirty="0"/>
              <a:t>单击此处编辑母版标题样式</a:t>
            </a:r>
            <a:br>
              <a:rPr lang="en-US" altLang="zh-CN" dirty="0"/>
            </a:br>
            <a:endParaRPr lang="en-US" dirty="0"/>
          </a:p>
        </p:txBody>
      </p:sp>
      <p:sp>
        <p:nvSpPr>
          <p:cNvPr id="16" name="Slide Number Placeholder 5"/>
          <p:cNvSpPr txBox="1"/>
          <p:nvPr userDrawn="1"/>
        </p:nvSpPr>
        <p:spPr bwMode="auto">
          <a:xfrm>
            <a:off x="8359022" y="4787453"/>
            <a:ext cx="448205" cy="141685"/>
          </a:xfrm>
          <a:prstGeom prst="rect">
            <a:avLst/>
          </a:prstGeom>
          <a:noFill/>
          <a:ln>
            <a:noFill/>
          </a:ln>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charset="0"/>
                <a:ea typeface="黑体" charset="-122"/>
                <a:cs typeface="Arial" charset="0"/>
              </a:rPr>
              <a:t>‹#›</a:t>
            </a:fld>
            <a:endParaRPr lang="en-US" altLang="zh-CN" sz="800" b="0" i="0" baseline="0" dirty="0">
              <a:solidFill>
                <a:srgbClr val="505050"/>
              </a:solidFill>
              <a:latin typeface="Arial" charset="0"/>
              <a:ea typeface="黑体" charset="-122"/>
              <a:cs typeface="Arial" charset="0"/>
            </a:endParaRPr>
          </a:p>
          <a:p>
            <a:pPr algn="r"/>
            <a:endParaRPr lang="en-US" altLang="zh-CN" sz="800" b="0" i="0" baseline="0" dirty="0">
              <a:solidFill>
                <a:srgbClr val="505050"/>
              </a:solidFill>
              <a:latin typeface="Arial" charset="0"/>
              <a:ea typeface="黑体" charset="-122"/>
              <a:cs typeface="Arial" charset="0"/>
            </a:endParaRPr>
          </a:p>
        </p:txBody>
      </p:sp>
      <p:pic>
        <p:nvPicPr>
          <p:cNvPr id="6" name="Picture 5" descr="Line.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68300" y="4725042"/>
            <a:ext cx="8424672" cy="6090"/>
          </a:xfrm>
          <a:prstGeom prst="rect">
            <a:avLst/>
          </a:prstGeom>
          <a:ln>
            <a:solidFill>
              <a:schemeClr val="bg1">
                <a:lumMod val="65000"/>
              </a:schemeClr>
            </a:solidFill>
          </a:ln>
        </p:spPr>
      </p:pic>
      <p:sp>
        <p:nvSpPr>
          <p:cNvPr id="2" name="文本框 1"/>
          <p:cNvSpPr txBox="1"/>
          <p:nvPr userDrawn="1"/>
        </p:nvSpPr>
        <p:spPr>
          <a:xfrm>
            <a:off x="368300" y="4249088"/>
            <a:ext cx="2576919" cy="337921"/>
          </a:xfrm>
          <a:prstGeom prst="rect">
            <a:avLst/>
          </a:prstGeom>
          <a:noFill/>
        </p:spPr>
        <p:txBody>
          <a:bodyPr wrap="square" rtlCol="0">
            <a:spAutoFit/>
          </a:bodyPr>
          <a:lstStyle/>
          <a:p>
            <a:endParaRPr lang="zh-CN" altLang="en-US" sz="1595" dirty="0">
              <a:latin typeface="Arial" charset="0"/>
              <a:ea typeface="华文黑体_易方达" pitchFamily="2" charset="-122"/>
              <a:cs typeface="Arial" charset="0"/>
            </a:endParaRPr>
          </a:p>
        </p:txBody>
      </p:sp>
      <p:sp>
        <p:nvSpPr>
          <p:cNvPr id="3" name="文本框 2"/>
          <p:cNvSpPr txBox="1"/>
          <p:nvPr userDrawn="1"/>
        </p:nvSpPr>
        <p:spPr>
          <a:xfrm>
            <a:off x="283241" y="4751305"/>
            <a:ext cx="2576919" cy="215245"/>
          </a:xfrm>
          <a:prstGeom prst="rect">
            <a:avLst/>
          </a:prstGeom>
          <a:noFill/>
        </p:spPr>
        <p:txBody>
          <a:bodyPr wrap="square" rtlCol="0">
            <a:spAutoFit/>
          </a:bodyPr>
          <a:lstStyle/>
          <a:p>
            <a:r>
              <a:rPr lang="zh-CN" altLang="en-US" sz="800" dirty="0">
                <a:solidFill>
                  <a:srgbClr val="3C3C3C"/>
                </a:solidFill>
                <a:latin typeface="Arial" charset="0"/>
                <a:ea typeface="华文黑体_易方达" pitchFamily="2" charset="-122"/>
                <a:cs typeface="Arial" charset="0"/>
              </a:rPr>
              <a:t>易方达基金管理有限公司</a:t>
            </a:r>
          </a:p>
        </p:txBody>
      </p:sp>
      <p:sp>
        <p:nvSpPr>
          <p:cNvPr id="12" name="文本框 11"/>
          <p:cNvSpPr txBox="1"/>
          <p:nvPr userDrawn="1"/>
        </p:nvSpPr>
        <p:spPr>
          <a:xfrm>
            <a:off x="4118642" y="4750673"/>
            <a:ext cx="2576919" cy="215245"/>
          </a:xfrm>
          <a:prstGeom prst="rect">
            <a:avLst/>
          </a:prstGeom>
          <a:noFill/>
        </p:spPr>
        <p:txBody>
          <a:bodyPr wrap="square" rtlCol="0">
            <a:spAutoFit/>
          </a:bodyPr>
          <a:lstStyle/>
          <a:p>
            <a:r>
              <a:rPr lang="zh-CN" altLang="en-US" sz="800" dirty="0">
                <a:solidFill>
                  <a:srgbClr val="3C3C3C"/>
                </a:solidFill>
                <a:latin typeface="Arial" charset="0"/>
                <a:ea typeface="华文黑体_易方达" pitchFamily="2" charset="-122"/>
                <a:cs typeface="Arial" charset="0"/>
              </a:rPr>
              <a:t>仅供内部交流讨论，禁止外传</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p:txStyles>
    <p:titleStyle>
      <a:lvl1pPr algn="l" rtl="0" eaLnBrk="1" fontAlgn="base" hangingPunct="1">
        <a:spcBef>
          <a:spcPct val="0"/>
        </a:spcBef>
        <a:spcAft>
          <a:spcPct val="0"/>
        </a:spcAft>
        <a:defRPr sz="900" b="0" i="0" baseline="0">
          <a:solidFill>
            <a:schemeClr val="bg1"/>
          </a:solidFill>
          <a:latin typeface="Arial" charset="0"/>
          <a:ea typeface="华文黑体"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122"/>
          <a:cs typeface="MS PGothic" charset="0"/>
        </a:defRPr>
      </a:lvl2pPr>
      <a:lvl3pPr algn="l" rtl="0" eaLnBrk="1" fontAlgn="base" hangingPunct="1">
        <a:spcBef>
          <a:spcPct val="0"/>
        </a:spcBef>
        <a:spcAft>
          <a:spcPct val="0"/>
        </a:spcAft>
        <a:defRPr sz="3600">
          <a:solidFill>
            <a:schemeClr val="tx1"/>
          </a:solidFill>
          <a:latin typeface="黑体" charset="-122"/>
          <a:ea typeface="黑体" charset="-122"/>
          <a:cs typeface="MS PGothic" charset="0"/>
        </a:defRPr>
      </a:lvl3pPr>
      <a:lvl4pPr algn="l" rtl="0" eaLnBrk="1" fontAlgn="base" hangingPunct="1">
        <a:spcBef>
          <a:spcPct val="0"/>
        </a:spcBef>
        <a:spcAft>
          <a:spcPct val="0"/>
        </a:spcAft>
        <a:defRPr sz="3600">
          <a:solidFill>
            <a:schemeClr val="tx1"/>
          </a:solidFill>
          <a:latin typeface="黑体" charset="-122"/>
          <a:ea typeface="黑体" charset="-122"/>
          <a:cs typeface="MS PGothic" charset="0"/>
        </a:defRPr>
      </a:lvl4pPr>
      <a:lvl5pPr algn="l" rtl="0" eaLnBrk="1" fontAlgn="base" hangingPunct="1">
        <a:spcBef>
          <a:spcPct val="0"/>
        </a:spcBef>
        <a:spcAft>
          <a:spcPct val="0"/>
        </a:spcAft>
        <a:defRPr sz="3600">
          <a:solidFill>
            <a:schemeClr val="tx1"/>
          </a:solidFill>
          <a:latin typeface="黑体" charset="-122"/>
          <a:ea typeface="黑体" charset="-122"/>
          <a:cs typeface="MS PGothic" charset="0"/>
        </a:defRPr>
      </a:lvl5pPr>
      <a:lvl6pPr marL="457200" algn="l" rtl="0" eaLnBrk="1" fontAlgn="base" hangingPunct="1">
        <a:spcBef>
          <a:spcPct val="0"/>
        </a:spcBef>
        <a:spcAft>
          <a:spcPct val="0"/>
        </a:spcAft>
        <a:defRPr sz="3600">
          <a:solidFill>
            <a:srgbClr val="5F294F"/>
          </a:solidFill>
          <a:latin typeface="Arial Narrow" charset="0"/>
          <a:ea typeface="MS PGothic" charset="0"/>
          <a:cs typeface="MS PGothic" charset="0"/>
        </a:defRPr>
      </a:lvl6pPr>
      <a:lvl7pPr marL="914400" algn="l" rtl="0" eaLnBrk="1" fontAlgn="base" hangingPunct="1">
        <a:spcBef>
          <a:spcPct val="0"/>
        </a:spcBef>
        <a:spcAft>
          <a:spcPct val="0"/>
        </a:spcAft>
        <a:defRPr sz="3600">
          <a:solidFill>
            <a:srgbClr val="5F294F"/>
          </a:solidFill>
          <a:latin typeface="Arial Narrow" charset="0"/>
          <a:ea typeface="MS PGothic" charset="0"/>
          <a:cs typeface="MS PGothic" charset="0"/>
        </a:defRPr>
      </a:lvl7pPr>
      <a:lvl8pPr marL="1371600" algn="l" rtl="0" eaLnBrk="1" fontAlgn="base" hangingPunct="1">
        <a:spcBef>
          <a:spcPct val="0"/>
        </a:spcBef>
        <a:spcAft>
          <a:spcPct val="0"/>
        </a:spcAft>
        <a:defRPr sz="3600">
          <a:solidFill>
            <a:srgbClr val="5F294F"/>
          </a:solidFill>
          <a:latin typeface="Arial Narrow" charset="0"/>
          <a:ea typeface="MS PGothic" charset="0"/>
          <a:cs typeface="MS PGothic" charset="0"/>
        </a:defRPr>
      </a:lvl8pPr>
      <a:lvl9pPr marL="1828800" algn="l" rtl="0" eaLnBrk="1" fontAlgn="base" hangingPunct="1">
        <a:spcBef>
          <a:spcPct val="0"/>
        </a:spcBef>
        <a:spcAft>
          <a:spcPct val="0"/>
        </a:spcAft>
        <a:defRPr sz="3600">
          <a:solidFill>
            <a:srgbClr val="5F294F"/>
          </a:solidFill>
          <a:latin typeface="Arial Narrow" charset="0"/>
          <a:ea typeface="MS PGothic" charset="0"/>
          <a:cs typeface="MS PGothic" charset="0"/>
        </a:defRPr>
      </a:lvl9pPr>
    </p:titleStyle>
    <p:bodyStyle>
      <a:lvl1pPr marL="0" indent="-342900" algn="l" rtl="0" eaLnBrk="1" fontAlgn="base" hangingPunct="1">
        <a:spcBef>
          <a:spcPts val="0"/>
        </a:spcBef>
        <a:spcAft>
          <a:spcPct val="0"/>
        </a:spcAft>
        <a:defRPr sz="3600" b="1" baseline="0">
          <a:solidFill>
            <a:schemeClr val="bg1"/>
          </a:solidFill>
          <a:latin typeface="Arial" charset="0"/>
          <a:ea typeface="华文细黑"/>
          <a:cs typeface="华文细黑"/>
        </a:defRPr>
      </a:lvl1pPr>
      <a:lvl2pPr marL="0" indent="0" algn="l" rtl="0" eaLnBrk="1" fontAlgn="base" hangingPunct="1">
        <a:lnSpc>
          <a:spcPts val="2400"/>
        </a:lnSpc>
        <a:spcBef>
          <a:spcPts val="0"/>
        </a:spcBef>
        <a:spcAft>
          <a:spcPct val="0"/>
        </a:spcAft>
        <a:buClr>
          <a:srgbClr val="5F294F"/>
        </a:buClr>
        <a:buFontTx/>
        <a:buNone/>
        <a:defRPr sz="1500" b="1" baseline="0">
          <a:solidFill>
            <a:schemeClr val="bg1"/>
          </a:solidFill>
          <a:latin typeface="Arial" charset="0"/>
          <a:ea typeface="华文细黑"/>
          <a:cs typeface="华文细黑"/>
        </a:defRPr>
      </a:lvl2pPr>
      <a:lvl3pPr marL="396875" indent="0" algn="just" rtl="0" eaLnBrk="1" fontAlgn="base" hangingPunct="1">
        <a:spcBef>
          <a:spcPct val="0"/>
        </a:spcBef>
        <a:spcAft>
          <a:spcPct val="0"/>
        </a:spcAft>
        <a:buClr>
          <a:srgbClr val="5F294F"/>
        </a:buClr>
        <a:buFontTx/>
        <a:buNone/>
        <a:defRPr sz="1500" b="1" baseline="0">
          <a:solidFill>
            <a:schemeClr val="tx1"/>
          </a:solidFill>
          <a:latin typeface="Arial" charset="0"/>
          <a:ea typeface="华文细黑"/>
          <a:cs typeface="华文细黑"/>
        </a:defRPr>
      </a:lvl3pPr>
      <a:lvl4pPr marL="631190" indent="0" algn="just" rtl="0" eaLnBrk="1" fontAlgn="base" hangingPunct="1">
        <a:spcBef>
          <a:spcPct val="0"/>
        </a:spcBef>
        <a:spcAft>
          <a:spcPct val="0"/>
        </a:spcAft>
        <a:buClr>
          <a:srgbClr val="5F294F"/>
        </a:buClr>
        <a:buFontTx/>
        <a:buNone/>
        <a:defRPr sz="1500" b="1" baseline="0">
          <a:solidFill>
            <a:schemeClr val="tx1"/>
          </a:solidFill>
          <a:latin typeface="Arial" charset="0"/>
          <a:ea typeface="华文细黑"/>
          <a:cs typeface="华文细黑"/>
        </a:defRPr>
      </a:lvl4pPr>
      <a:lvl5pPr marL="916940" indent="0" algn="just" rtl="0" eaLnBrk="1" fontAlgn="base" hangingPunct="1">
        <a:spcBef>
          <a:spcPct val="0"/>
        </a:spcBef>
        <a:spcAft>
          <a:spcPct val="0"/>
        </a:spcAft>
        <a:buClr>
          <a:srgbClr val="5F294F"/>
        </a:buClr>
        <a:buFontTx/>
        <a:buNone/>
        <a:defRPr sz="1500" b="1" baseline="0">
          <a:solidFill>
            <a:schemeClr val="tx1"/>
          </a:solidFill>
          <a:latin typeface="Arial" charset="0"/>
          <a:ea typeface="华文细黑"/>
          <a:cs typeface="华文细黑"/>
        </a:defRPr>
      </a:lvl5pPr>
      <a:lvl6pPr marL="1540510" indent="-167005"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7710" indent="-167005"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4275" indent="-167005"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1475" indent="-167005"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3765" algn="l" defTabSz="457200" rtl="0" eaLnBrk="1" latinLnBrk="0" hangingPunct="1">
        <a:defRPr sz="1800" kern="1200">
          <a:solidFill>
            <a:schemeClr val="tx1"/>
          </a:solidFill>
          <a:latin typeface="+mn-lt"/>
          <a:ea typeface="+mn-ea"/>
          <a:cs typeface="+mn-cs"/>
        </a:defRPr>
      </a:lvl3pPr>
      <a:lvl4pPr marL="1370965" algn="l" defTabSz="457200" rtl="0" eaLnBrk="1" latinLnBrk="0" hangingPunct="1">
        <a:defRPr sz="1800" kern="1200">
          <a:solidFill>
            <a:schemeClr val="tx1"/>
          </a:solidFill>
          <a:latin typeface="+mn-lt"/>
          <a:ea typeface="+mn-ea"/>
          <a:cs typeface="+mn-cs"/>
        </a:defRPr>
      </a:lvl4pPr>
      <a:lvl5pPr marL="1827530" algn="l" defTabSz="457200" rtl="0" eaLnBrk="1" latinLnBrk="0" hangingPunct="1">
        <a:defRPr sz="1800" kern="1200">
          <a:solidFill>
            <a:schemeClr val="tx1"/>
          </a:solidFill>
          <a:latin typeface="+mn-lt"/>
          <a:ea typeface="+mn-ea"/>
          <a:cs typeface="+mn-cs"/>
        </a:defRPr>
      </a:lvl5pPr>
      <a:lvl6pPr marL="2284730" algn="l" defTabSz="457200" rtl="0" eaLnBrk="1" latinLnBrk="0" hangingPunct="1">
        <a:defRPr sz="1800" kern="1200">
          <a:solidFill>
            <a:schemeClr val="tx1"/>
          </a:solidFill>
          <a:latin typeface="+mn-lt"/>
          <a:ea typeface="+mn-ea"/>
          <a:cs typeface="+mn-cs"/>
        </a:defRPr>
      </a:lvl6pPr>
      <a:lvl7pPr marL="2741295" algn="l" defTabSz="457200" rtl="0" eaLnBrk="1" latinLnBrk="0" hangingPunct="1">
        <a:defRPr sz="1800" kern="1200">
          <a:solidFill>
            <a:schemeClr val="tx1"/>
          </a:solidFill>
          <a:latin typeface="+mn-lt"/>
          <a:ea typeface="+mn-ea"/>
          <a:cs typeface="+mn-cs"/>
        </a:defRPr>
      </a:lvl7pPr>
      <a:lvl8pPr marL="3198495" algn="l" defTabSz="457200" rtl="0" eaLnBrk="1" latinLnBrk="0" hangingPunct="1">
        <a:defRPr sz="1800" kern="1200">
          <a:solidFill>
            <a:schemeClr val="tx1"/>
          </a:solidFill>
          <a:latin typeface="+mn-lt"/>
          <a:ea typeface="+mn-ea"/>
          <a:cs typeface="+mn-cs"/>
        </a:defRPr>
      </a:lvl8pPr>
      <a:lvl9pPr marL="365506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p:cNvSpPr txBox="1"/>
          <p:nvPr/>
        </p:nvSpPr>
        <p:spPr>
          <a:xfrm>
            <a:off x="222430" y="1176610"/>
            <a:ext cx="6449589" cy="482953"/>
          </a:xfrm>
          <a:prstGeom prst="rect">
            <a:avLst/>
          </a:prstGeom>
          <a:noFill/>
        </p:spPr>
        <p:txBody>
          <a:bodyPr wrap="square" rtlCol="0">
            <a:spAutoFit/>
          </a:bodyPr>
          <a:lstStyle/>
          <a:p>
            <a:pPr>
              <a:lnSpc>
                <a:spcPts val="3300"/>
              </a:lnSpc>
            </a:pPr>
            <a:r>
              <a:rPr lang="zh-CN" altLang="en-US" dirty="0">
                <a:solidFill>
                  <a:srgbClr val="005096"/>
                </a:solidFill>
                <a:latin typeface="+mj-ea"/>
                <a:ea typeface="+mj-ea"/>
              </a:rPr>
              <a:t>易方达企业级</a:t>
            </a:r>
            <a:r>
              <a:rPr lang="en-US" altLang="zh-CN" dirty="0">
                <a:solidFill>
                  <a:srgbClr val="005096"/>
                </a:solidFill>
                <a:latin typeface="+mj-ea"/>
                <a:ea typeface="+mj-ea"/>
              </a:rPr>
              <a:t>AI</a:t>
            </a:r>
            <a:r>
              <a:rPr lang="zh-CN" altLang="en-US" dirty="0">
                <a:solidFill>
                  <a:srgbClr val="005096"/>
                </a:solidFill>
                <a:latin typeface="+mj-ea"/>
                <a:ea typeface="+mj-ea"/>
              </a:rPr>
              <a:t>平台建设思路分享</a:t>
            </a:r>
            <a:endParaRPr lang="en-US" altLang="zh-CN" dirty="0" err="1">
              <a:solidFill>
                <a:srgbClr val="005096"/>
              </a:solidFill>
              <a:latin typeface="+mj-ea"/>
              <a:ea typeface="+mj-ea"/>
            </a:endParaRPr>
          </a:p>
        </p:txBody>
      </p:sp>
      <p:sp>
        <p:nvSpPr>
          <p:cNvPr id="9" name="矩形 8"/>
          <p:cNvSpPr/>
          <p:nvPr/>
        </p:nvSpPr>
        <p:spPr>
          <a:xfrm>
            <a:off x="254683" y="3714059"/>
            <a:ext cx="1072730" cy="452432"/>
          </a:xfrm>
          <a:prstGeom prst="rect">
            <a:avLst/>
          </a:prstGeom>
        </p:spPr>
        <p:txBody>
          <a:bodyPr wrap="none">
            <a:spAutoFit/>
          </a:bodyPr>
          <a:lstStyle/>
          <a:p>
            <a:pPr lvl="0">
              <a:lnSpc>
                <a:spcPts val="3300"/>
              </a:lnSpc>
            </a:pPr>
            <a:r>
              <a:rPr lang="fr-FR" altLang="zh-CN" sz="1400" dirty="0">
                <a:solidFill>
                  <a:srgbClr val="005096"/>
                </a:solidFill>
                <a:latin typeface="+mn-ea"/>
                <a:ea typeface="+mn-ea"/>
              </a:rPr>
              <a:t>202</a:t>
            </a:r>
            <a:r>
              <a:rPr lang="en-US" altLang="zh-CN" sz="1400" dirty="0">
                <a:solidFill>
                  <a:srgbClr val="005096"/>
                </a:solidFill>
                <a:latin typeface="+mn-ea"/>
                <a:ea typeface="+mn-ea"/>
              </a:rPr>
              <a:t>6</a:t>
            </a:r>
            <a:r>
              <a:rPr lang="zh-CN" altLang="en-US" sz="1400" dirty="0">
                <a:solidFill>
                  <a:srgbClr val="005096"/>
                </a:solidFill>
                <a:latin typeface="+mn-ea"/>
                <a:ea typeface="+mn-ea"/>
              </a:rPr>
              <a:t>年</a:t>
            </a:r>
            <a:r>
              <a:rPr lang="en-US" altLang="zh-CN" sz="1400" dirty="0">
                <a:solidFill>
                  <a:srgbClr val="005096"/>
                </a:solidFill>
                <a:latin typeface="+mn-ea"/>
                <a:ea typeface="+mn-ea"/>
              </a:rPr>
              <a:t>7</a:t>
            </a:r>
            <a:r>
              <a:rPr lang="zh-CN" altLang="en-US" sz="1400" dirty="0">
                <a:solidFill>
                  <a:srgbClr val="005096"/>
                </a:solidFill>
                <a:latin typeface="+mn-ea"/>
                <a:ea typeface="+mn-ea"/>
              </a:rPr>
              <a:t>月</a:t>
            </a:r>
            <a:endParaRPr lang="en-US" altLang="zh-CN" sz="1400" dirty="0">
              <a:solidFill>
                <a:srgbClr val="005096"/>
              </a:solidFill>
              <a:latin typeface="+mn-ea"/>
              <a:ea typeface="+mn-ea"/>
            </a:endParaRPr>
          </a:p>
        </p:txBody>
      </p:sp>
      <p:sp>
        <p:nvSpPr>
          <p:cNvPr id="4" name="矩形 3"/>
          <p:cNvSpPr/>
          <p:nvPr/>
        </p:nvSpPr>
        <p:spPr>
          <a:xfrm>
            <a:off x="254683" y="3261627"/>
            <a:ext cx="723275" cy="452432"/>
          </a:xfrm>
          <a:prstGeom prst="rect">
            <a:avLst/>
          </a:prstGeom>
        </p:spPr>
        <p:txBody>
          <a:bodyPr wrap="none">
            <a:spAutoFit/>
          </a:bodyPr>
          <a:lstStyle/>
          <a:p>
            <a:pPr lvl="0">
              <a:lnSpc>
                <a:spcPts val="3300"/>
              </a:lnSpc>
            </a:pPr>
            <a:r>
              <a:rPr lang="en-US" altLang="en-US" sz="1400" dirty="0" err="1">
                <a:solidFill>
                  <a:srgbClr val="005096"/>
                </a:solidFill>
                <a:latin typeface="+mn-ea"/>
                <a:ea typeface="+mn-ea"/>
              </a:rPr>
              <a:t>内部分享</a:t>
            </a:r>
            <a:endParaRPr lang="en-US" altLang="zh-CN" sz="1400" dirty="0">
              <a:solidFill>
                <a:srgbClr val="005096"/>
              </a:solidFill>
              <a:latin typeface="+mn-ea"/>
              <a:ea typeface="+mn-ea"/>
            </a:endParaRPr>
          </a:p>
        </p:txBody>
      </p:sp>
      <p:sp>
        <p:nvSpPr>
          <p:cNvPr id="3" name="文本框 2"/>
          <p:cNvSpPr txBox="1"/>
          <p:nvPr/>
        </p:nvSpPr>
        <p:spPr>
          <a:xfrm>
            <a:off x="254683" y="1726548"/>
            <a:ext cx="4419480" cy="338554"/>
          </a:xfrm>
          <a:prstGeom prst="rect">
            <a:avLst/>
          </a:prstGeom>
          <a:noFill/>
        </p:spPr>
        <p:txBody>
          <a:bodyPr wrap="none" rtlCol="0">
            <a:spAutoFit/>
          </a:bodyPr>
          <a:lstStyle/>
          <a:p>
            <a:r>
              <a:rPr kumimoji="1" lang="zh-CN" altLang="en-US" sz="1600" dirty="0">
                <a:solidFill>
                  <a:schemeClr val="accent1"/>
                </a:solidFill>
                <a:latin typeface="+mn-ea"/>
                <a:ea typeface="+mn-ea"/>
              </a:rPr>
              <a:t>基于</a:t>
            </a:r>
            <a:r>
              <a:rPr kumimoji="1" lang="en-US" altLang="zh-CN" sz="1600" dirty="0">
                <a:solidFill>
                  <a:schemeClr val="accent1"/>
                </a:solidFill>
                <a:latin typeface="+mn-ea"/>
                <a:ea typeface="+mn-ea"/>
              </a:rPr>
              <a:t>AI-Native</a:t>
            </a:r>
            <a:r>
              <a:rPr kumimoji="1" lang="zh-CN" altLang="en-US" sz="1600" dirty="0">
                <a:solidFill>
                  <a:schemeClr val="accent1"/>
                </a:solidFill>
                <a:latin typeface="+mn-ea"/>
                <a:ea typeface="+mn-ea"/>
              </a:rPr>
              <a:t>操作系统</a:t>
            </a:r>
            <a:r>
              <a:rPr kumimoji="1" lang="en-US" altLang="zh-CN" sz="1600" dirty="0">
                <a:solidFill>
                  <a:schemeClr val="accent1"/>
                </a:solidFill>
                <a:latin typeface="+mn-ea"/>
                <a:ea typeface="+mn-ea"/>
              </a:rPr>
              <a:t>EWork</a:t>
            </a:r>
            <a:r>
              <a:rPr kumimoji="1" lang="zh-CN" altLang="en-US" sz="1600" dirty="0">
                <a:solidFill>
                  <a:schemeClr val="accent1"/>
                </a:solidFill>
                <a:latin typeface="+mn-ea"/>
                <a:ea typeface="+mn-ea"/>
              </a:rPr>
              <a:t>的资管流程重塑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a:t>
            </a:r>
            <a:r>
              <a:rPr lang="zh-CN" altLang="en-US" dirty="0"/>
              <a:t>转型，还是</a:t>
            </a:r>
            <a:r>
              <a:rPr lang="en-US" altLang="zh-CN" dirty="0"/>
              <a:t>AI</a:t>
            </a:r>
            <a:r>
              <a:rPr lang="zh-CN" altLang="en-US" dirty="0"/>
              <a:t>原生？</a:t>
            </a:r>
          </a:p>
        </p:txBody>
      </p:sp>
      <p:sp>
        <p:nvSpPr>
          <p:cNvPr id="7" name="TextBox 14">
            <a:extLst>
              <a:ext uri="{FF2B5EF4-FFF2-40B4-BE49-F238E27FC236}">
                <a16:creationId xmlns:a16="http://schemas.microsoft.com/office/drawing/2014/main" id="{C61F968E-F5F3-04EE-771D-A58A15800473}"/>
              </a:ext>
            </a:extLst>
          </p:cNvPr>
          <p:cNvSpPr txBox="1"/>
          <p:nvPr/>
        </p:nvSpPr>
        <p:spPr>
          <a:xfrm>
            <a:off x="397850" y="1107062"/>
            <a:ext cx="3762258" cy="330200"/>
          </a:xfrm>
          <a:prstGeom prst="rect">
            <a:avLst/>
          </a:prstGeom>
          <a:solidFill>
            <a:srgbClr val="000000">
              <a:alpha val="0"/>
            </a:srgbClr>
          </a:solidFill>
        </p:spPr>
        <p:txBody>
          <a:bodyPr lIns="0" tIns="0" rIns="0" bIns="0" rtlCol="0" anchor="ctr">
            <a:scene3d>
              <a:camera prst="orthographicFront"/>
              <a:lightRig rig="threePt" dir="t"/>
            </a:scene3d>
          </a:bodyPr>
          <a:lstStyle/>
          <a:p>
            <a:pPr indent="0" algn="l">
              <a:lnSpc>
                <a:spcPct val="120000"/>
              </a:lnSpc>
              <a:defRPr/>
            </a:pPr>
            <a:r>
              <a:rPr lang="zh-CN" altLang="en-US" sz="1400">
                <a:solidFill>
                  <a:schemeClr val="accent1"/>
                </a:solidFill>
                <a:effectLst/>
                <a:latin typeface="+mn-ea"/>
                <a:ea typeface="+mn-ea"/>
              </a:rPr>
              <a:t>从集装箱革命看企业的</a:t>
            </a:r>
            <a:r>
              <a:rPr lang="en" altLang="zh-CN" sz="1400">
                <a:solidFill>
                  <a:schemeClr val="accent1"/>
                </a:solidFill>
                <a:effectLst/>
                <a:latin typeface="+mn-ea"/>
                <a:ea typeface="+mn-ea"/>
              </a:rPr>
              <a:t>AI</a:t>
            </a:r>
            <a:r>
              <a:rPr lang="zh-CN" altLang="en-US" sz="1400">
                <a:solidFill>
                  <a:schemeClr val="accent1"/>
                </a:solidFill>
                <a:effectLst/>
                <a:latin typeface="+mn-ea"/>
                <a:ea typeface="+mn-ea"/>
              </a:rPr>
              <a:t>原生重构</a:t>
            </a:r>
            <a:endParaRPr lang="en-US" sz="1400">
              <a:solidFill>
                <a:schemeClr val="accent1"/>
              </a:solidFill>
              <a:effectLst/>
              <a:latin typeface="+mn-ea"/>
              <a:ea typeface="+mn-ea"/>
            </a:endParaRPr>
          </a:p>
        </p:txBody>
      </p:sp>
      <p:sp>
        <p:nvSpPr>
          <p:cNvPr id="39" name="文本框 38">
            <a:extLst>
              <a:ext uri="{FF2B5EF4-FFF2-40B4-BE49-F238E27FC236}">
                <a16:creationId xmlns:a16="http://schemas.microsoft.com/office/drawing/2014/main" id="{B69EEE77-3F8C-3D2A-7E2D-59E361CB81C6}"/>
              </a:ext>
            </a:extLst>
          </p:cNvPr>
          <p:cNvSpPr txBox="1"/>
          <p:nvPr/>
        </p:nvSpPr>
        <p:spPr>
          <a:xfrm>
            <a:off x="344787" y="1685065"/>
            <a:ext cx="8286750" cy="2275688"/>
          </a:xfrm>
          <a:prstGeom prst="rect">
            <a:avLst/>
          </a:prstGeom>
          <a:noFill/>
        </p:spPr>
        <p:txBody>
          <a:bodyPr wrap="square" rtlCol="0">
            <a:spAutoFit/>
          </a:bodyPr>
          <a:lstStyle/>
          <a:p>
            <a:pPr algn="just">
              <a:lnSpc>
                <a:spcPct val="150000"/>
              </a:lnSpc>
            </a:pPr>
            <a:r>
              <a:rPr kumimoji="1" lang="en-US" altLang="zh-CN" sz="1200" dirty="0">
                <a:solidFill>
                  <a:schemeClr val="accent4"/>
                </a:solidFill>
                <a:latin typeface="+mn-ea"/>
                <a:ea typeface="+mn-ea"/>
              </a:rPr>
              <a:t>1956</a:t>
            </a:r>
            <a:r>
              <a:rPr kumimoji="1" lang="zh-CN" altLang="en-US" sz="1200" dirty="0">
                <a:solidFill>
                  <a:schemeClr val="accent4"/>
                </a:solidFill>
                <a:latin typeface="+mn-ea"/>
                <a:ea typeface="+mn-ea"/>
              </a:rPr>
              <a:t>年，集装箱第一次进入商业航运。</a:t>
            </a:r>
          </a:p>
          <a:p>
            <a:pPr algn="just">
              <a:lnSpc>
                <a:spcPct val="150000"/>
              </a:lnSpc>
            </a:pPr>
            <a:r>
              <a:rPr kumimoji="1" lang="zh-CN" altLang="en-US" sz="1200" dirty="0">
                <a:solidFill>
                  <a:schemeClr val="accent4"/>
                </a:solidFill>
                <a:latin typeface="+mn-ea"/>
                <a:ea typeface="+mn-ea"/>
              </a:rPr>
              <a:t>它最早带来的，是装卸效率提升，但真正改变世界的，是港口、堆场、铁路、公路、仓储、单据、用工和调度体系被整体重构。老港口可以买吊机，却很难变成新一代集装箱枢纽。技术可以采购，但生产系统必须重建。</a:t>
            </a:r>
          </a:p>
          <a:p>
            <a:pPr algn="just">
              <a:lnSpc>
                <a:spcPct val="150000"/>
              </a:lnSpc>
            </a:pPr>
            <a:endParaRPr kumimoji="1" lang="en-US" altLang="zh-CN" sz="1200" dirty="0">
              <a:solidFill>
                <a:schemeClr val="accent4"/>
              </a:solidFill>
              <a:latin typeface="+mn-ea"/>
              <a:ea typeface="+mn-ea"/>
            </a:endParaRPr>
          </a:p>
          <a:p>
            <a:pPr algn="just">
              <a:lnSpc>
                <a:spcPct val="150000"/>
              </a:lnSpc>
            </a:pPr>
            <a:r>
              <a:rPr kumimoji="1" lang="en-US" altLang="zh-CN" sz="1200" dirty="0">
                <a:solidFill>
                  <a:schemeClr val="accent4"/>
                </a:solidFill>
                <a:latin typeface="+mn-ea"/>
                <a:ea typeface="+mn-ea"/>
              </a:rPr>
              <a:t>AI</a:t>
            </a:r>
            <a:r>
              <a:rPr kumimoji="1" lang="zh-CN" altLang="en-US" sz="1200" dirty="0">
                <a:solidFill>
                  <a:schemeClr val="accent4"/>
                </a:solidFill>
                <a:latin typeface="+mn-ea"/>
                <a:ea typeface="+mn-ea"/>
              </a:rPr>
              <a:t>对企业也是一样：不应在旧流程上外挂</a:t>
            </a:r>
            <a:r>
              <a:rPr kumimoji="1" lang="en-US" altLang="zh-CN" sz="1200" dirty="0">
                <a:solidFill>
                  <a:schemeClr val="accent4"/>
                </a:solidFill>
                <a:latin typeface="+mn-ea"/>
                <a:ea typeface="+mn-ea"/>
              </a:rPr>
              <a:t>AI</a:t>
            </a:r>
            <a:r>
              <a:rPr kumimoji="1" lang="zh-CN" altLang="en-US" sz="1200" dirty="0">
                <a:solidFill>
                  <a:schemeClr val="accent4"/>
                </a:solidFill>
                <a:latin typeface="+mn-ea"/>
                <a:ea typeface="+mn-ea"/>
              </a:rPr>
              <a:t>工具，而是围绕</a:t>
            </a:r>
            <a:r>
              <a:rPr kumimoji="1" lang="en-US" altLang="zh-CN" sz="1200" dirty="0">
                <a:solidFill>
                  <a:schemeClr val="accent4"/>
                </a:solidFill>
                <a:latin typeface="+mn-ea"/>
                <a:ea typeface="+mn-ea"/>
              </a:rPr>
              <a:t>AI</a:t>
            </a:r>
            <a:r>
              <a:rPr kumimoji="1" lang="zh-CN" altLang="en-US" sz="1200" dirty="0">
                <a:solidFill>
                  <a:schemeClr val="accent4"/>
                </a:solidFill>
                <a:latin typeface="+mn-ea"/>
                <a:ea typeface="+mn-ea"/>
              </a:rPr>
              <a:t>重建任务、流程、数据、权限和组织能力。</a:t>
            </a:r>
          </a:p>
        </p:txBody>
      </p:sp>
    </p:spTree>
    <p:extLst>
      <p:ext uri="{BB962C8B-B14F-4D97-AF65-F5344CB8AC3E}">
        <p14:creationId xmlns:p14="http://schemas.microsoft.com/office/powerpoint/2010/main" val="134240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目前全球企业的人工智能实施方式</a:t>
            </a:r>
          </a:p>
        </p:txBody>
      </p:sp>
      <p:sp>
        <p:nvSpPr>
          <p:cNvPr id="6" name="矩形 5"/>
          <p:cNvSpPr/>
          <p:nvPr/>
        </p:nvSpPr>
        <p:spPr bwMode="auto">
          <a:xfrm>
            <a:off x="4117626" y="1760150"/>
            <a:ext cx="667265" cy="1795848"/>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7" name="TextBox 14"/>
          <p:cNvSpPr txBox="1"/>
          <p:nvPr/>
        </p:nvSpPr>
        <p:spPr>
          <a:xfrm>
            <a:off x="397850" y="1107062"/>
            <a:ext cx="3762258" cy="330200"/>
          </a:xfrm>
          <a:prstGeom prst="rect">
            <a:avLst/>
          </a:prstGeom>
          <a:solidFill>
            <a:srgbClr val="000000">
              <a:alpha val="0"/>
            </a:srgbClr>
          </a:solidFill>
        </p:spPr>
        <p:txBody>
          <a:bodyPr lIns="0" tIns="0" rIns="0" bIns="0" rtlCol="0" anchor="ctr">
            <a:scene3d>
              <a:camera prst="orthographicFront"/>
              <a:lightRig rig="threePt" dir="t"/>
            </a:scene3d>
          </a:bodyPr>
          <a:lstStyle/>
          <a:p>
            <a:pPr indent="0" algn="l">
              <a:lnSpc>
                <a:spcPct val="120000"/>
              </a:lnSpc>
              <a:defRPr/>
            </a:pPr>
            <a:r>
              <a:rPr lang="zh-CN" altLang="en-US" sz="1400" dirty="0">
                <a:solidFill>
                  <a:schemeClr val="accent1"/>
                </a:solidFill>
                <a:effectLst/>
                <a:latin typeface="+mn-ea"/>
                <a:ea typeface="+mn-ea"/>
              </a:rPr>
              <a:t>企业</a:t>
            </a:r>
            <a:r>
              <a:rPr lang="en-US" sz="1400" dirty="0">
                <a:solidFill>
                  <a:schemeClr val="accent1"/>
                </a:solidFill>
                <a:effectLst/>
                <a:latin typeface="+mn-ea"/>
                <a:ea typeface="+mn-ea"/>
              </a:rPr>
              <a:t>AI</a:t>
            </a:r>
            <a:r>
              <a:rPr lang="zh-CN" altLang="en-US" sz="1400" dirty="0">
                <a:solidFill>
                  <a:schemeClr val="accent1"/>
                </a:solidFill>
                <a:effectLst/>
                <a:latin typeface="+mn-ea"/>
                <a:ea typeface="+mn-ea"/>
              </a:rPr>
              <a:t>转型正从工具普及进入流程重构阶段</a:t>
            </a:r>
            <a:endParaRPr lang="en-US" sz="1400" dirty="0">
              <a:solidFill>
                <a:schemeClr val="accent1"/>
              </a:solidFill>
              <a:effectLst/>
              <a:latin typeface="+mn-ea"/>
              <a:ea typeface="+mn-ea"/>
            </a:endParaRPr>
          </a:p>
        </p:txBody>
      </p:sp>
      <p:sp>
        <p:nvSpPr>
          <p:cNvPr id="8" name="矩形 7"/>
          <p:cNvSpPr/>
          <p:nvPr/>
        </p:nvSpPr>
        <p:spPr bwMode="auto">
          <a:xfrm>
            <a:off x="4784891" y="1968842"/>
            <a:ext cx="667265" cy="1587155"/>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9" name="矩形 8"/>
          <p:cNvSpPr/>
          <p:nvPr/>
        </p:nvSpPr>
        <p:spPr bwMode="auto">
          <a:xfrm>
            <a:off x="5769366" y="2357566"/>
            <a:ext cx="667265" cy="1198432"/>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0" name="矩形 9"/>
          <p:cNvSpPr/>
          <p:nvPr/>
        </p:nvSpPr>
        <p:spPr bwMode="auto">
          <a:xfrm>
            <a:off x="6436631" y="2545492"/>
            <a:ext cx="667265" cy="1010505"/>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2" name="矩形 11"/>
          <p:cNvSpPr/>
          <p:nvPr/>
        </p:nvSpPr>
        <p:spPr bwMode="auto">
          <a:xfrm>
            <a:off x="7427098" y="2759674"/>
            <a:ext cx="667265" cy="796323"/>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4" name="矩形 13"/>
          <p:cNvSpPr/>
          <p:nvPr/>
        </p:nvSpPr>
        <p:spPr bwMode="auto">
          <a:xfrm>
            <a:off x="8094363" y="3146854"/>
            <a:ext cx="667265" cy="409143"/>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6" name="文本框 15"/>
          <p:cNvSpPr txBox="1"/>
          <p:nvPr/>
        </p:nvSpPr>
        <p:spPr>
          <a:xfrm>
            <a:off x="4372951" y="3683754"/>
            <a:ext cx="823880" cy="276999"/>
          </a:xfrm>
          <a:prstGeom prst="rect">
            <a:avLst/>
          </a:prstGeom>
          <a:noFill/>
        </p:spPr>
        <p:txBody>
          <a:bodyPr wrap="none" rtlCol="0">
            <a:spAutoFit/>
          </a:bodyPr>
          <a:lstStyle/>
          <a:p>
            <a:r>
              <a:rPr kumimoji="1" lang="zh-CN" altLang="en-US" sz="1200" dirty="0">
                <a:solidFill>
                  <a:schemeClr val="accent4"/>
                </a:solidFill>
                <a:latin typeface="+mn-ea"/>
                <a:ea typeface="+mn-ea"/>
              </a:rPr>
              <a:t>部署应用</a:t>
            </a:r>
          </a:p>
        </p:txBody>
      </p:sp>
      <p:sp>
        <p:nvSpPr>
          <p:cNvPr id="17" name="文本框 16"/>
          <p:cNvSpPr txBox="1"/>
          <p:nvPr/>
        </p:nvSpPr>
        <p:spPr>
          <a:xfrm>
            <a:off x="6036521" y="3683754"/>
            <a:ext cx="800219" cy="276999"/>
          </a:xfrm>
          <a:prstGeom prst="rect">
            <a:avLst/>
          </a:prstGeom>
          <a:noFill/>
        </p:spPr>
        <p:txBody>
          <a:bodyPr wrap="none" rtlCol="0">
            <a:spAutoFit/>
          </a:bodyPr>
          <a:lstStyle/>
          <a:p>
            <a:r>
              <a:rPr kumimoji="1" lang="zh-CN" altLang="en-US" sz="1200" dirty="0">
                <a:solidFill>
                  <a:schemeClr val="accent4"/>
                </a:solidFill>
                <a:latin typeface="+mn-ea"/>
                <a:ea typeface="+mn-ea"/>
              </a:rPr>
              <a:t>流程重塑</a:t>
            </a:r>
          </a:p>
        </p:txBody>
      </p:sp>
      <p:sp>
        <p:nvSpPr>
          <p:cNvPr id="18" name="文本框 17"/>
          <p:cNvSpPr txBox="1"/>
          <p:nvPr/>
        </p:nvSpPr>
        <p:spPr>
          <a:xfrm>
            <a:off x="7694253" y="3683754"/>
            <a:ext cx="800219" cy="276999"/>
          </a:xfrm>
          <a:prstGeom prst="rect">
            <a:avLst/>
          </a:prstGeom>
          <a:noFill/>
        </p:spPr>
        <p:txBody>
          <a:bodyPr wrap="none" rtlCol="0">
            <a:spAutoFit/>
          </a:bodyPr>
          <a:lstStyle/>
          <a:p>
            <a:r>
              <a:rPr kumimoji="1" lang="zh-CN" altLang="en-US" sz="1200" dirty="0">
                <a:solidFill>
                  <a:schemeClr val="accent4"/>
                </a:solidFill>
                <a:latin typeface="+mn-ea"/>
                <a:ea typeface="+mn-ea"/>
              </a:rPr>
              <a:t>创新创造</a:t>
            </a:r>
          </a:p>
        </p:txBody>
      </p:sp>
      <p:sp>
        <p:nvSpPr>
          <p:cNvPr id="22" name="文本框 21"/>
          <p:cNvSpPr txBox="1"/>
          <p:nvPr/>
        </p:nvSpPr>
        <p:spPr>
          <a:xfrm>
            <a:off x="4213053" y="1850767"/>
            <a:ext cx="476412" cy="261610"/>
          </a:xfrm>
          <a:prstGeom prst="rect">
            <a:avLst/>
          </a:prstGeom>
          <a:noFill/>
        </p:spPr>
        <p:txBody>
          <a:bodyPr wrap="none" rtlCol="0">
            <a:spAutoFit/>
          </a:bodyPr>
          <a:lstStyle/>
          <a:p>
            <a:r>
              <a:rPr kumimoji="1" lang="en-US" altLang="zh-CN" sz="1050" dirty="0">
                <a:solidFill>
                  <a:schemeClr val="bg1"/>
                </a:solidFill>
                <a:latin typeface="+mn-ea"/>
                <a:ea typeface="+mn-ea"/>
              </a:rPr>
              <a:t>78%</a:t>
            </a:r>
            <a:endParaRPr kumimoji="1" lang="zh-CN" altLang="en-US" sz="1050" dirty="0">
              <a:solidFill>
                <a:schemeClr val="bg1"/>
              </a:solidFill>
              <a:latin typeface="+mn-ea"/>
              <a:ea typeface="+mn-ea"/>
            </a:endParaRPr>
          </a:p>
        </p:txBody>
      </p:sp>
      <p:sp>
        <p:nvSpPr>
          <p:cNvPr id="26" name="文本框 25"/>
          <p:cNvSpPr txBox="1"/>
          <p:nvPr/>
        </p:nvSpPr>
        <p:spPr>
          <a:xfrm>
            <a:off x="4863843" y="2064951"/>
            <a:ext cx="476412" cy="261610"/>
          </a:xfrm>
          <a:prstGeom prst="rect">
            <a:avLst/>
          </a:prstGeom>
          <a:noFill/>
        </p:spPr>
        <p:txBody>
          <a:bodyPr wrap="none" rtlCol="0">
            <a:spAutoFit/>
          </a:bodyPr>
          <a:lstStyle/>
          <a:p>
            <a:r>
              <a:rPr kumimoji="1" lang="en-US" altLang="zh-CN" sz="1050" dirty="0">
                <a:solidFill>
                  <a:schemeClr val="bg1"/>
                </a:solidFill>
                <a:latin typeface="+mn-ea"/>
                <a:ea typeface="+mn-ea"/>
              </a:rPr>
              <a:t>72%</a:t>
            </a:r>
            <a:endParaRPr kumimoji="1" lang="zh-CN" altLang="en-US" sz="1050" dirty="0">
              <a:solidFill>
                <a:schemeClr val="bg1"/>
              </a:solidFill>
              <a:latin typeface="+mn-ea"/>
              <a:ea typeface="+mn-ea"/>
            </a:endParaRPr>
          </a:p>
        </p:txBody>
      </p:sp>
      <p:sp>
        <p:nvSpPr>
          <p:cNvPr id="27" name="文本框 26"/>
          <p:cNvSpPr txBox="1"/>
          <p:nvPr/>
        </p:nvSpPr>
        <p:spPr>
          <a:xfrm>
            <a:off x="5864794" y="2443892"/>
            <a:ext cx="461986" cy="253916"/>
          </a:xfrm>
          <a:prstGeom prst="rect">
            <a:avLst/>
          </a:prstGeom>
          <a:noFill/>
        </p:spPr>
        <p:txBody>
          <a:bodyPr wrap="none" rtlCol="0">
            <a:spAutoFit/>
          </a:bodyPr>
          <a:lstStyle/>
          <a:p>
            <a:r>
              <a:rPr kumimoji="1" lang="en-US" altLang="zh-CN" sz="1050" dirty="0">
                <a:solidFill>
                  <a:schemeClr val="bg1"/>
                </a:solidFill>
                <a:latin typeface="+mn-ea"/>
                <a:ea typeface="+mn-ea"/>
              </a:rPr>
              <a:t>57%</a:t>
            </a:r>
            <a:endParaRPr kumimoji="1" lang="zh-CN" altLang="en-US" sz="1050" dirty="0">
              <a:solidFill>
                <a:schemeClr val="bg1"/>
              </a:solidFill>
              <a:latin typeface="+mn-ea"/>
              <a:ea typeface="+mn-ea"/>
            </a:endParaRPr>
          </a:p>
        </p:txBody>
      </p:sp>
      <p:sp>
        <p:nvSpPr>
          <p:cNvPr id="28" name="文本框 27"/>
          <p:cNvSpPr txBox="1"/>
          <p:nvPr/>
        </p:nvSpPr>
        <p:spPr>
          <a:xfrm>
            <a:off x="6507345" y="2641601"/>
            <a:ext cx="461986" cy="253916"/>
          </a:xfrm>
          <a:prstGeom prst="rect">
            <a:avLst/>
          </a:prstGeom>
          <a:noFill/>
        </p:spPr>
        <p:txBody>
          <a:bodyPr wrap="none" rtlCol="0">
            <a:spAutoFit/>
          </a:bodyPr>
          <a:lstStyle/>
          <a:p>
            <a:r>
              <a:rPr kumimoji="1" lang="en-US" altLang="zh-CN" sz="1050" dirty="0">
                <a:solidFill>
                  <a:schemeClr val="bg1"/>
                </a:solidFill>
                <a:latin typeface="+mn-ea"/>
                <a:ea typeface="+mn-ea"/>
              </a:rPr>
              <a:t>50%</a:t>
            </a:r>
            <a:endParaRPr kumimoji="1" lang="zh-CN" altLang="en-US" sz="1050" dirty="0">
              <a:solidFill>
                <a:schemeClr val="bg1"/>
              </a:solidFill>
              <a:latin typeface="+mn-ea"/>
              <a:ea typeface="+mn-ea"/>
            </a:endParaRPr>
          </a:p>
        </p:txBody>
      </p:sp>
      <p:sp>
        <p:nvSpPr>
          <p:cNvPr id="29" name="文本框 28"/>
          <p:cNvSpPr txBox="1"/>
          <p:nvPr/>
        </p:nvSpPr>
        <p:spPr>
          <a:xfrm>
            <a:off x="7522525" y="2855785"/>
            <a:ext cx="461986" cy="253916"/>
          </a:xfrm>
          <a:prstGeom prst="rect">
            <a:avLst/>
          </a:prstGeom>
          <a:noFill/>
        </p:spPr>
        <p:txBody>
          <a:bodyPr wrap="none" rtlCol="0">
            <a:spAutoFit/>
          </a:bodyPr>
          <a:lstStyle/>
          <a:p>
            <a:r>
              <a:rPr kumimoji="1" lang="en-US" altLang="zh-CN" sz="1050" dirty="0">
                <a:solidFill>
                  <a:schemeClr val="bg1"/>
                </a:solidFill>
                <a:latin typeface="+mn-ea"/>
                <a:ea typeface="+mn-ea"/>
              </a:rPr>
              <a:t>42%</a:t>
            </a:r>
            <a:endParaRPr kumimoji="1" lang="zh-CN" altLang="en-US" sz="1050" dirty="0">
              <a:solidFill>
                <a:schemeClr val="bg1"/>
              </a:solidFill>
              <a:latin typeface="+mn-ea"/>
              <a:ea typeface="+mn-ea"/>
            </a:endParaRPr>
          </a:p>
        </p:txBody>
      </p:sp>
      <p:sp>
        <p:nvSpPr>
          <p:cNvPr id="30" name="文本框 29"/>
          <p:cNvSpPr txBox="1"/>
          <p:nvPr/>
        </p:nvSpPr>
        <p:spPr>
          <a:xfrm>
            <a:off x="8189790" y="3218249"/>
            <a:ext cx="461986" cy="253916"/>
          </a:xfrm>
          <a:prstGeom prst="rect">
            <a:avLst/>
          </a:prstGeom>
          <a:noFill/>
        </p:spPr>
        <p:txBody>
          <a:bodyPr wrap="none" rtlCol="0">
            <a:spAutoFit/>
          </a:bodyPr>
          <a:lstStyle/>
          <a:p>
            <a:r>
              <a:rPr kumimoji="1" lang="en-US" altLang="zh-CN" sz="1050" dirty="0">
                <a:solidFill>
                  <a:schemeClr val="bg1"/>
                </a:solidFill>
                <a:latin typeface="+mn-ea"/>
                <a:ea typeface="+mn-ea"/>
              </a:rPr>
              <a:t>22%</a:t>
            </a:r>
            <a:endParaRPr kumimoji="1" lang="zh-CN" altLang="en-US" sz="1050" dirty="0">
              <a:solidFill>
                <a:schemeClr val="bg1"/>
              </a:solidFill>
              <a:latin typeface="+mn-ea"/>
              <a:ea typeface="+mn-ea"/>
            </a:endParaRPr>
          </a:p>
        </p:txBody>
      </p:sp>
      <p:sp>
        <p:nvSpPr>
          <p:cNvPr id="31" name="文本框 30"/>
          <p:cNvSpPr txBox="1"/>
          <p:nvPr/>
        </p:nvSpPr>
        <p:spPr>
          <a:xfrm>
            <a:off x="4085821" y="3928646"/>
            <a:ext cx="1398140" cy="483337"/>
          </a:xfrm>
          <a:prstGeom prst="rect">
            <a:avLst/>
          </a:prstGeom>
          <a:noFill/>
        </p:spPr>
        <p:txBody>
          <a:bodyPr wrap="none" rtlCol="0">
            <a:spAutoFit/>
          </a:bodyPr>
          <a:lstStyle/>
          <a:p>
            <a:pPr>
              <a:lnSpc>
                <a:spcPct val="150000"/>
              </a:lnSpc>
            </a:pPr>
            <a:r>
              <a:rPr lang="zh-CN" altLang="en-US" sz="900">
                <a:solidFill>
                  <a:schemeClr val="accent5"/>
                </a:solidFill>
                <a:latin typeface="+mj-ea"/>
                <a:ea typeface="+mj-ea"/>
              </a:rPr>
              <a:t>推动 </a:t>
            </a:r>
            <a:r>
              <a:rPr lang="en-GB" altLang="zh-CN" sz="900">
                <a:solidFill>
                  <a:schemeClr val="accent5"/>
                </a:solidFill>
                <a:latin typeface="+mj-ea"/>
                <a:ea typeface="+mj-ea"/>
              </a:rPr>
              <a:t>GenAI </a:t>
            </a:r>
            <a:r>
              <a:rPr lang="zh-CN" altLang="en-US" sz="900">
                <a:solidFill>
                  <a:schemeClr val="accent5"/>
                </a:solidFill>
                <a:latin typeface="+mj-ea"/>
                <a:ea typeface="+mj-ea"/>
              </a:rPr>
              <a:t>工具普及，</a:t>
            </a:r>
            <a:endParaRPr lang="en-US" altLang="zh-CN" sz="900">
              <a:solidFill>
                <a:schemeClr val="accent5"/>
              </a:solidFill>
              <a:latin typeface="+mj-ea"/>
              <a:ea typeface="+mj-ea"/>
            </a:endParaRPr>
          </a:p>
          <a:p>
            <a:pPr>
              <a:lnSpc>
                <a:spcPct val="150000"/>
              </a:lnSpc>
            </a:pPr>
            <a:r>
              <a:rPr lang="zh-CN" altLang="en-US" sz="900">
                <a:solidFill>
                  <a:schemeClr val="accent5"/>
                </a:solidFill>
                <a:latin typeface="+mj-ea"/>
                <a:ea typeface="+mj-ea"/>
              </a:rPr>
              <a:t>提高员工生产力</a:t>
            </a:r>
          </a:p>
        </p:txBody>
      </p:sp>
      <p:sp>
        <p:nvSpPr>
          <p:cNvPr id="32" name="文本框 31"/>
          <p:cNvSpPr txBox="1"/>
          <p:nvPr/>
        </p:nvSpPr>
        <p:spPr>
          <a:xfrm>
            <a:off x="5420967" y="3928646"/>
            <a:ext cx="2031325" cy="483337"/>
          </a:xfrm>
          <a:prstGeom prst="rect">
            <a:avLst/>
          </a:prstGeom>
          <a:noFill/>
        </p:spPr>
        <p:txBody>
          <a:bodyPr wrap="none" rtlCol="0">
            <a:spAutoFit/>
          </a:bodyPr>
          <a:lstStyle/>
          <a:p>
            <a:pPr>
              <a:lnSpc>
                <a:spcPct val="150000"/>
              </a:lnSpc>
            </a:pPr>
            <a:r>
              <a:rPr lang="zh-CN" altLang="en-US" sz="900">
                <a:solidFill>
                  <a:schemeClr val="accent5"/>
                </a:solidFill>
                <a:latin typeface="+mj-ea"/>
                <a:ea typeface="+mj-ea"/>
              </a:rPr>
              <a:t>重新设计端到端工作流和业务流程，</a:t>
            </a:r>
            <a:endParaRPr lang="en-US" altLang="zh-CN" sz="900">
              <a:solidFill>
                <a:schemeClr val="accent5"/>
              </a:solidFill>
              <a:latin typeface="+mj-ea"/>
              <a:ea typeface="+mj-ea"/>
            </a:endParaRPr>
          </a:p>
          <a:p>
            <a:pPr>
              <a:lnSpc>
                <a:spcPct val="150000"/>
              </a:lnSpc>
            </a:pPr>
            <a:r>
              <a:rPr lang="zh-CN" altLang="en-US" sz="900">
                <a:solidFill>
                  <a:schemeClr val="accent5"/>
                </a:solidFill>
                <a:latin typeface="+mj-ea"/>
                <a:ea typeface="+mj-ea"/>
              </a:rPr>
              <a:t>重构职能运作方式</a:t>
            </a:r>
          </a:p>
        </p:txBody>
      </p:sp>
      <p:sp>
        <p:nvSpPr>
          <p:cNvPr id="33" name="文本框 32"/>
          <p:cNvSpPr txBox="1"/>
          <p:nvPr/>
        </p:nvSpPr>
        <p:spPr>
          <a:xfrm>
            <a:off x="7309532" y="3928645"/>
            <a:ext cx="1569660" cy="483337"/>
          </a:xfrm>
          <a:prstGeom prst="rect">
            <a:avLst/>
          </a:prstGeom>
          <a:noFill/>
        </p:spPr>
        <p:txBody>
          <a:bodyPr wrap="none" rtlCol="0">
            <a:spAutoFit/>
          </a:bodyPr>
          <a:lstStyle/>
          <a:p>
            <a:pPr>
              <a:lnSpc>
                <a:spcPct val="150000"/>
              </a:lnSpc>
            </a:pPr>
            <a:r>
              <a:rPr lang="zh-CN" altLang="en-US" sz="900">
                <a:solidFill>
                  <a:schemeClr val="accent5"/>
                </a:solidFill>
                <a:latin typeface="+mj-ea"/>
                <a:ea typeface="+mj-ea"/>
              </a:rPr>
              <a:t>构建新的商业模式和产品，</a:t>
            </a:r>
            <a:endParaRPr lang="en-US" altLang="zh-CN" sz="900">
              <a:solidFill>
                <a:schemeClr val="accent5"/>
              </a:solidFill>
              <a:latin typeface="+mj-ea"/>
              <a:ea typeface="+mj-ea"/>
            </a:endParaRPr>
          </a:p>
          <a:p>
            <a:pPr>
              <a:lnSpc>
                <a:spcPct val="150000"/>
              </a:lnSpc>
            </a:pPr>
            <a:r>
              <a:rPr lang="zh-CN" altLang="en-US" sz="900">
                <a:solidFill>
                  <a:schemeClr val="accent5"/>
                </a:solidFill>
                <a:latin typeface="+mj-ea"/>
                <a:ea typeface="+mj-ea"/>
              </a:rPr>
              <a:t>驱动增长</a:t>
            </a:r>
          </a:p>
        </p:txBody>
      </p:sp>
      <p:sp>
        <p:nvSpPr>
          <p:cNvPr id="34" name="矩形 33"/>
          <p:cNvSpPr/>
          <p:nvPr/>
        </p:nvSpPr>
        <p:spPr bwMode="auto">
          <a:xfrm>
            <a:off x="8189790" y="1843921"/>
            <a:ext cx="161554" cy="101188"/>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5" name="文本框 34"/>
          <p:cNvSpPr txBox="1"/>
          <p:nvPr/>
        </p:nvSpPr>
        <p:spPr>
          <a:xfrm>
            <a:off x="8329638" y="1984669"/>
            <a:ext cx="453970" cy="275588"/>
          </a:xfrm>
          <a:prstGeom prst="rect">
            <a:avLst/>
          </a:prstGeom>
          <a:noFill/>
        </p:spPr>
        <p:txBody>
          <a:bodyPr wrap="none" rtlCol="0">
            <a:spAutoFit/>
          </a:bodyPr>
          <a:lstStyle/>
          <a:p>
            <a:pPr>
              <a:lnSpc>
                <a:spcPct val="150000"/>
              </a:lnSpc>
            </a:pPr>
            <a:r>
              <a:rPr lang="en-US" altLang="zh-CN" sz="900">
                <a:solidFill>
                  <a:schemeClr val="accent5"/>
                </a:solidFill>
                <a:latin typeface="+mj-ea"/>
                <a:ea typeface="+mj-ea"/>
              </a:rPr>
              <a:t>2025</a:t>
            </a:r>
            <a:endParaRPr lang="zh-CN" altLang="en-US" sz="900">
              <a:solidFill>
                <a:schemeClr val="accent5"/>
              </a:solidFill>
              <a:latin typeface="+mj-ea"/>
              <a:ea typeface="+mj-ea"/>
            </a:endParaRPr>
          </a:p>
        </p:txBody>
      </p:sp>
      <p:sp>
        <p:nvSpPr>
          <p:cNvPr id="36" name="文本框 35"/>
          <p:cNvSpPr txBox="1"/>
          <p:nvPr/>
        </p:nvSpPr>
        <p:spPr>
          <a:xfrm>
            <a:off x="8329638" y="1721058"/>
            <a:ext cx="453970" cy="275588"/>
          </a:xfrm>
          <a:prstGeom prst="rect">
            <a:avLst/>
          </a:prstGeom>
          <a:noFill/>
        </p:spPr>
        <p:txBody>
          <a:bodyPr wrap="none" rtlCol="0">
            <a:spAutoFit/>
          </a:bodyPr>
          <a:lstStyle/>
          <a:p>
            <a:pPr>
              <a:lnSpc>
                <a:spcPct val="150000"/>
              </a:lnSpc>
            </a:pPr>
            <a:r>
              <a:rPr lang="en-US" altLang="zh-CN" sz="900">
                <a:solidFill>
                  <a:schemeClr val="accent5"/>
                </a:solidFill>
                <a:latin typeface="+mj-ea"/>
                <a:ea typeface="+mj-ea"/>
              </a:rPr>
              <a:t>2026</a:t>
            </a:r>
            <a:endParaRPr lang="zh-CN" altLang="en-US" sz="900">
              <a:solidFill>
                <a:schemeClr val="accent5"/>
              </a:solidFill>
              <a:latin typeface="+mj-ea"/>
              <a:ea typeface="+mj-ea"/>
            </a:endParaRPr>
          </a:p>
        </p:txBody>
      </p:sp>
      <p:sp>
        <p:nvSpPr>
          <p:cNvPr id="37" name="矩形 36"/>
          <p:cNvSpPr/>
          <p:nvPr/>
        </p:nvSpPr>
        <p:spPr bwMode="auto">
          <a:xfrm>
            <a:off x="8189790" y="2099294"/>
            <a:ext cx="161554" cy="101188"/>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8" name="文本框 37"/>
          <p:cNvSpPr txBox="1"/>
          <p:nvPr/>
        </p:nvSpPr>
        <p:spPr>
          <a:xfrm>
            <a:off x="6762683" y="1334640"/>
            <a:ext cx="2117887" cy="275588"/>
          </a:xfrm>
          <a:prstGeom prst="rect">
            <a:avLst/>
          </a:prstGeom>
          <a:noFill/>
        </p:spPr>
        <p:txBody>
          <a:bodyPr wrap="none" rtlCol="0">
            <a:spAutoFit/>
          </a:bodyPr>
          <a:lstStyle/>
          <a:p>
            <a:pPr>
              <a:lnSpc>
                <a:spcPct val="150000"/>
              </a:lnSpc>
            </a:pPr>
            <a:r>
              <a:rPr lang="zh-CN" altLang="en-US" sz="900">
                <a:solidFill>
                  <a:schemeClr val="accent5"/>
                </a:solidFill>
                <a:latin typeface="+mj-ea"/>
                <a:ea typeface="+mj-ea"/>
              </a:rPr>
              <a:t>数据来源：</a:t>
            </a:r>
            <a:r>
              <a:rPr lang="en-US" altLang="zh-CN" sz="900">
                <a:solidFill>
                  <a:schemeClr val="accent5"/>
                </a:solidFill>
                <a:latin typeface="+mj-ea"/>
                <a:ea typeface="+mj-ea"/>
              </a:rPr>
              <a:t>BCG</a:t>
            </a:r>
            <a:r>
              <a:rPr lang="zh-CN" altLang="en-US" sz="900">
                <a:solidFill>
                  <a:schemeClr val="accent5"/>
                </a:solidFill>
                <a:latin typeface="+mj-ea"/>
                <a:ea typeface="+mj-ea"/>
              </a:rPr>
              <a:t> </a:t>
            </a:r>
            <a:r>
              <a:rPr lang="en-US" altLang="zh-CN" sz="900">
                <a:solidFill>
                  <a:schemeClr val="accent5"/>
                </a:solidFill>
                <a:latin typeface="+mj-ea"/>
                <a:ea typeface="+mj-ea"/>
              </a:rPr>
              <a:t>2026《AI</a:t>
            </a:r>
            <a:r>
              <a:rPr lang="zh-CN" altLang="en-US" sz="900">
                <a:solidFill>
                  <a:schemeClr val="accent5"/>
                </a:solidFill>
                <a:latin typeface="+mj-ea"/>
                <a:ea typeface="+mj-ea"/>
              </a:rPr>
              <a:t> </a:t>
            </a:r>
            <a:r>
              <a:rPr lang="en-US" altLang="zh-CN" sz="900">
                <a:solidFill>
                  <a:schemeClr val="accent5"/>
                </a:solidFill>
                <a:latin typeface="+mj-ea"/>
                <a:ea typeface="+mj-ea"/>
              </a:rPr>
              <a:t>at</a:t>
            </a:r>
            <a:r>
              <a:rPr lang="zh-CN" altLang="en-US" sz="900">
                <a:solidFill>
                  <a:schemeClr val="accent5"/>
                </a:solidFill>
                <a:latin typeface="+mj-ea"/>
                <a:ea typeface="+mj-ea"/>
              </a:rPr>
              <a:t> </a:t>
            </a:r>
            <a:r>
              <a:rPr lang="en-US" altLang="zh-CN" sz="900">
                <a:solidFill>
                  <a:schemeClr val="accent5"/>
                </a:solidFill>
                <a:latin typeface="+mj-ea"/>
                <a:ea typeface="+mj-ea"/>
              </a:rPr>
              <a:t>Work》</a:t>
            </a:r>
            <a:endParaRPr lang="zh-CN" altLang="en-US" sz="900">
              <a:solidFill>
                <a:schemeClr val="accent5"/>
              </a:solidFill>
              <a:latin typeface="+mj-ea"/>
              <a:ea typeface="+mj-ea"/>
            </a:endParaRPr>
          </a:p>
        </p:txBody>
      </p:sp>
      <p:sp>
        <p:nvSpPr>
          <p:cNvPr id="39" name="文本框 38"/>
          <p:cNvSpPr txBox="1"/>
          <p:nvPr/>
        </p:nvSpPr>
        <p:spPr>
          <a:xfrm>
            <a:off x="344787" y="1685065"/>
            <a:ext cx="3483546" cy="1998689"/>
          </a:xfrm>
          <a:prstGeom prst="rect">
            <a:avLst/>
          </a:prstGeom>
          <a:noFill/>
        </p:spPr>
        <p:txBody>
          <a:bodyPr wrap="square" rtlCol="0">
            <a:spAutoFit/>
          </a:bodyPr>
          <a:lstStyle/>
          <a:p>
            <a:pPr algn="just">
              <a:lnSpc>
                <a:spcPct val="150000"/>
              </a:lnSpc>
            </a:pPr>
            <a:r>
              <a:rPr kumimoji="1" lang="zh-CN" altLang="en-US" sz="1200" dirty="0">
                <a:solidFill>
                  <a:schemeClr val="accent4"/>
                </a:solidFill>
                <a:latin typeface="+mn-ea"/>
                <a:ea typeface="+mn-ea"/>
              </a:rPr>
              <a:t>数据显示，企业</a:t>
            </a:r>
            <a:r>
              <a:rPr kumimoji="1" lang="en-GB" altLang="zh-CN" sz="1200" dirty="0">
                <a:solidFill>
                  <a:schemeClr val="accent4"/>
                </a:solidFill>
                <a:latin typeface="+mn-ea"/>
                <a:ea typeface="+mn-ea"/>
              </a:rPr>
              <a:t>AI</a:t>
            </a:r>
            <a:r>
              <a:rPr kumimoji="1" lang="zh-CN" altLang="en-US" sz="1200" dirty="0">
                <a:solidFill>
                  <a:schemeClr val="accent4"/>
                </a:solidFill>
                <a:latin typeface="+mn-ea"/>
                <a:ea typeface="+mn-ea"/>
              </a:rPr>
              <a:t>实践正在从工具部署向流程重塑和业务创新深化。</a:t>
            </a:r>
          </a:p>
          <a:p>
            <a:pPr algn="just">
              <a:lnSpc>
                <a:spcPct val="150000"/>
              </a:lnSpc>
            </a:pPr>
            <a:endParaRPr kumimoji="1" lang="zh-CN" altLang="en-US" sz="1200" dirty="0">
              <a:solidFill>
                <a:schemeClr val="accent4"/>
              </a:solidFill>
              <a:latin typeface="+mn-ea"/>
              <a:ea typeface="+mn-ea"/>
            </a:endParaRPr>
          </a:p>
          <a:p>
            <a:pPr algn="just">
              <a:lnSpc>
                <a:spcPct val="150000"/>
              </a:lnSpc>
            </a:pPr>
            <a:r>
              <a:rPr kumimoji="1" lang="zh-CN" altLang="en-US" sz="1200" dirty="0">
                <a:solidFill>
                  <a:schemeClr val="accent4"/>
                </a:solidFill>
                <a:latin typeface="+mn-ea"/>
                <a:ea typeface="+mn-ea"/>
              </a:rPr>
              <a:t>推进流程重塑和业务创新的企业，在业务改善、员工满意度、员工对领导层的信任以及</a:t>
            </a:r>
            <a:r>
              <a:rPr kumimoji="1" lang="en-GB" altLang="zh-CN" sz="1200" dirty="0">
                <a:solidFill>
                  <a:schemeClr val="accent4"/>
                </a:solidFill>
                <a:latin typeface="+mn-ea"/>
                <a:ea typeface="+mn-ea"/>
              </a:rPr>
              <a:t>AI</a:t>
            </a:r>
            <a:r>
              <a:rPr kumimoji="1" lang="zh-CN" altLang="en-US" sz="1200" dirty="0">
                <a:solidFill>
                  <a:schemeClr val="accent4"/>
                </a:solidFill>
                <a:latin typeface="+mn-ea"/>
                <a:ea typeface="+mn-ea"/>
              </a:rPr>
              <a:t>使用信心等方面，均明显优于仅停留在工具部署阶段的企业。</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5"/>
          <p:cNvSpPr/>
          <p:nvPr/>
        </p:nvSpPr>
        <p:spPr>
          <a:xfrm>
            <a:off x="363151" y="1293341"/>
            <a:ext cx="8461996" cy="1771094"/>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2" name="标题 1"/>
          <p:cNvSpPr>
            <a:spLocks noGrp="1"/>
          </p:cNvSpPr>
          <p:nvPr>
            <p:ph type="title"/>
          </p:nvPr>
        </p:nvSpPr>
        <p:spPr/>
        <p:txBody>
          <a:bodyPr/>
          <a:lstStyle/>
          <a:p>
            <a:r>
              <a:rPr lang="zh-CN" altLang="en-US" dirty="0"/>
              <a:t>我们需要企业级的</a:t>
            </a:r>
            <a:r>
              <a:rPr lang="en-US" altLang="zh-CN" dirty="0"/>
              <a:t>AI</a:t>
            </a:r>
            <a:r>
              <a:rPr lang="zh-CN" altLang="en-US" dirty="0"/>
              <a:t>操作系统</a:t>
            </a:r>
          </a:p>
        </p:txBody>
      </p:sp>
      <p:sp>
        <p:nvSpPr>
          <p:cNvPr id="6" name="文本框 5"/>
          <p:cNvSpPr txBox="1"/>
          <p:nvPr/>
        </p:nvSpPr>
        <p:spPr>
          <a:xfrm>
            <a:off x="363151" y="3259646"/>
            <a:ext cx="5993949" cy="874407"/>
          </a:xfrm>
          <a:prstGeom prst="rect">
            <a:avLst/>
          </a:prstGeom>
          <a:noFill/>
        </p:spPr>
        <p:txBody>
          <a:bodyPr wrap="none" rtlCol="0">
            <a:spAutoFit/>
          </a:bodyPr>
          <a:lstStyle/>
          <a:p>
            <a:pPr>
              <a:lnSpc>
                <a:spcPct val="150000"/>
              </a:lnSpc>
            </a:pPr>
            <a:r>
              <a:rPr lang="zh-CN" altLang="en-US" sz="1800" b="1">
                <a:solidFill>
                  <a:schemeClr val="accent1"/>
                </a:solidFill>
                <a:latin typeface="+mj-ea"/>
                <a:ea typeface="+mj-ea"/>
              </a:rPr>
              <a:t>资管行业不能只做</a:t>
            </a:r>
            <a:r>
              <a:rPr lang="en-GB" altLang="zh-CN" sz="1800" b="1">
                <a:solidFill>
                  <a:schemeClr val="accent1"/>
                </a:solidFill>
                <a:latin typeface="+mj-ea"/>
                <a:ea typeface="+mj-ea"/>
              </a:rPr>
              <a:t>AI</a:t>
            </a:r>
            <a:r>
              <a:rPr lang="zh-CN" altLang="en-US" sz="1800" b="1">
                <a:solidFill>
                  <a:schemeClr val="accent1"/>
                </a:solidFill>
                <a:latin typeface="+mj-ea"/>
                <a:ea typeface="+mj-ea"/>
              </a:rPr>
              <a:t>外挂，</a:t>
            </a:r>
            <a:endParaRPr lang="en-US" altLang="zh-CN" sz="1800" b="1">
              <a:solidFill>
                <a:schemeClr val="accent1"/>
              </a:solidFill>
              <a:latin typeface="+mj-ea"/>
              <a:ea typeface="+mj-ea"/>
            </a:endParaRPr>
          </a:p>
          <a:p>
            <a:pPr>
              <a:lnSpc>
                <a:spcPct val="150000"/>
              </a:lnSpc>
            </a:pPr>
            <a:r>
              <a:rPr lang="zh-CN" altLang="en-US" sz="1800" b="1">
                <a:solidFill>
                  <a:schemeClr val="accent1"/>
                </a:solidFill>
                <a:latin typeface="+mj-ea"/>
                <a:ea typeface="+mj-ea"/>
              </a:rPr>
              <a:t>而要</a:t>
            </a:r>
            <a:r>
              <a:rPr lang="zh-CN" altLang="en-US" sz="1800" b="1">
                <a:solidFill>
                  <a:schemeClr val="accent3"/>
                </a:solidFill>
                <a:latin typeface="+mj-ea"/>
                <a:ea typeface="+mj-ea"/>
              </a:rPr>
              <a:t>建设企业级</a:t>
            </a:r>
            <a:r>
              <a:rPr lang="en-GB" altLang="zh-CN" sz="1800" b="1">
                <a:solidFill>
                  <a:schemeClr val="accent3"/>
                </a:solidFill>
                <a:latin typeface="+mj-ea"/>
                <a:ea typeface="+mj-ea"/>
              </a:rPr>
              <a:t>AI</a:t>
            </a:r>
            <a:r>
              <a:rPr lang="zh-CN" altLang="en-US" sz="1800" b="1">
                <a:solidFill>
                  <a:schemeClr val="accent3"/>
                </a:solidFill>
                <a:latin typeface="+mj-ea"/>
                <a:ea typeface="+mj-ea"/>
              </a:rPr>
              <a:t>操作系统</a:t>
            </a:r>
            <a:r>
              <a:rPr lang="zh-CN" altLang="en-US" sz="1800" b="1">
                <a:solidFill>
                  <a:schemeClr val="accent1"/>
                </a:solidFill>
                <a:latin typeface="+mj-ea"/>
                <a:ea typeface="+mj-ea"/>
              </a:rPr>
              <a:t>，为</a:t>
            </a:r>
            <a:r>
              <a:rPr lang="en-US" altLang="zh-CN" sz="1800" b="1">
                <a:solidFill>
                  <a:schemeClr val="accent1"/>
                </a:solidFill>
                <a:latin typeface="+mj-ea"/>
                <a:ea typeface="+mj-ea"/>
              </a:rPr>
              <a:t>AI</a:t>
            </a:r>
            <a:r>
              <a:rPr lang="zh-CN" altLang="en-US" sz="1800" b="1">
                <a:solidFill>
                  <a:schemeClr val="accent1"/>
                </a:solidFill>
                <a:latin typeface="+mj-ea"/>
                <a:ea typeface="+mj-ea"/>
              </a:rPr>
              <a:t>提供优渥的生长土壤。</a:t>
            </a:r>
            <a:endParaRPr lang="en-US" altLang="zh-CN" sz="1800" b="1">
              <a:solidFill>
                <a:schemeClr val="accent1"/>
              </a:solidFill>
              <a:latin typeface="+mj-ea"/>
              <a:ea typeface="+mj-ea"/>
            </a:endParaRPr>
          </a:p>
        </p:txBody>
      </p:sp>
      <p:sp>
        <p:nvSpPr>
          <p:cNvPr id="14" name="TextBox 18"/>
          <p:cNvSpPr txBox="1"/>
          <p:nvPr/>
        </p:nvSpPr>
        <p:spPr>
          <a:xfrm>
            <a:off x="899722" y="1614185"/>
            <a:ext cx="1649095" cy="185420"/>
          </a:xfrm>
          <a:prstGeom prst="rect">
            <a:avLst/>
          </a:prstGeom>
          <a:solidFill>
            <a:srgbClr val="000000">
              <a:alpha val="0"/>
            </a:srgbClr>
          </a:solidFill>
        </p:spPr>
        <p:txBody>
          <a:bodyPr lIns="0" tIns="0" rIns="0" bIns="0" rtlCol="0" anchor="ctr"/>
          <a:lstStyle/>
          <a:p>
            <a:pPr indent="0">
              <a:lnSpc>
                <a:spcPct val="120000"/>
              </a:lnSpc>
              <a:defRPr/>
            </a:pPr>
            <a:r>
              <a:rPr lang="en-US" sz="1400" b="1" dirty="0" err="1">
                <a:solidFill>
                  <a:schemeClr val="accent1"/>
                </a:solidFill>
                <a:latin typeface="+mn-ea"/>
                <a:ea typeface="+mn-ea"/>
              </a:rPr>
              <a:t>打破系统孤岛</a:t>
            </a:r>
            <a:endParaRPr lang="en-US" sz="1400" b="1" dirty="0">
              <a:solidFill>
                <a:schemeClr val="accent1"/>
              </a:solidFill>
              <a:latin typeface="+mn-ea"/>
              <a:ea typeface="+mn-ea"/>
            </a:endParaRPr>
          </a:p>
        </p:txBody>
      </p:sp>
      <p:sp>
        <p:nvSpPr>
          <p:cNvPr id="16" name="TextBox 19"/>
          <p:cNvSpPr txBox="1"/>
          <p:nvPr/>
        </p:nvSpPr>
        <p:spPr>
          <a:xfrm>
            <a:off x="3054372" y="1614185"/>
            <a:ext cx="1649095" cy="185420"/>
          </a:xfrm>
          <a:prstGeom prst="rect">
            <a:avLst/>
          </a:prstGeom>
          <a:solidFill>
            <a:srgbClr val="000000">
              <a:alpha val="0"/>
            </a:srgbClr>
          </a:solidFill>
        </p:spPr>
        <p:txBody>
          <a:bodyPr lIns="0" tIns="0" rIns="0" bIns="0" rtlCol="0" anchor="ctr"/>
          <a:lstStyle/>
          <a:p>
            <a:pPr indent="0">
              <a:lnSpc>
                <a:spcPct val="120000"/>
              </a:lnSpc>
              <a:defRPr/>
            </a:pPr>
            <a:r>
              <a:rPr lang="en-US" sz="1400" b="1">
                <a:solidFill>
                  <a:schemeClr val="accent1"/>
                </a:solidFill>
                <a:latin typeface="+mn-ea"/>
                <a:ea typeface="+mn-ea"/>
              </a:rPr>
              <a:t>能力跨越升级</a:t>
            </a:r>
          </a:p>
        </p:txBody>
      </p:sp>
      <p:sp>
        <p:nvSpPr>
          <p:cNvPr id="17" name="TextBox 20"/>
          <p:cNvSpPr txBox="1"/>
          <p:nvPr/>
        </p:nvSpPr>
        <p:spPr>
          <a:xfrm>
            <a:off x="5059934" y="1614185"/>
            <a:ext cx="1649095" cy="185420"/>
          </a:xfrm>
          <a:prstGeom prst="rect">
            <a:avLst/>
          </a:prstGeom>
          <a:solidFill>
            <a:srgbClr val="000000">
              <a:alpha val="0"/>
            </a:srgbClr>
          </a:solidFill>
        </p:spPr>
        <p:txBody>
          <a:bodyPr lIns="0" tIns="0" rIns="0" bIns="0" rtlCol="0" anchor="ctr"/>
          <a:lstStyle/>
          <a:p>
            <a:pPr indent="0">
              <a:lnSpc>
                <a:spcPct val="120000"/>
              </a:lnSpc>
              <a:defRPr/>
            </a:pPr>
            <a:r>
              <a:rPr lang="en-US" sz="1400" b="1">
                <a:solidFill>
                  <a:schemeClr val="accent1"/>
                </a:solidFill>
                <a:latin typeface="+mn-ea"/>
                <a:ea typeface="+mn-ea"/>
              </a:rPr>
              <a:t>知识资产沉淀</a:t>
            </a:r>
          </a:p>
        </p:txBody>
      </p:sp>
      <p:sp>
        <p:nvSpPr>
          <p:cNvPr id="18" name="TextBox 21"/>
          <p:cNvSpPr txBox="1"/>
          <p:nvPr/>
        </p:nvSpPr>
        <p:spPr>
          <a:xfrm>
            <a:off x="7161714" y="1614185"/>
            <a:ext cx="1649095" cy="185420"/>
          </a:xfrm>
          <a:prstGeom prst="rect">
            <a:avLst/>
          </a:prstGeom>
          <a:solidFill>
            <a:srgbClr val="000000">
              <a:alpha val="0"/>
            </a:srgbClr>
          </a:solidFill>
        </p:spPr>
        <p:txBody>
          <a:bodyPr lIns="0" tIns="0" rIns="0" bIns="0" rtlCol="0" anchor="ctr"/>
          <a:lstStyle/>
          <a:p>
            <a:pPr indent="0">
              <a:lnSpc>
                <a:spcPct val="120000"/>
              </a:lnSpc>
              <a:defRPr/>
            </a:pPr>
            <a:r>
              <a:rPr lang="en-US" sz="1400" b="1">
                <a:solidFill>
                  <a:schemeClr val="accent1"/>
                </a:solidFill>
                <a:latin typeface="+mn-ea"/>
                <a:ea typeface="+mn-ea"/>
              </a:rPr>
              <a:t>业务效率革命</a:t>
            </a:r>
          </a:p>
        </p:txBody>
      </p:sp>
      <p:sp>
        <p:nvSpPr>
          <p:cNvPr id="22" name="TextBox 22"/>
          <p:cNvSpPr txBox="1"/>
          <p:nvPr/>
        </p:nvSpPr>
        <p:spPr>
          <a:xfrm>
            <a:off x="522736" y="2091615"/>
            <a:ext cx="1894188" cy="972820"/>
          </a:xfrm>
          <a:prstGeom prst="rect">
            <a:avLst/>
          </a:prstGeom>
          <a:solidFill>
            <a:srgbClr val="000000">
              <a:alpha val="0"/>
            </a:srgbClr>
          </a:solidFill>
        </p:spPr>
        <p:txBody>
          <a:bodyPr lIns="0" tIns="0" rIns="0" bIns="0" rtlCol="0" anchor="t" anchorCtr="0"/>
          <a:lstStyle/>
          <a:p>
            <a:pPr indent="0" algn="l">
              <a:lnSpc>
                <a:spcPct val="150000"/>
              </a:lnSpc>
              <a:defRPr/>
            </a:pPr>
            <a:r>
              <a:rPr lang="en-US" sz="1050">
                <a:solidFill>
                  <a:schemeClr val="accent4"/>
                </a:solidFill>
                <a:latin typeface="+mn-ea"/>
                <a:ea typeface="+mn-ea"/>
                <a:cs typeface="+mn-ea"/>
              </a:rPr>
              <a:t>消除部门间的数据壁垒，实现企业级资源统一调度与协同，使得</a:t>
            </a:r>
            <a:r>
              <a:rPr lang="en-US" sz="1050">
                <a:solidFill>
                  <a:schemeClr val="accent4"/>
                </a:solidFill>
                <a:latin typeface="+mn-ea"/>
                <a:ea typeface="&quot;Nunito Sans&quot;"/>
                <a:cs typeface="+mn-ea"/>
              </a:rPr>
              <a:t>AI</a:t>
            </a:r>
            <a:r>
              <a:rPr lang="en-US" sz="1050">
                <a:solidFill>
                  <a:schemeClr val="accent4"/>
                </a:solidFill>
                <a:latin typeface="+mn-ea"/>
                <a:ea typeface="+mn-ea"/>
                <a:cs typeface="+mn-ea"/>
              </a:rPr>
              <a:t>能够跨系统理解业务全景</a:t>
            </a:r>
          </a:p>
        </p:txBody>
      </p:sp>
      <p:sp>
        <p:nvSpPr>
          <p:cNvPr id="26" name="TextBox 23"/>
          <p:cNvSpPr txBox="1"/>
          <p:nvPr/>
        </p:nvSpPr>
        <p:spPr>
          <a:xfrm>
            <a:off x="2677386" y="2091615"/>
            <a:ext cx="1821481" cy="972820"/>
          </a:xfrm>
          <a:prstGeom prst="rect">
            <a:avLst/>
          </a:prstGeom>
          <a:solidFill>
            <a:srgbClr val="000000">
              <a:alpha val="0"/>
            </a:srgbClr>
          </a:solidFill>
        </p:spPr>
        <p:txBody>
          <a:bodyPr lIns="0" tIns="0" rIns="0" bIns="0" rtlCol="0" anchor="t" anchorCtr="0"/>
          <a:lstStyle/>
          <a:p>
            <a:pPr indent="0" algn="l">
              <a:lnSpc>
                <a:spcPct val="150000"/>
              </a:lnSpc>
              <a:defRPr/>
            </a:pPr>
            <a:r>
              <a:rPr lang="en-US" sz="1050">
                <a:solidFill>
                  <a:schemeClr val="accent4"/>
                </a:solidFill>
                <a:latin typeface="+mn-ea"/>
                <a:ea typeface="+mn-ea"/>
                <a:cs typeface="+mn-ea"/>
              </a:rPr>
              <a:t>从被动的辅助工具演进为主动的智能助手，最终实现自主决策与执行的</a:t>
            </a:r>
            <a:r>
              <a:rPr lang="en-US" sz="1050">
                <a:solidFill>
                  <a:schemeClr val="accent4"/>
                </a:solidFill>
                <a:latin typeface="+mn-ea"/>
                <a:ea typeface="&quot;Nunito Sans&quot;"/>
                <a:cs typeface="+mn-ea"/>
              </a:rPr>
              <a:t>Agent</a:t>
            </a:r>
            <a:r>
              <a:rPr lang="en-US" sz="1050">
                <a:solidFill>
                  <a:schemeClr val="accent4"/>
                </a:solidFill>
                <a:latin typeface="+mn-ea"/>
                <a:ea typeface="+mn-ea"/>
                <a:cs typeface="+mn-ea"/>
              </a:rPr>
              <a:t>劳动力</a:t>
            </a:r>
          </a:p>
        </p:txBody>
      </p:sp>
      <p:sp>
        <p:nvSpPr>
          <p:cNvPr id="27" name="TextBox 24"/>
          <p:cNvSpPr txBox="1"/>
          <p:nvPr/>
        </p:nvSpPr>
        <p:spPr>
          <a:xfrm>
            <a:off x="4682948" y="2091615"/>
            <a:ext cx="1917699" cy="972820"/>
          </a:xfrm>
          <a:prstGeom prst="rect">
            <a:avLst/>
          </a:prstGeom>
          <a:solidFill>
            <a:srgbClr val="000000">
              <a:alpha val="0"/>
            </a:srgbClr>
          </a:solidFill>
        </p:spPr>
        <p:txBody>
          <a:bodyPr lIns="0" tIns="0" rIns="0" bIns="0" rtlCol="0" anchor="t" anchorCtr="0"/>
          <a:lstStyle/>
          <a:p>
            <a:pPr indent="0" algn="just">
              <a:lnSpc>
                <a:spcPct val="150000"/>
              </a:lnSpc>
              <a:defRPr/>
            </a:pPr>
            <a:r>
              <a:rPr lang="en-US" sz="1050">
                <a:solidFill>
                  <a:schemeClr val="accent4"/>
                </a:solidFill>
                <a:latin typeface="+mn-ea"/>
                <a:ea typeface="+mn-ea"/>
              </a:rPr>
              <a:t>将组织经验、流程与数据转化为结构化的语义资产，形成企业级知识图谱，持续积累与增值</a:t>
            </a:r>
          </a:p>
        </p:txBody>
      </p:sp>
      <p:sp>
        <p:nvSpPr>
          <p:cNvPr id="28" name="TextBox 25"/>
          <p:cNvSpPr txBox="1"/>
          <p:nvPr/>
        </p:nvSpPr>
        <p:spPr>
          <a:xfrm>
            <a:off x="6784728" y="2091615"/>
            <a:ext cx="1987549" cy="972820"/>
          </a:xfrm>
          <a:prstGeom prst="rect">
            <a:avLst/>
          </a:prstGeom>
          <a:solidFill>
            <a:srgbClr val="000000">
              <a:alpha val="0"/>
            </a:srgbClr>
          </a:solidFill>
        </p:spPr>
        <p:txBody>
          <a:bodyPr lIns="0" tIns="0" rIns="0" bIns="0" rtlCol="0" anchor="t" anchorCtr="0"/>
          <a:lstStyle/>
          <a:p>
            <a:pPr indent="0" algn="l">
              <a:lnSpc>
                <a:spcPct val="150000"/>
              </a:lnSpc>
              <a:defRPr/>
            </a:pPr>
            <a:r>
              <a:rPr lang="en-US" sz="1050">
                <a:solidFill>
                  <a:schemeClr val="accent4"/>
                </a:solidFill>
                <a:latin typeface="+mn-ea"/>
                <a:ea typeface="+mn-ea"/>
              </a:rPr>
              <a:t>通过智能化任务编排与自动化执行，大幅提升运营效率，降低人力成本，创造新的业务价值</a:t>
            </a:r>
          </a:p>
        </p:txBody>
      </p:sp>
      <p:sp>
        <p:nvSpPr>
          <p:cNvPr id="32" name="文本框 31"/>
          <p:cNvSpPr txBox="1"/>
          <p:nvPr/>
        </p:nvSpPr>
        <p:spPr>
          <a:xfrm>
            <a:off x="382009" y="1322174"/>
            <a:ext cx="498855" cy="769441"/>
          </a:xfrm>
          <a:prstGeom prst="rect">
            <a:avLst/>
          </a:prstGeom>
          <a:noFill/>
        </p:spPr>
        <p:txBody>
          <a:bodyPr wrap="none" rtlCol="0">
            <a:spAutoFit/>
          </a:bodyPr>
          <a:lstStyle/>
          <a:p>
            <a:r>
              <a:rPr kumimoji="1" lang="en-US" altLang="zh-CN" sz="4400" b="1" dirty="0">
                <a:solidFill>
                  <a:schemeClr val="accent3"/>
                </a:solidFill>
                <a:latin typeface="+mj-lt"/>
                <a:ea typeface="+mn-ea"/>
              </a:rPr>
              <a:t>1</a:t>
            </a:r>
            <a:endParaRPr kumimoji="1" lang="zh-CN" altLang="en-US" sz="4400" b="1" dirty="0">
              <a:solidFill>
                <a:schemeClr val="accent3"/>
              </a:solidFill>
              <a:latin typeface="+mj-lt"/>
              <a:ea typeface="+mn-ea"/>
            </a:endParaRPr>
          </a:p>
        </p:txBody>
      </p:sp>
      <p:sp>
        <p:nvSpPr>
          <p:cNvPr id="33" name="文本框 32"/>
          <p:cNvSpPr txBox="1"/>
          <p:nvPr/>
        </p:nvSpPr>
        <p:spPr>
          <a:xfrm>
            <a:off x="2466688" y="1322174"/>
            <a:ext cx="498855" cy="769441"/>
          </a:xfrm>
          <a:prstGeom prst="rect">
            <a:avLst/>
          </a:prstGeom>
          <a:noFill/>
        </p:spPr>
        <p:txBody>
          <a:bodyPr wrap="none" rtlCol="0">
            <a:spAutoFit/>
          </a:bodyPr>
          <a:lstStyle/>
          <a:p>
            <a:r>
              <a:rPr kumimoji="1" lang="en-US" altLang="zh-CN" sz="4400" b="1" dirty="0">
                <a:solidFill>
                  <a:schemeClr val="accent3"/>
                </a:solidFill>
                <a:latin typeface="+mj-lt"/>
                <a:ea typeface="+mn-ea"/>
              </a:rPr>
              <a:t>2</a:t>
            </a:r>
            <a:endParaRPr kumimoji="1" lang="zh-CN" altLang="en-US" sz="4400" b="1" dirty="0">
              <a:solidFill>
                <a:schemeClr val="accent3"/>
              </a:solidFill>
              <a:latin typeface="+mj-lt"/>
              <a:ea typeface="+mn-ea"/>
            </a:endParaRPr>
          </a:p>
        </p:txBody>
      </p:sp>
      <p:sp>
        <p:nvSpPr>
          <p:cNvPr id="34" name="文本框 33"/>
          <p:cNvSpPr txBox="1"/>
          <p:nvPr/>
        </p:nvSpPr>
        <p:spPr>
          <a:xfrm>
            <a:off x="4490812" y="1322174"/>
            <a:ext cx="498855" cy="769441"/>
          </a:xfrm>
          <a:prstGeom prst="rect">
            <a:avLst/>
          </a:prstGeom>
          <a:noFill/>
        </p:spPr>
        <p:txBody>
          <a:bodyPr wrap="none" rtlCol="0">
            <a:spAutoFit/>
          </a:bodyPr>
          <a:lstStyle/>
          <a:p>
            <a:r>
              <a:rPr kumimoji="1" lang="en-US" altLang="zh-CN" sz="4400" b="1" dirty="0">
                <a:solidFill>
                  <a:schemeClr val="accent3"/>
                </a:solidFill>
                <a:latin typeface="+mj-lt"/>
                <a:ea typeface="+mn-ea"/>
              </a:rPr>
              <a:t>3</a:t>
            </a:r>
            <a:endParaRPr kumimoji="1" lang="zh-CN" altLang="en-US" sz="4400" b="1" dirty="0">
              <a:solidFill>
                <a:schemeClr val="accent3"/>
              </a:solidFill>
              <a:latin typeface="+mj-lt"/>
              <a:ea typeface="+mn-ea"/>
            </a:endParaRPr>
          </a:p>
        </p:txBody>
      </p:sp>
      <p:sp>
        <p:nvSpPr>
          <p:cNvPr id="35" name="文本框 34"/>
          <p:cNvSpPr txBox="1"/>
          <p:nvPr/>
        </p:nvSpPr>
        <p:spPr>
          <a:xfrm>
            <a:off x="6591461" y="1322174"/>
            <a:ext cx="498855" cy="769441"/>
          </a:xfrm>
          <a:prstGeom prst="rect">
            <a:avLst/>
          </a:prstGeom>
          <a:noFill/>
        </p:spPr>
        <p:txBody>
          <a:bodyPr wrap="none" rtlCol="0">
            <a:spAutoFit/>
          </a:bodyPr>
          <a:lstStyle/>
          <a:p>
            <a:r>
              <a:rPr kumimoji="1" lang="en-US" altLang="zh-CN" sz="4400" b="1" dirty="0">
                <a:solidFill>
                  <a:schemeClr val="accent3"/>
                </a:solidFill>
                <a:latin typeface="+mj-lt"/>
                <a:ea typeface="+mn-ea"/>
              </a:rPr>
              <a:t>4</a:t>
            </a:r>
            <a:endParaRPr kumimoji="1" lang="zh-CN" altLang="en-US" sz="4400" b="1" dirty="0">
              <a:solidFill>
                <a:schemeClr val="accent3"/>
              </a:solidFill>
              <a:latin typeface="+mj-lt"/>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企业级</a:t>
            </a:r>
            <a:r>
              <a:rPr lang="en-US" altLang="zh-CN" dirty="0"/>
              <a:t>AI</a:t>
            </a:r>
            <a:r>
              <a:rPr lang="zh-CN" altLang="en-US" dirty="0"/>
              <a:t>操作系统的</a:t>
            </a:r>
            <a:r>
              <a:rPr lang="zh-CN" altLang="en-US" b="1"/>
              <a:t>六大核心能力</a:t>
            </a:r>
            <a:endParaRPr lang="zh-CN" altLang="en-US" dirty="0"/>
          </a:p>
        </p:txBody>
      </p:sp>
      <p:sp>
        <p:nvSpPr>
          <p:cNvPr id="11" name="AutoShape 5"/>
          <p:cNvSpPr/>
          <p:nvPr/>
        </p:nvSpPr>
        <p:spPr>
          <a:xfrm>
            <a:off x="520578" y="1495128"/>
            <a:ext cx="2562011" cy="1432129"/>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3" name="AutoShape 7"/>
          <p:cNvSpPr/>
          <p:nvPr/>
        </p:nvSpPr>
        <p:spPr>
          <a:xfrm>
            <a:off x="3272368" y="1495128"/>
            <a:ext cx="2562011" cy="1432129"/>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AutoShape 9"/>
          <p:cNvSpPr/>
          <p:nvPr/>
        </p:nvSpPr>
        <p:spPr>
          <a:xfrm>
            <a:off x="6024158" y="1495128"/>
            <a:ext cx="2562011" cy="1432129"/>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710357" y="1698970"/>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400" b="1">
                <a:solidFill>
                  <a:schemeClr val="accent1"/>
                </a:solidFill>
                <a:latin typeface="+mj-ea"/>
                <a:ea typeface="+mj-ea"/>
              </a:rPr>
              <a:t>业务理解与任务规划</a:t>
            </a:r>
          </a:p>
        </p:txBody>
      </p:sp>
      <p:sp>
        <p:nvSpPr>
          <p:cNvPr id="20" name="TextBox 15"/>
          <p:cNvSpPr txBox="1"/>
          <p:nvPr/>
        </p:nvSpPr>
        <p:spPr>
          <a:xfrm>
            <a:off x="3462145" y="1698970"/>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400" b="1">
                <a:solidFill>
                  <a:schemeClr val="accent1"/>
                </a:solidFill>
                <a:latin typeface="+mj-ea"/>
                <a:ea typeface="+mj-ea"/>
              </a:rPr>
              <a:t>工具连接与系统调用</a:t>
            </a:r>
          </a:p>
        </p:txBody>
      </p:sp>
      <p:sp>
        <p:nvSpPr>
          <p:cNvPr id="21" name="TextBox 16"/>
          <p:cNvSpPr txBox="1"/>
          <p:nvPr/>
        </p:nvSpPr>
        <p:spPr>
          <a:xfrm>
            <a:off x="6213936" y="1698970"/>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400" b="1">
                <a:solidFill>
                  <a:schemeClr val="accent1"/>
                </a:solidFill>
                <a:latin typeface="+mj-ea"/>
                <a:ea typeface="+mj-ea"/>
              </a:rPr>
              <a:t>语义记忆与知识管理</a:t>
            </a:r>
          </a:p>
        </p:txBody>
      </p:sp>
      <p:sp>
        <p:nvSpPr>
          <p:cNvPr id="23" name="TextBox 18"/>
          <p:cNvSpPr txBox="1"/>
          <p:nvPr/>
        </p:nvSpPr>
        <p:spPr>
          <a:xfrm>
            <a:off x="710357" y="2040164"/>
            <a:ext cx="218245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dirty="0">
                <a:solidFill>
                  <a:schemeClr val="accent4"/>
                </a:solidFill>
                <a:latin typeface="+mj-ea"/>
                <a:ea typeface="+mj-ea"/>
              </a:rPr>
              <a:t>理解资管业务语言、场景目标和约束条件，将自然语言需求转化为可执行的任务计划和交付标准。</a:t>
            </a:r>
          </a:p>
        </p:txBody>
      </p:sp>
      <p:sp>
        <p:nvSpPr>
          <p:cNvPr id="3" name="矩形 2"/>
          <p:cNvSpPr/>
          <p:nvPr/>
        </p:nvSpPr>
        <p:spPr bwMode="auto">
          <a:xfrm>
            <a:off x="520578" y="1495128"/>
            <a:ext cx="2562011" cy="76200"/>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4" name="矩形 3"/>
          <p:cNvSpPr/>
          <p:nvPr/>
        </p:nvSpPr>
        <p:spPr bwMode="auto">
          <a:xfrm>
            <a:off x="3270879" y="1495128"/>
            <a:ext cx="2562011" cy="76200"/>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5" name="矩形 4"/>
          <p:cNvSpPr/>
          <p:nvPr/>
        </p:nvSpPr>
        <p:spPr bwMode="auto">
          <a:xfrm>
            <a:off x="6023911" y="1495128"/>
            <a:ext cx="2562011" cy="76200"/>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6" name="AutoShape 5"/>
          <p:cNvSpPr/>
          <p:nvPr/>
        </p:nvSpPr>
        <p:spPr>
          <a:xfrm>
            <a:off x="520578" y="3089837"/>
            <a:ext cx="2562011" cy="1432129"/>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8" name="AutoShape 7"/>
          <p:cNvSpPr/>
          <p:nvPr/>
        </p:nvSpPr>
        <p:spPr>
          <a:xfrm>
            <a:off x="3272368" y="3089837"/>
            <a:ext cx="2562011" cy="1432129"/>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9" name="AutoShape 9"/>
          <p:cNvSpPr/>
          <p:nvPr/>
        </p:nvSpPr>
        <p:spPr>
          <a:xfrm>
            <a:off x="6024158" y="3089837"/>
            <a:ext cx="2562011" cy="1432129"/>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0" name="矩形 9"/>
          <p:cNvSpPr/>
          <p:nvPr/>
        </p:nvSpPr>
        <p:spPr bwMode="auto">
          <a:xfrm>
            <a:off x="520578" y="3089837"/>
            <a:ext cx="2562011" cy="76200"/>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accent4"/>
              </a:solidFill>
              <a:effectLst/>
              <a:latin typeface="Arial" charset="0"/>
              <a:ea typeface="MS PGothic" charset="0"/>
              <a:cs typeface="MS PGothic" charset="0"/>
            </a:endParaRPr>
          </a:p>
        </p:txBody>
      </p:sp>
      <p:sp>
        <p:nvSpPr>
          <p:cNvPr id="12" name="矩形 11"/>
          <p:cNvSpPr/>
          <p:nvPr/>
        </p:nvSpPr>
        <p:spPr bwMode="auto">
          <a:xfrm>
            <a:off x="3270879" y="3089837"/>
            <a:ext cx="2562011" cy="76200"/>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4" name="矩形 13"/>
          <p:cNvSpPr/>
          <p:nvPr/>
        </p:nvSpPr>
        <p:spPr bwMode="auto">
          <a:xfrm>
            <a:off x="6023911" y="3089837"/>
            <a:ext cx="2562011" cy="76200"/>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6" name="TextBox 14"/>
          <p:cNvSpPr txBox="1"/>
          <p:nvPr/>
        </p:nvSpPr>
        <p:spPr>
          <a:xfrm>
            <a:off x="6212521" y="3301561"/>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400" b="1" dirty="0">
                <a:solidFill>
                  <a:schemeClr val="accent1"/>
                </a:solidFill>
                <a:latin typeface="+mj-ea"/>
                <a:ea typeface="+mj-ea"/>
              </a:rPr>
              <a:t>多</a:t>
            </a:r>
            <a:r>
              <a:rPr lang="zh-CN" altLang="en-GB" sz="1400" b="1" dirty="0">
                <a:solidFill>
                  <a:schemeClr val="accent1"/>
                </a:solidFill>
                <a:latin typeface="+mj-ea"/>
                <a:ea typeface="+mj-ea"/>
              </a:rPr>
              <a:t>智能体</a:t>
            </a:r>
            <a:r>
              <a:rPr lang="zh-CN" altLang="en-US" sz="1400" b="1" dirty="0">
                <a:solidFill>
                  <a:schemeClr val="accent1"/>
                </a:solidFill>
                <a:latin typeface="+mj-ea"/>
                <a:ea typeface="+mj-ea"/>
              </a:rPr>
              <a:t>协同与流程编排</a:t>
            </a:r>
          </a:p>
        </p:txBody>
      </p:sp>
      <p:sp>
        <p:nvSpPr>
          <p:cNvPr id="17" name="TextBox 18"/>
          <p:cNvSpPr txBox="1"/>
          <p:nvPr/>
        </p:nvSpPr>
        <p:spPr>
          <a:xfrm>
            <a:off x="6212521" y="3642755"/>
            <a:ext cx="218245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dirty="0">
                <a:solidFill>
                  <a:schemeClr val="accent4"/>
                </a:solidFill>
                <a:latin typeface="+mj-ea"/>
                <a:ea typeface="+mj-ea"/>
              </a:rPr>
              <a:t>组织多个</a:t>
            </a:r>
            <a:r>
              <a:rPr lang="en-GB" altLang="zh-CN" sz="1000" dirty="0">
                <a:solidFill>
                  <a:schemeClr val="accent4"/>
                </a:solidFill>
                <a:latin typeface="+mj-ea"/>
                <a:ea typeface="+mj-ea"/>
              </a:rPr>
              <a:t>Agent</a:t>
            </a:r>
            <a:r>
              <a:rPr lang="zh-CN" altLang="en-US" sz="1000" dirty="0">
                <a:solidFill>
                  <a:schemeClr val="accent4"/>
                </a:solidFill>
                <a:latin typeface="+mj-ea"/>
                <a:ea typeface="+mj-ea"/>
              </a:rPr>
              <a:t>分工协作，完成跨部门、跨系统、跨步骤任务，并跟踪状态、处理异常。</a:t>
            </a:r>
          </a:p>
        </p:txBody>
      </p:sp>
      <p:sp>
        <p:nvSpPr>
          <p:cNvPr id="18" name="TextBox 14"/>
          <p:cNvSpPr txBox="1"/>
          <p:nvPr/>
        </p:nvSpPr>
        <p:spPr>
          <a:xfrm>
            <a:off x="3453557" y="3301561"/>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400" b="1">
                <a:solidFill>
                  <a:schemeClr val="accent1"/>
                </a:solidFill>
                <a:latin typeface="+mj-ea"/>
                <a:ea typeface="+mj-ea"/>
              </a:rPr>
              <a:t>权限治理与安全审计</a:t>
            </a:r>
          </a:p>
        </p:txBody>
      </p:sp>
      <p:sp>
        <p:nvSpPr>
          <p:cNvPr id="22" name="TextBox 18"/>
          <p:cNvSpPr txBox="1"/>
          <p:nvPr/>
        </p:nvSpPr>
        <p:spPr>
          <a:xfrm>
            <a:off x="3453557" y="3642755"/>
            <a:ext cx="218245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a:solidFill>
                  <a:schemeClr val="accent4"/>
                </a:solidFill>
                <a:latin typeface="+mj-ea"/>
                <a:ea typeface="+mj-ea"/>
              </a:rPr>
              <a:t>围绕身份、数据、工具和任务建立权限边界，记录关键决策与操作轨迹，确保可控可追溯。</a:t>
            </a:r>
          </a:p>
        </p:txBody>
      </p:sp>
      <p:sp>
        <p:nvSpPr>
          <p:cNvPr id="27" name="TextBox 14"/>
          <p:cNvSpPr txBox="1"/>
          <p:nvPr/>
        </p:nvSpPr>
        <p:spPr>
          <a:xfrm>
            <a:off x="710356" y="3341452"/>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400" b="1" dirty="0">
                <a:solidFill>
                  <a:schemeClr val="accent1"/>
                </a:solidFill>
                <a:latin typeface="+mj-ea"/>
                <a:ea typeface="+mj-ea"/>
              </a:rPr>
              <a:t>反馈学习与持续进化</a:t>
            </a:r>
          </a:p>
        </p:txBody>
      </p:sp>
      <p:sp>
        <p:nvSpPr>
          <p:cNvPr id="28" name="TextBox 18"/>
          <p:cNvSpPr txBox="1"/>
          <p:nvPr/>
        </p:nvSpPr>
        <p:spPr>
          <a:xfrm>
            <a:off x="710356" y="3682646"/>
            <a:ext cx="218245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a:solidFill>
                  <a:schemeClr val="accent4"/>
                </a:solidFill>
                <a:latin typeface="+mj-ea"/>
                <a:ea typeface="+mj-ea"/>
              </a:rPr>
              <a:t>从反馈、结果、错误案例和运行日志中提炼经验，持续优化</a:t>
            </a:r>
            <a:r>
              <a:rPr lang="en-GB" altLang="zh-CN" sz="1000">
                <a:solidFill>
                  <a:schemeClr val="accent4"/>
                </a:solidFill>
                <a:latin typeface="+mj-ea"/>
                <a:ea typeface="+mj-ea"/>
              </a:rPr>
              <a:t>Prompt</a:t>
            </a:r>
            <a:r>
              <a:rPr lang="zh-CN" altLang="en-GB" sz="1000">
                <a:solidFill>
                  <a:schemeClr val="accent4"/>
                </a:solidFill>
                <a:latin typeface="+mj-ea"/>
                <a:ea typeface="+mj-ea"/>
              </a:rPr>
              <a:t>、</a:t>
            </a:r>
            <a:r>
              <a:rPr lang="en-GB" altLang="zh-CN" sz="1000">
                <a:solidFill>
                  <a:schemeClr val="accent4"/>
                </a:solidFill>
                <a:latin typeface="+mj-ea"/>
                <a:ea typeface="+mj-ea"/>
              </a:rPr>
              <a:t>Skill</a:t>
            </a:r>
            <a:r>
              <a:rPr lang="zh-CN" altLang="en-GB" sz="1000">
                <a:solidFill>
                  <a:schemeClr val="accent4"/>
                </a:solidFill>
                <a:latin typeface="+mj-ea"/>
                <a:ea typeface="+mj-ea"/>
              </a:rPr>
              <a:t>、</a:t>
            </a:r>
            <a:r>
              <a:rPr lang="zh-CN" altLang="en-US" sz="1000">
                <a:solidFill>
                  <a:schemeClr val="accent4"/>
                </a:solidFill>
                <a:latin typeface="+mj-ea"/>
                <a:ea typeface="+mj-ea"/>
              </a:rPr>
              <a:t>模型和工作流。</a:t>
            </a:r>
          </a:p>
        </p:txBody>
      </p:sp>
      <p:sp>
        <p:nvSpPr>
          <p:cNvPr id="29" name="TextBox 18"/>
          <p:cNvSpPr txBox="1"/>
          <p:nvPr/>
        </p:nvSpPr>
        <p:spPr>
          <a:xfrm>
            <a:off x="3453557" y="2048047"/>
            <a:ext cx="218245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a:solidFill>
                  <a:schemeClr val="accent4"/>
                </a:solidFill>
                <a:latin typeface="+mj-ea"/>
                <a:ea typeface="+mj-ea"/>
              </a:rPr>
              <a:t>统一连接数据、模型、业务系统、办公工具和外部服务，让</a:t>
            </a:r>
            <a:r>
              <a:rPr lang="en-GB" altLang="zh-CN" sz="1000">
                <a:solidFill>
                  <a:schemeClr val="accent4"/>
                </a:solidFill>
                <a:latin typeface="+mj-ea"/>
                <a:ea typeface="+mj-ea"/>
              </a:rPr>
              <a:t>Agent</a:t>
            </a:r>
            <a:r>
              <a:rPr lang="zh-CN" altLang="en-US" sz="1000">
                <a:solidFill>
                  <a:schemeClr val="accent4"/>
                </a:solidFill>
                <a:latin typeface="+mj-ea"/>
                <a:ea typeface="+mj-ea"/>
              </a:rPr>
              <a:t>在授权范围内读取信息、推进任务。</a:t>
            </a:r>
          </a:p>
        </p:txBody>
      </p:sp>
      <p:sp>
        <p:nvSpPr>
          <p:cNvPr id="30" name="TextBox 18"/>
          <p:cNvSpPr txBox="1"/>
          <p:nvPr/>
        </p:nvSpPr>
        <p:spPr>
          <a:xfrm>
            <a:off x="6212522" y="2048047"/>
            <a:ext cx="218245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a:solidFill>
                  <a:schemeClr val="accent4"/>
                </a:solidFill>
                <a:latin typeface="+mj-ea"/>
                <a:ea typeface="+mj-ea"/>
              </a:rPr>
              <a:t>将研报、规则、策略、会议纪要和历史任务转化为可检索、可引用、可追溯的语义资产。</a:t>
            </a:r>
          </a:p>
        </p:txBody>
      </p:sp>
      <p:sp>
        <p:nvSpPr>
          <p:cNvPr id="7" name="TextBox 14"/>
          <p:cNvSpPr txBox="1"/>
          <p:nvPr/>
        </p:nvSpPr>
        <p:spPr>
          <a:xfrm>
            <a:off x="520578" y="993005"/>
            <a:ext cx="8065344" cy="330200"/>
          </a:xfrm>
          <a:prstGeom prst="rect">
            <a:avLst/>
          </a:prstGeom>
          <a:solidFill>
            <a:srgbClr val="000000">
              <a:alpha val="0"/>
            </a:srgbClr>
          </a:solidFill>
        </p:spPr>
        <p:txBody>
          <a:bodyPr lIns="0" tIns="0" rIns="0" bIns="0" rtlCol="0" anchor="ctr">
            <a:scene3d>
              <a:camera prst="orthographicFront"/>
              <a:lightRig rig="threePt" dir="t"/>
            </a:scene3d>
          </a:bodyPr>
          <a:lstStyle/>
          <a:p>
            <a:pPr indent="0" algn="l">
              <a:lnSpc>
                <a:spcPct val="120000"/>
              </a:lnSpc>
              <a:defRPr/>
            </a:pPr>
            <a:r>
              <a:rPr lang="zh-CN" altLang="en-US" sz="1400" dirty="0">
                <a:solidFill>
                  <a:schemeClr val="accent1"/>
                </a:solidFill>
                <a:effectLst/>
                <a:latin typeface="+mn-ea"/>
                <a:ea typeface="+mn-ea"/>
              </a:rPr>
              <a:t>通过“理解任务 → 连接工具 → 装载知识 → 协同编排 → 治理审计 → 反馈进化”形成系统闭环</a:t>
            </a:r>
            <a:endParaRPr lang="en-US" sz="1400" dirty="0">
              <a:solidFill>
                <a:schemeClr val="accent1"/>
              </a:solidFill>
              <a:effectLst/>
              <a:latin typeface="+mn-ea"/>
              <a:ea typeface="+mn-ea"/>
            </a:endParaRPr>
          </a:p>
        </p:txBody>
      </p:sp>
      <p:sp>
        <p:nvSpPr>
          <p:cNvPr id="24" name="右箭头 23"/>
          <p:cNvSpPr/>
          <p:nvPr/>
        </p:nvSpPr>
        <p:spPr bwMode="auto">
          <a:xfrm>
            <a:off x="2502310" y="1639685"/>
            <a:ext cx="778761" cy="394304"/>
          </a:xfrm>
          <a:prstGeom prst="rightArrow">
            <a:avLst/>
          </a:prstGeom>
          <a:gradFill flip="none" rotWithShape="1">
            <a:gsLst>
              <a:gs pos="47000">
                <a:srgbClr val="69D1ED"/>
              </a:gs>
              <a:gs pos="0">
                <a:schemeClr val="accent3"/>
              </a:gs>
              <a:gs pos="100000">
                <a:srgbClr val="DAF6FF">
                  <a:alpha val="0"/>
                </a:srgbClr>
              </a:gs>
            </a:gsLst>
            <a:lin ang="10800000" scaled="0"/>
            <a:tileRect/>
          </a:gra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5" name="右箭头 24"/>
          <p:cNvSpPr/>
          <p:nvPr/>
        </p:nvSpPr>
        <p:spPr bwMode="auto">
          <a:xfrm>
            <a:off x="5246524" y="1639685"/>
            <a:ext cx="778761" cy="394304"/>
          </a:xfrm>
          <a:prstGeom prst="rightArrow">
            <a:avLst/>
          </a:prstGeom>
          <a:gradFill flip="none" rotWithShape="1">
            <a:gsLst>
              <a:gs pos="47000">
                <a:srgbClr val="69D1ED"/>
              </a:gs>
              <a:gs pos="0">
                <a:schemeClr val="accent3"/>
              </a:gs>
              <a:gs pos="100000">
                <a:srgbClr val="DAF6FF">
                  <a:alpha val="0"/>
                </a:srgbClr>
              </a:gs>
            </a:gsLst>
            <a:lin ang="10800000" scaled="0"/>
            <a:tileRect/>
          </a:gra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6" name="右箭头 25"/>
          <p:cNvSpPr/>
          <p:nvPr/>
        </p:nvSpPr>
        <p:spPr bwMode="auto">
          <a:xfrm rot="5400000">
            <a:off x="7953625" y="2822667"/>
            <a:ext cx="681051" cy="394304"/>
          </a:xfrm>
          <a:prstGeom prst="rightArrow">
            <a:avLst/>
          </a:prstGeom>
          <a:gradFill flip="none" rotWithShape="1">
            <a:gsLst>
              <a:gs pos="47000">
                <a:srgbClr val="69D1ED"/>
              </a:gs>
              <a:gs pos="0">
                <a:schemeClr val="accent3"/>
              </a:gs>
              <a:gs pos="100000">
                <a:srgbClr val="DAF6FF">
                  <a:alpha val="0"/>
                </a:srgbClr>
              </a:gs>
            </a:gsLst>
            <a:lin ang="10800000" scaled="0"/>
            <a:tileRect/>
          </a:gra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1" name="右箭头 30"/>
          <p:cNvSpPr/>
          <p:nvPr/>
        </p:nvSpPr>
        <p:spPr bwMode="auto">
          <a:xfrm rot="10800000">
            <a:off x="5250303" y="3250750"/>
            <a:ext cx="778761" cy="394304"/>
          </a:xfrm>
          <a:prstGeom prst="rightArrow">
            <a:avLst/>
          </a:prstGeom>
          <a:gradFill flip="none" rotWithShape="1">
            <a:gsLst>
              <a:gs pos="47000">
                <a:srgbClr val="69D1ED"/>
              </a:gs>
              <a:gs pos="0">
                <a:schemeClr val="accent3"/>
              </a:gs>
              <a:gs pos="100000">
                <a:srgbClr val="DAF6FF">
                  <a:alpha val="0"/>
                </a:srgbClr>
              </a:gs>
            </a:gsLst>
            <a:lin ang="10800000" scaled="0"/>
            <a:tileRect/>
          </a:gra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2" name="右箭头 31"/>
          <p:cNvSpPr/>
          <p:nvPr/>
        </p:nvSpPr>
        <p:spPr bwMode="auto">
          <a:xfrm rot="10800000">
            <a:off x="2492354" y="3250750"/>
            <a:ext cx="778761" cy="394304"/>
          </a:xfrm>
          <a:prstGeom prst="rightArrow">
            <a:avLst/>
          </a:prstGeom>
          <a:gradFill flip="none" rotWithShape="1">
            <a:gsLst>
              <a:gs pos="47000">
                <a:srgbClr val="69D1ED"/>
              </a:gs>
              <a:gs pos="0">
                <a:schemeClr val="accent3"/>
              </a:gs>
              <a:gs pos="100000">
                <a:srgbClr val="DAF6FF">
                  <a:alpha val="0"/>
                </a:srgbClr>
              </a:gs>
            </a:gsLst>
            <a:lin ang="10800000" scaled="0"/>
            <a:tileRect/>
          </a:gra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3" name="右箭头 32"/>
          <p:cNvSpPr/>
          <p:nvPr/>
        </p:nvSpPr>
        <p:spPr bwMode="auto">
          <a:xfrm rot="16200000">
            <a:off x="526192" y="2819417"/>
            <a:ext cx="569983" cy="394304"/>
          </a:xfrm>
          <a:prstGeom prst="rightArrow">
            <a:avLst/>
          </a:prstGeom>
          <a:gradFill flip="none" rotWithShape="1">
            <a:gsLst>
              <a:gs pos="47000">
                <a:srgbClr val="69D1ED"/>
              </a:gs>
              <a:gs pos="0">
                <a:schemeClr val="accent3"/>
              </a:gs>
              <a:gs pos="100000">
                <a:srgbClr val="DAF6FF">
                  <a:alpha val="0"/>
                </a:srgbClr>
              </a:gs>
            </a:gsLst>
            <a:lin ang="10800000" scaled="0"/>
            <a:tileRect/>
          </a:gra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p:nvPr/>
        </p:nvSpPr>
        <p:spPr>
          <a:xfrm>
            <a:off x="4737100" y="2016190"/>
            <a:ext cx="4178334" cy="1437575"/>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2" name="标题 1"/>
          <p:cNvSpPr>
            <a:spLocks noGrp="1"/>
          </p:cNvSpPr>
          <p:nvPr>
            <p:ph type="title"/>
          </p:nvPr>
        </p:nvSpPr>
        <p:spPr/>
        <p:txBody>
          <a:bodyPr/>
          <a:lstStyle/>
          <a:p>
            <a:r>
              <a:rPr lang="zh-CN" altLang="en-US" dirty="0"/>
              <a:t>资管操作系统演进的三大阶段</a:t>
            </a:r>
          </a:p>
        </p:txBody>
      </p:sp>
      <p:sp>
        <p:nvSpPr>
          <p:cNvPr id="8" name="AutoShape 8"/>
          <p:cNvSpPr/>
          <p:nvPr/>
        </p:nvSpPr>
        <p:spPr>
          <a:xfrm>
            <a:off x="4011295" y="1319530"/>
            <a:ext cx="407670" cy="8255"/>
          </a:xfrm>
          <a:prstGeom prst="rect">
            <a:avLst/>
          </a:prstGeom>
          <a:solidFill>
            <a:schemeClr val="accent2"/>
          </a:solidFill>
        </p:spPr>
        <p:txBody>
          <a:bodyPr/>
          <a:lstStyle/>
          <a:p>
            <a:endParaRPr lang="zh-CN" altLang="en-US"/>
          </a:p>
        </p:txBody>
      </p:sp>
      <p:sp>
        <p:nvSpPr>
          <p:cNvPr id="9" name="AutoShape 9"/>
          <p:cNvSpPr/>
          <p:nvPr/>
        </p:nvSpPr>
        <p:spPr>
          <a:xfrm>
            <a:off x="648970" y="1200150"/>
            <a:ext cx="3255010" cy="1210310"/>
          </a:xfrm>
          <a:prstGeom prst="rect">
            <a:avLst/>
          </a:prstGeom>
          <a:solidFill>
            <a:srgbClr val="000000">
              <a:alpha val="0"/>
            </a:srgbClr>
          </a:solidFill>
        </p:spPr>
        <p:txBody>
          <a:bodyPr/>
          <a:lstStyle/>
          <a:p>
            <a:endParaRPr lang="zh-CN" altLang="en-US"/>
          </a:p>
        </p:txBody>
      </p:sp>
      <p:sp>
        <p:nvSpPr>
          <p:cNvPr id="12" name="AutoShape 12"/>
          <p:cNvSpPr/>
          <p:nvPr/>
        </p:nvSpPr>
        <p:spPr>
          <a:xfrm>
            <a:off x="4742180" y="2266950"/>
            <a:ext cx="407670" cy="8255"/>
          </a:xfrm>
          <a:prstGeom prst="rect">
            <a:avLst/>
          </a:prstGeom>
          <a:solidFill>
            <a:schemeClr val="accent2"/>
          </a:solidFill>
        </p:spPr>
        <p:txBody>
          <a:bodyPr/>
          <a:lstStyle/>
          <a:p>
            <a:endParaRPr lang="zh-CN" altLang="en-US"/>
          </a:p>
        </p:txBody>
      </p:sp>
      <p:sp>
        <p:nvSpPr>
          <p:cNvPr id="14" name="AutoShape 13"/>
          <p:cNvSpPr/>
          <p:nvPr/>
        </p:nvSpPr>
        <p:spPr>
          <a:xfrm>
            <a:off x="5279390" y="2147570"/>
            <a:ext cx="3255010" cy="1210310"/>
          </a:xfrm>
          <a:prstGeom prst="rect">
            <a:avLst/>
          </a:prstGeom>
          <a:solidFill>
            <a:srgbClr val="000000">
              <a:alpha val="0"/>
            </a:srgbClr>
          </a:solidFill>
        </p:spPr>
        <p:txBody>
          <a:bodyPr/>
          <a:lstStyle/>
          <a:p>
            <a:endParaRPr lang="zh-CN" altLang="en-US"/>
          </a:p>
        </p:txBody>
      </p:sp>
      <p:sp>
        <p:nvSpPr>
          <p:cNvPr id="22" name="AutoShape 17"/>
          <p:cNvSpPr/>
          <p:nvPr/>
        </p:nvSpPr>
        <p:spPr>
          <a:xfrm>
            <a:off x="648970" y="2943860"/>
            <a:ext cx="3255010" cy="1449070"/>
          </a:xfrm>
          <a:prstGeom prst="rect">
            <a:avLst/>
          </a:prstGeom>
          <a:solidFill>
            <a:srgbClr val="000000">
              <a:alpha val="0"/>
            </a:srgbClr>
          </a:solidFill>
        </p:spPr>
        <p:txBody>
          <a:bodyPr/>
          <a:lstStyle/>
          <a:p>
            <a:endParaRPr lang="zh-CN" altLang="en-US"/>
          </a:p>
        </p:txBody>
      </p:sp>
      <p:sp>
        <p:nvSpPr>
          <p:cNvPr id="26" name="TextBox 19"/>
          <p:cNvSpPr txBox="1"/>
          <p:nvPr/>
        </p:nvSpPr>
        <p:spPr>
          <a:xfrm>
            <a:off x="648970" y="1200150"/>
            <a:ext cx="3255010" cy="278765"/>
          </a:xfrm>
          <a:prstGeom prst="rect">
            <a:avLst/>
          </a:prstGeom>
          <a:solidFill>
            <a:srgbClr val="000000">
              <a:alpha val="0"/>
            </a:srgbClr>
          </a:solidFill>
        </p:spPr>
        <p:txBody>
          <a:bodyPr lIns="0" tIns="0" rIns="0" bIns="0" rtlCol="0" anchor="ctr"/>
          <a:lstStyle/>
          <a:p>
            <a:pPr indent="0" algn="r">
              <a:lnSpc>
                <a:spcPct val="120000"/>
              </a:lnSpc>
              <a:defRPr/>
            </a:pPr>
            <a:r>
              <a:rPr lang="en-US" sz="1600" b="1">
                <a:solidFill>
                  <a:schemeClr val="accent1"/>
                </a:solidFill>
                <a:latin typeface="+mj-ea"/>
                <a:ea typeface="+mj-ea"/>
                <a:cs typeface="+mn-ea"/>
              </a:rPr>
              <a:t>阶段一：GUI时代</a:t>
            </a:r>
          </a:p>
        </p:txBody>
      </p:sp>
      <p:sp>
        <p:nvSpPr>
          <p:cNvPr id="27" name="TextBox 20"/>
          <p:cNvSpPr txBox="1"/>
          <p:nvPr/>
        </p:nvSpPr>
        <p:spPr>
          <a:xfrm>
            <a:off x="643890" y="1478915"/>
            <a:ext cx="3255010" cy="231140"/>
          </a:xfrm>
          <a:prstGeom prst="rect">
            <a:avLst/>
          </a:prstGeom>
          <a:solidFill>
            <a:srgbClr val="000000">
              <a:alpha val="0"/>
            </a:srgbClr>
          </a:solidFill>
        </p:spPr>
        <p:txBody>
          <a:bodyPr lIns="0" tIns="0" rIns="0" bIns="0" rtlCol="0" anchor="ctr"/>
          <a:lstStyle/>
          <a:p>
            <a:pPr indent="0" algn="r">
              <a:lnSpc>
                <a:spcPct val="120000"/>
              </a:lnSpc>
              <a:defRPr/>
            </a:pPr>
            <a:r>
              <a:rPr lang="en-US" sz="1100" b="1">
                <a:solidFill>
                  <a:schemeClr val="accent1"/>
                </a:solidFill>
                <a:latin typeface="+mn-ea"/>
                <a:ea typeface="+mn-ea"/>
              </a:rPr>
              <a:t>传统模式</a:t>
            </a:r>
          </a:p>
        </p:txBody>
      </p:sp>
      <p:sp>
        <p:nvSpPr>
          <p:cNvPr id="28" name="TextBox 21"/>
          <p:cNvSpPr txBox="1"/>
          <p:nvPr/>
        </p:nvSpPr>
        <p:spPr>
          <a:xfrm>
            <a:off x="5279390" y="2147570"/>
            <a:ext cx="3255010" cy="278765"/>
          </a:xfrm>
          <a:prstGeom prst="rect">
            <a:avLst/>
          </a:prstGeom>
          <a:solidFill>
            <a:srgbClr val="000000">
              <a:alpha val="0"/>
            </a:srgbClr>
          </a:solidFill>
        </p:spPr>
        <p:txBody>
          <a:bodyPr lIns="0" tIns="0" rIns="0" bIns="0" rtlCol="0" anchor="ctr"/>
          <a:lstStyle/>
          <a:p>
            <a:pPr indent="0" algn="l">
              <a:lnSpc>
                <a:spcPct val="120000"/>
              </a:lnSpc>
              <a:defRPr/>
            </a:pPr>
            <a:r>
              <a:rPr lang="en-US" sz="1600" b="1">
                <a:solidFill>
                  <a:schemeClr val="accent1"/>
                </a:solidFill>
                <a:latin typeface="+mj-ea"/>
                <a:ea typeface="+mj-ea"/>
                <a:cs typeface="+mn-ea"/>
              </a:rPr>
              <a:t>阶段二：Agentic Workflow</a:t>
            </a:r>
          </a:p>
        </p:txBody>
      </p:sp>
      <p:sp>
        <p:nvSpPr>
          <p:cNvPr id="29" name="TextBox 22"/>
          <p:cNvSpPr txBox="1"/>
          <p:nvPr/>
        </p:nvSpPr>
        <p:spPr>
          <a:xfrm>
            <a:off x="5274310" y="2426335"/>
            <a:ext cx="3255010" cy="231140"/>
          </a:xfrm>
          <a:prstGeom prst="rect">
            <a:avLst/>
          </a:prstGeom>
          <a:solidFill>
            <a:srgbClr val="000000">
              <a:alpha val="0"/>
            </a:srgbClr>
          </a:solidFill>
        </p:spPr>
        <p:txBody>
          <a:bodyPr lIns="0" tIns="0" rIns="0" bIns="0" rtlCol="0" anchor="ctr"/>
          <a:lstStyle/>
          <a:p>
            <a:pPr indent="0" algn="l">
              <a:lnSpc>
                <a:spcPct val="120000"/>
              </a:lnSpc>
              <a:defRPr/>
            </a:pPr>
            <a:r>
              <a:rPr lang="en-US" sz="1100" b="1">
                <a:solidFill>
                  <a:schemeClr val="accent1"/>
                </a:solidFill>
                <a:latin typeface="+mn-ea"/>
                <a:ea typeface="+mn-ea"/>
              </a:rPr>
              <a:t>目前行业主要模式</a:t>
            </a:r>
          </a:p>
        </p:txBody>
      </p:sp>
      <p:sp>
        <p:nvSpPr>
          <p:cNvPr id="30" name="TextBox 23"/>
          <p:cNvSpPr txBox="1"/>
          <p:nvPr/>
        </p:nvSpPr>
        <p:spPr>
          <a:xfrm>
            <a:off x="648970" y="2943860"/>
            <a:ext cx="3255010" cy="278765"/>
          </a:xfrm>
          <a:prstGeom prst="rect">
            <a:avLst/>
          </a:prstGeom>
          <a:solidFill>
            <a:srgbClr val="000000">
              <a:alpha val="0"/>
            </a:srgbClr>
          </a:solidFill>
        </p:spPr>
        <p:txBody>
          <a:bodyPr lIns="0" tIns="0" rIns="0" bIns="0" rtlCol="0" anchor="ctr"/>
          <a:lstStyle/>
          <a:p>
            <a:pPr indent="0" algn="r">
              <a:lnSpc>
                <a:spcPct val="120000"/>
              </a:lnSpc>
              <a:defRPr/>
            </a:pPr>
            <a:r>
              <a:rPr lang="en-US" sz="1600" b="1">
                <a:solidFill>
                  <a:schemeClr val="accent1"/>
                </a:solidFill>
                <a:latin typeface="+mj-ea"/>
                <a:ea typeface="+mj-ea"/>
                <a:cs typeface="+mn-ea"/>
              </a:rPr>
              <a:t>阶段三：Agentic Workforce</a:t>
            </a:r>
          </a:p>
        </p:txBody>
      </p:sp>
      <p:sp>
        <p:nvSpPr>
          <p:cNvPr id="31" name="TextBox 24"/>
          <p:cNvSpPr txBox="1"/>
          <p:nvPr/>
        </p:nvSpPr>
        <p:spPr>
          <a:xfrm>
            <a:off x="638810" y="3222625"/>
            <a:ext cx="3255010" cy="231140"/>
          </a:xfrm>
          <a:prstGeom prst="rect">
            <a:avLst/>
          </a:prstGeom>
          <a:solidFill>
            <a:srgbClr val="000000">
              <a:alpha val="0"/>
            </a:srgbClr>
          </a:solidFill>
        </p:spPr>
        <p:txBody>
          <a:bodyPr lIns="0" tIns="0" rIns="0" bIns="0" rtlCol="0" anchor="ctr"/>
          <a:lstStyle/>
          <a:p>
            <a:pPr indent="0" algn="r">
              <a:lnSpc>
                <a:spcPct val="120000"/>
              </a:lnSpc>
              <a:defRPr/>
            </a:pPr>
            <a:r>
              <a:rPr lang="en-US" sz="1100" b="1">
                <a:solidFill>
                  <a:schemeClr val="accent1"/>
                </a:solidFill>
                <a:latin typeface="+mn-ea"/>
                <a:ea typeface="+mn-ea"/>
              </a:rPr>
              <a:t>未来模式</a:t>
            </a:r>
          </a:p>
        </p:txBody>
      </p:sp>
      <p:sp>
        <p:nvSpPr>
          <p:cNvPr id="32" name="TextBox 25"/>
          <p:cNvSpPr txBox="1"/>
          <p:nvPr/>
        </p:nvSpPr>
        <p:spPr>
          <a:xfrm>
            <a:off x="550195" y="1766570"/>
            <a:ext cx="3353785" cy="469900"/>
          </a:xfrm>
          <a:prstGeom prst="rect">
            <a:avLst/>
          </a:prstGeom>
          <a:solidFill>
            <a:srgbClr val="000000">
              <a:alpha val="0"/>
            </a:srgbClr>
          </a:solidFill>
        </p:spPr>
        <p:txBody>
          <a:bodyPr lIns="0" tIns="0" rIns="0" bIns="0" rtlCol="0" anchor="ctr"/>
          <a:lstStyle/>
          <a:p>
            <a:pPr indent="0" algn="r">
              <a:lnSpc>
                <a:spcPct val="150000"/>
              </a:lnSpc>
              <a:defRPr/>
            </a:pPr>
            <a:r>
              <a:rPr lang="en-US" sz="1050">
                <a:solidFill>
                  <a:schemeClr val="accent4"/>
                </a:solidFill>
                <a:latin typeface="+mn-ea"/>
                <a:ea typeface="+mn-ea"/>
              </a:rPr>
              <a:t>以图形用户界面为核心，用户通过菜单和按钮操作，系统完全以流程为中心，人必须适应系统的逻辑</a:t>
            </a:r>
          </a:p>
        </p:txBody>
      </p:sp>
      <p:sp>
        <p:nvSpPr>
          <p:cNvPr id="33" name="TextBox 26"/>
          <p:cNvSpPr txBox="1"/>
          <p:nvPr/>
        </p:nvSpPr>
        <p:spPr>
          <a:xfrm>
            <a:off x="5279389" y="2726426"/>
            <a:ext cx="3636059" cy="469900"/>
          </a:xfrm>
          <a:prstGeom prst="rect">
            <a:avLst/>
          </a:prstGeom>
          <a:solidFill>
            <a:srgbClr val="000000">
              <a:alpha val="0"/>
            </a:srgbClr>
          </a:solidFill>
        </p:spPr>
        <p:txBody>
          <a:bodyPr lIns="0" tIns="0" rIns="0" bIns="0" rtlCol="0" anchor="ctr"/>
          <a:lstStyle/>
          <a:p>
            <a:pPr indent="0" algn="l">
              <a:lnSpc>
                <a:spcPct val="150000"/>
              </a:lnSpc>
              <a:defRPr/>
            </a:pPr>
            <a:r>
              <a:rPr lang="en-US" sz="1050">
                <a:solidFill>
                  <a:schemeClr val="accent4"/>
                </a:solidFill>
                <a:latin typeface="+mn-ea"/>
                <a:cs typeface="+mn-ea"/>
              </a:rPr>
              <a:t>AI</a:t>
            </a:r>
            <a:r>
              <a:rPr lang="en-US" sz="1050">
                <a:solidFill>
                  <a:schemeClr val="accent4"/>
                </a:solidFill>
                <a:latin typeface="+mn-ea"/>
                <a:ea typeface="+mn-ea"/>
                <a:cs typeface="+mn-ea"/>
              </a:rPr>
              <a:t>作为智能侧边栏助手开始理解复杂目标并辅助完成工作流，但仍需人工监督与干预，决策权在人</a:t>
            </a:r>
          </a:p>
        </p:txBody>
      </p:sp>
      <p:sp>
        <p:nvSpPr>
          <p:cNvPr id="37" name="TextBox 27"/>
          <p:cNvSpPr txBox="1"/>
          <p:nvPr/>
        </p:nvSpPr>
        <p:spPr>
          <a:xfrm>
            <a:off x="648970" y="3488055"/>
            <a:ext cx="3255010" cy="562610"/>
          </a:xfrm>
          <a:prstGeom prst="rect">
            <a:avLst/>
          </a:prstGeom>
          <a:solidFill>
            <a:srgbClr val="000000">
              <a:alpha val="0"/>
            </a:srgbClr>
          </a:solidFill>
        </p:spPr>
        <p:txBody>
          <a:bodyPr lIns="0" tIns="0" rIns="0" bIns="0" rtlCol="0" anchor="ctr"/>
          <a:lstStyle/>
          <a:p>
            <a:pPr indent="0" algn="r">
              <a:lnSpc>
                <a:spcPct val="150000"/>
              </a:lnSpc>
              <a:defRPr/>
            </a:pPr>
            <a:r>
              <a:rPr lang="en-US" sz="1050">
                <a:solidFill>
                  <a:schemeClr val="accent4"/>
                </a:solidFill>
                <a:latin typeface="+mn-ea"/>
                <a:ea typeface="+mn-ea"/>
                <a:cs typeface="+mn-ea"/>
              </a:rPr>
              <a:t>实现真正的数字员工队伍，</a:t>
            </a:r>
            <a:r>
              <a:rPr lang="en-US" sz="1050">
                <a:solidFill>
                  <a:schemeClr val="accent4"/>
                </a:solidFill>
                <a:latin typeface="+mn-ea"/>
                <a:ea typeface="&quot;Nunito Sans&quot;"/>
                <a:cs typeface="+mn-ea"/>
              </a:rPr>
              <a:t>Agent</a:t>
            </a:r>
            <a:r>
              <a:rPr lang="en-US" sz="1050">
                <a:solidFill>
                  <a:schemeClr val="accent4"/>
                </a:solidFill>
                <a:latin typeface="+mn-ea"/>
                <a:ea typeface="+mn-ea"/>
                <a:cs typeface="+mn-ea"/>
              </a:rPr>
              <a:t>具备自主学习、持续进化与团队协作能力，可独立完成端到端业务流程</a:t>
            </a:r>
          </a:p>
        </p:txBody>
      </p:sp>
      <p:sp>
        <p:nvSpPr>
          <p:cNvPr id="42" name="AutoShape 8"/>
          <p:cNvSpPr/>
          <p:nvPr/>
        </p:nvSpPr>
        <p:spPr>
          <a:xfrm>
            <a:off x="4007485" y="3079115"/>
            <a:ext cx="407670" cy="8255"/>
          </a:xfrm>
          <a:prstGeom prst="rect">
            <a:avLst/>
          </a:prstGeom>
          <a:solidFill>
            <a:schemeClr val="accent2"/>
          </a:solidFill>
        </p:spPr>
        <p:txBody>
          <a:bodyPr/>
          <a:lstStyle/>
          <a:p>
            <a:endParaRPr lang="zh-CN" altLang="en-US"/>
          </a:p>
        </p:txBody>
      </p:sp>
      <p:cxnSp>
        <p:nvCxnSpPr>
          <p:cNvPr id="10" name="直线箭头连接符 9"/>
          <p:cNvCxnSpPr/>
          <p:nvPr/>
        </p:nvCxnSpPr>
        <p:spPr bwMode="auto">
          <a:xfrm>
            <a:off x="4572000" y="984142"/>
            <a:ext cx="0" cy="3212024"/>
          </a:xfrm>
          <a:prstGeom prst="straightConnector1">
            <a:avLst/>
          </a:prstGeom>
          <a:solidFill>
            <a:schemeClr val="accent1"/>
          </a:solidFill>
          <a:ln w="28575" cap="flat" cmpd="sng" algn="ctr">
            <a:solidFill>
              <a:schemeClr val="accent1"/>
            </a:solidFill>
            <a:prstDash val="solid"/>
            <a:round/>
            <a:headEnd type="none" w="med" len="med"/>
            <a:tailEnd type="triangle"/>
          </a:ln>
        </p:spPr>
      </p:cxnSp>
      <p:sp>
        <p:nvSpPr>
          <p:cNvPr id="11" name="椭圆 10"/>
          <p:cNvSpPr/>
          <p:nvPr/>
        </p:nvSpPr>
        <p:spPr bwMode="auto">
          <a:xfrm>
            <a:off x="4489450" y="2192655"/>
            <a:ext cx="165100" cy="165100"/>
          </a:xfrm>
          <a:prstGeom prst="ellipse">
            <a:avLst/>
          </a:prstGeom>
          <a:solidFill>
            <a:schemeClr val="accent3"/>
          </a:solidFill>
          <a:ln w="2857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3" name="椭圆 12"/>
          <p:cNvSpPr/>
          <p:nvPr/>
        </p:nvSpPr>
        <p:spPr bwMode="auto">
          <a:xfrm>
            <a:off x="4489450" y="1245235"/>
            <a:ext cx="165100" cy="165100"/>
          </a:xfrm>
          <a:prstGeom prst="ellipse">
            <a:avLst/>
          </a:prstGeom>
          <a:solidFill>
            <a:schemeClr val="accent3"/>
          </a:solidFill>
          <a:ln w="2857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5" name="椭圆 14"/>
          <p:cNvSpPr/>
          <p:nvPr/>
        </p:nvSpPr>
        <p:spPr bwMode="auto">
          <a:xfrm>
            <a:off x="4489450" y="2997166"/>
            <a:ext cx="165100" cy="165100"/>
          </a:xfrm>
          <a:prstGeom prst="ellipse">
            <a:avLst/>
          </a:prstGeom>
          <a:solidFill>
            <a:schemeClr val="accent3"/>
          </a:solidFill>
          <a:ln w="2857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EWork</a:t>
            </a:r>
            <a:r>
              <a:rPr lang="zh-CN" altLang="en-US" dirty="0"/>
              <a:t>：</a:t>
            </a:r>
            <a:r>
              <a:rPr lang="en-GB" altLang="zh-CN" dirty="0"/>
              <a:t>Agentic Workforce</a:t>
            </a:r>
            <a:r>
              <a:rPr lang="zh-CN" altLang="en-GB" dirty="0"/>
              <a:t>的</a:t>
            </a:r>
            <a:r>
              <a:rPr lang="zh-CN" altLang="en-US" dirty="0"/>
              <a:t>运作系统</a:t>
            </a:r>
          </a:p>
        </p:txBody>
      </p:sp>
      <p:sp>
        <p:nvSpPr>
          <p:cNvPr id="19" name="TextBox 14"/>
          <p:cNvSpPr txBox="1"/>
          <p:nvPr/>
        </p:nvSpPr>
        <p:spPr>
          <a:xfrm>
            <a:off x="467418" y="1103112"/>
            <a:ext cx="5084884" cy="267877"/>
          </a:xfrm>
          <a:prstGeom prst="rect">
            <a:avLst/>
          </a:prstGeom>
          <a:solidFill>
            <a:srgbClr val="000000">
              <a:alpha val="0"/>
            </a:srgbClr>
          </a:solidFill>
        </p:spPr>
        <p:txBody>
          <a:bodyPr lIns="0" tIns="0" rIns="0" bIns="0" rtlCol="0" anchor="ctr"/>
          <a:lstStyle/>
          <a:p>
            <a:pPr indent="0" algn="l">
              <a:lnSpc>
                <a:spcPct val="120000"/>
              </a:lnSpc>
              <a:defRPr/>
            </a:pPr>
            <a:r>
              <a:rPr lang="zh-CN" altLang="en-US" sz="1500">
                <a:solidFill>
                  <a:schemeClr val="accent1"/>
                </a:solidFill>
                <a:latin typeface="+mj-ea"/>
                <a:ea typeface="+mj-ea"/>
              </a:rPr>
              <a:t>企业级</a:t>
            </a:r>
            <a:r>
              <a:rPr lang="en-US" altLang="zh-CN" sz="1500">
                <a:solidFill>
                  <a:schemeClr val="accent1"/>
                </a:solidFill>
                <a:latin typeface="+mj-ea"/>
                <a:ea typeface="+mj-ea"/>
              </a:rPr>
              <a:t>AI</a:t>
            </a:r>
            <a:r>
              <a:rPr lang="zh-CN" altLang="en-US" sz="1500">
                <a:solidFill>
                  <a:schemeClr val="accent1"/>
                </a:solidFill>
                <a:latin typeface="+mj-ea"/>
                <a:ea typeface="+mj-ea"/>
              </a:rPr>
              <a:t>平台需为</a:t>
            </a:r>
            <a:r>
              <a:rPr lang="en-US" altLang="zh-CN" sz="1500">
                <a:solidFill>
                  <a:schemeClr val="accent1"/>
                </a:solidFill>
                <a:latin typeface="+mj-ea"/>
                <a:ea typeface="+mj-ea"/>
              </a:rPr>
              <a:t>Agent</a:t>
            </a:r>
            <a:r>
              <a:rPr lang="zh-CN" altLang="en-US" sz="1500">
                <a:solidFill>
                  <a:schemeClr val="accent1"/>
                </a:solidFill>
                <a:latin typeface="+mj-ea"/>
                <a:ea typeface="+mj-ea"/>
              </a:rPr>
              <a:t>自主运行架设高速网络</a:t>
            </a:r>
          </a:p>
        </p:txBody>
      </p:sp>
      <p:sp>
        <p:nvSpPr>
          <p:cNvPr id="23" name="TextBox 18"/>
          <p:cNvSpPr txBox="1"/>
          <p:nvPr/>
        </p:nvSpPr>
        <p:spPr>
          <a:xfrm>
            <a:off x="467417" y="1513184"/>
            <a:ext cx="5366116" cy="2712791"/>
          </a:xfrm>
          <a:prstGeom prst="rect">
            <a:avLst/>
          </a:prstGeom>
          <a:solidFill>
            <a:srgbClr val="000000">
              <a:alpha val="0"/>
            </a:srgbClr>
          </a:solidFill>
        </p:spPr>
        <p:txBody>
          <a:bodyPr lIns="0" tIns="0" rIns="0" bIns="0" rtlCol="0" anchor="t"/>
          <a:lstStyle/>
          <a:p>
            <a:pPr algn="just">
              <a:lnSpc>
                <a:spcPct val="150000"/>
              </a:lnSpc>
            </a:pPr>
            <a:r>
              <a:rPr lang="en-GB" altLang="zh-CN" sz="1200">
                <a:solidFill>
                  <a:schemeClr val="accent4"/>
                </a:solidFill>
                <a:latin typeface="+mj-ea"/>
                <a:ea typeface="+mj-ea"/>
              </a:rPr>
              <a:t>Agentic Workforce</a:t>
            </a:r>
            <a:r>
              <a:rPr lang="zh-CN" altLang="en-US" sz="1200">
                <a:solidFill>
                  <a:schemeClr val="accent4"/>
                </a:solidFill>
                <a:latin typeface="+mj-ea"/>
                <a:ea typeface="+mj-ea"/>
              </a:rPr>
              <a:t>不只是“更多智能体”，而是一支能够在企业规则下协同运行的资管数字劳动力。</a:t>
            </a:r>
            <a:endParaRPr lang="en-US" altLang="zh-CN" sz="1200">
              <a:solidFill>
                <a:schemeClr val="accent4"/>
              </a:solidFill>
              <a:latin typeface="+mj-ea"/>
              <a:ea typeface="+mj-ea"/>
            </a:endParaRPr>
          </a:p>
          <a:p>
            <a:pPr algn="just">
              <a:lnSpc>
                <a:spcPct val="150000"/>
              </a:lnSpc>
            </a:pPr>
            <a:endParaRPr lang="zh-CN" altLang="en-US" sz="1200">
              <a:solidFill>
                <a:schemeClr val="accent4"/>
              </a:solidFill>
              <a:latin typeface="+mj-ea"/>
              <a:ea typeface="+mj-ea"/>
            </a:endParaRPr>
          </a:p>
          <a:p>
            <a:pPr algn="just">
              <a:lnSpc>
                <a:spcPct val="150000"/>
              </a:lnSpc>
            </a:pPr>
            <a:r>
              <a:rPr lang="en-GB" altLang="zh-CN" sz="1200">
                <a:solidFill>
                  <a:schemeClr val="accent4"/>
                </a:solidFill>
                <a:latin typeface="+mj-ea"/>
                <a:ea typeface="+mj-ea"/>
              </a:rPr>
              <a:t>EWork</a:t>
            </a:r>
            <a:r>
              <a:rPr lang="zh-CN" altLang="en-US" sz="1200">
                <a:solidFill>
                  <a:schemeClr val="accent4"/>
                </a:solidFill>
                <a:latin typeface="+mj-ea"/>
                <a:ea typeface="+mj-ea"/>
              </a:rPr>
              <a:t>的定位，是为这支数字劳动力提供企业级运作系统：</a:t>
            </a:r>
          </a:p>
          <a:p>
            <a:pPr marL="171450" indent="-171450" algn="just">
              <a:lnSpc>
                <a:spcPct val="150000"/>
              </a:lnSpc>
              <a:buFont typeface="Arial" charset="0"/>
              <a:buChar char="•"/>
            </a:pPr>
            <a:r>
              <a:rPr lang="zh-CN" altLang="en-US" sz="1200">
                <a:solidFill>
                  <a:schemeClr val="accent2"/>
                </a:solidFill>
                <a:latin typeface="+mj-ea"/>
                <a:ea typeface="+mj-ea"/>
              </a:rPr>
              <a:t>统一入口</a:t>
            </a:r>
            <a:r>
              <a:rPr lang="zh-CN" altLang="en-US" sz="1200">
                <a:solidFill>
                  <a:schemeClr val="accent4"/>
                </a:solidFill>
                <a:latin typeface="+mj-ea"/>
                <a:ea typeface="+mj-ea"/>
              </a:rPr>
              <a:t>：员工通过自然语言发起任务，平台负责理解目标、拆解步骤、跟踪状态和交付结果。</a:t>
            </a:r>
          </a:p>
          <a:p>
            <a:pPr marL="171450" indent="-171450" algn="just">
              <a:lnSpc>
                <a:spcPct val="150000"/>
              </a:lnSpc>
              <a:buFont typeface="Arial" charset="0"/>
              <a:buChar char="•"/>
            </a:pPr>
            <a:r>
              <a:rPr lang="zh-CN" altLang="en-US" sz="1200">
                <a:solidFill>
                  <a:schemeClr val="accent2"/>
                </a:solidFill>
                <a:latin typeface="+mj-ea"/>
                <a:ea typeface="+mj-ea"/>
              </a:rPr>
              <a:t>运行底座</a:t>
            </a:r>
            <a:r>
              <a:rPr lang="zh-CN" altLang="en-US" sz="1200">
                <a:solidFill>
                  <a:schemeClr val="accent4"/>
                </a:solidFill>
                <a:latin typeface="+mj-ea"/>
                <a:ea typeface="+mj-ea"/>
              </a:rPr>
              <a:t>：</a:t>
            </a:r>
            <a:r>
              <a:rPr lang="en-GB" altLang="zh-CN" sz="1200">
                <a:solidFill>
                  <a:schemeClr val="accent4"/>
                </a:solidFill>
                <a:latin typeface="+mj-ea"/>
                <a:ea typeface="+mj-ea"/>
              </a:rPr>
              <a:t>Agent</a:t>
            </a:r>
            <a:r>
              <a:rPr lang="zh-CN" altLang="en-US" sz="1200">
                <a:solidFill>
                  <a:schemeClr val="accent4"/>
                </a:solidFill>
                <a:latin typeface="+mj-ea"/>
                <a:ea typeface="+mj-ea"/>
              </a:rPr>
              <a:t>可以调用模型、数据库、知识库、</a:t>
            </a:r>
            <a:r>
              <a:rPr lang="en-GB" altLang="zh-CN" sz="1200">
                <a:solidFill>
                  <a:schemeClr val="accent4"/>
                </a:solidFill>
                <a:latin typeface="+mj-ea"/>
                <a:ea typeface="+mj-ea"/>
              </a:rPr>
              <a:t>Skill</a:t>
            </a:r>
            <a:r>
              <a:rPr lang="zh-CN" altLang="en-GB" sz="1200">
                <a:solidFill>
                  <a:schemeClr val="accent4"/>
                </a:solidFill>
                <a:latin typeface="+mj-ea"/>
                <a:ea typeface="+mj-ea"/>
              </a:rPr>
              <a:t>、</a:t>
            </a:r>
            <a:r>
              <a:rPr lang="en-GB" altLang="zh-CN" sz="1200">
                <a:solidFill>
                  <a:schemeClr val="accent4"/>
                </a:solidFill>
                <a:latin typeface="+mj-ea"/>
                <a:ea typeface="+mj-ea"/>
              </a:rPr>
              <a:t>MCP/API</a:t>
            </a:r>
            <a:r>
              <a:rPr lang="zh-CN" altLang="en-US" sz="1200">
                <a:solidFill>
                  <a:schemeClr val="accent4"/>
                </a:solidFill>
                <a:latin typeface="+mj-ea"/>
                <a:ea typeface="+mj-ea"/>
              </a:rPr>
              <a:t>和业务系统，在受控环境中完成跨步骤任务。</a:t>
            </a:r>
          </a:p>
          <a:p>
            <a:pPr marL="171450" indent="-171450" algn="just">
              <a:lnSpc>
                <a:spcPct val="150000"/>
              </a:lnSpc>
              <a:buFont typeface="Arial" charset="0"/>
              <a:buChar char="•"/>
            </a:pPr>
            <a:r>
              <a:rPr lang="zh-CN" altLang="en-US" sz="1200">
                <a:solidFill>
                  <a:schemeClr val="accent2"/>
                </a:solidFill>
                <a:latin typeface="+mj-ea"/>
                <a:ea typeface="+mj-ea"/>
              </a:rPr>
              <a:t>治理体系</a:t>
            </a:r>
            <a:r>
              <a:rPr lang="zh-CN" altLang="en-US" sz="1200">
                <a:solidFill>
                  <a:schemeClr val="accent4"/>
                </a:solidFill>
                <a:latin typeface="+mj-ea"/>
                <a:ea typeface="+mj-ea"/>
              </a:rPr>
              <a:t>：通过权限、数据边界、人工审批、评测、审计和成本管理，确保</a:t>
            </a:r>
            <a:r>
              <a:rPr lang="en-GB" altLang="zh-CN" sz="1200">
                <a:solidFill>
                  <a:schemeClr val="accent4"/>
                </a:solidFill>
                <a:latin typeface="+mj-ea"/>
                <a:ea typeface="+mj-ea"/>
              </a:rPr>
              <a:t>AI</a:t>
            </a:r>
            <a:r>
              <a:rPr lang="zh-CN" altLang="en-US" sz="1200">
                <a:solidFill>
                  <a:schemeClr val="accent4"/>
                </a:solidFill>
                <a:latin typeface="+mj-ea"/>
                <a:ea typeface="+mj-ea"/>
              </a:rPr>
              <a:t>执行过程可控、可追溯、可运营。</a:t>
            </a:r>
          </a:p>
        </p:txBody>
      </p:sp>
      <p:pic>
        <p:nvPicPr>
          <p:cNvPr id="4" name="图片 3"/>
          <p:cNvPicPr>
            <a:picLocks noChangeAspect="1"/>
          </p:cNvPicPr>
          <p:nvPr/>
        </p:nvPicPr>
        <p:blipFill>
          <a:blip r:embed="rId2"/>
          <a:stretch>
            <a:fillRect/>
          </a:stretch>
        </p:blipFill>
        <p:spPr>
          <a:xfrm>
            <a:off x="6104467" y="999910"/>
            <a:ext cx="2675467" cy="1739053"/>
          </a:xfrm>
          <a:prstGeom prst="rect">
            <a:avLst/>
          </a:prstGeom>
        </p:spPr>
      </p:pic>
      <p:pic>
        <p:nvPicPr>
          <p:cNvPr id="7" name="图片 6"/>
          <p:cNvPicPr>
            <a:picLocks noChangeAspect="1"/>
          </p:cNvPicPr>
          <p:nvPr/>
        </p:nvPicPr>
        <p:blipFill>
          <a:blip r:embed="rId3"/>
          <a:stretch>
            <a:fillRect/>
          </a:stretch>
        </p:blipFill>
        <p:spPr>
          <a:xfrm>
            <a:off x="6104467" y="2848512"/>
            <a:ext cx="2675467" cy="1739053"/>
          </a:xfrm>
          <a:prstGeom prst="rect">
            <a:avLst/>
          </a:prstGeom>
        </p:spPr>
      </p:pic>
      <p:pic>
        <p:nvPicPr>
          <p:cNvPr id="3" name="图片 2"/>
          <p:cNvPicPr>
            <a:picLocks noChangeAspect="1"/>
          </p:cNvPicPr>
          <p:nvPr/>
        </p:nvPicPr>
        <p:blipFill>
          <a:blip r:embed="rId4"/>
          <a:stretch>
            <a:fillRect/>
          </a:stretch>
        </p:blipFill>
        <p:spPr>
          <a:xfrm>
            <a:off x="4866924" y="718126"/>
            <a:ext cx="1037848" cy="10378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497"/>
            <a:ext cx="6530297" cy="267876"/>
          </a:xfrm>
        </p:spPr>
        <p:txBody>
          <a:bodyPr/>
          <a:lstStyle/>
          <a:p>
            <a:r>
              <a:rPr lang="en-US" altLang="zh-CN" dirty="0"/>
              <a:t>EWork</a:t>
            </a:r>
            <a:r>
              <a:rPr lang="zh-CN" altLang="en-US" dirty="0"/>
              <a:t>内实现的智能体工程类型</a:t>
            </a:r>
          </a:p>
        </p:txBody>
      </p:sp>
      <p:sp>
        <p:nvSpPr>
          <p:cNvPr id="19" name="TextBox 14"/>
          <p:cNvSpPr txBox="1"/>
          <p:nvPr/>
        </p:nvSpPr>
        <p:spPr>
          <a:xfrm>
            <a:off x="291499" y="986558"/>
            <a:ext cx="7837362" cy="267877"/>
          </a:xfrm>
          <a:prstGeom prst="rect">
            <a:avLst/>
          </a:prstGeom>
          <a:solidFill>
            <a:srgbClr val="000000">
              <a:alpha val="0"/>
            </a:srgbClr>
          </a:solidFill>
        </p:spPr>
        <p:txBody>
          <a:bodyPr lIns="0" tIns="0" rIns="0" bIns="0" rtlCol="0" anchor="ctr"/>
          <a:lstStyle/>
          <a:p>
            <a:pPr indent="0" algn="l">
              <a:lnSpc>
                <a:spcPct val="120000"/>
              </a:lnSpc>
              <a:defRPr/>
            </a:pPr>
            <a:r>
              <a:rPr lang="zh-CN" altLang="en-US" sz="1500">
                <a:solidFill>
                  <a:schemeClr val="accent1"/>
                </a:solidFill>
                <a:latin typeface="+mj-ea"/>
                <a:ea typeface="+mj-ea"/>
              </a:rPr>
              <a:t>从</a:t>
            </a:r>
            <a:r>
              <a:rPr lang="en-GB" altLang="zh-CN" sz="1500">
                <a:solidFill>
                  <a:schemeClr val="accent1"/>
                </a:solidFill>
                <a:latin typeface="+mj-ea"/>
                <a:ea typeface="+mj-ea"/>
              </a:rPr>
              <a:t>Prompt</a:t>
            </a:r>
            <a:r>
              <a:rPr lang="zh-CN" altLang="en-US" sz="1500">
                <a:solidFill>
                  <a:schemeClr val="accent1"/>
                </a:solidFill>
                <a:latin typeface="+mj-ea"/>
                <a:ea typeface="+mj-ea"/>
              </a:rPr>
              <a:t>到</a:t>
            </a:r>
            <a:r>
              <a:rPr lang="en-GB" altLang="zh-CN" sz="1500">
                <a:solidFill>
                  <a:schemeClr val="accent1"/>
                </a:solidFill>
                <a:latin typeface="+mj-ea"/>
                <a:ea typeface="+mj-ea"/>
              </a:rPr>
              <a:t>Loop</a:t>
            </a:r>
            <a:r>
              <a:rPr lang="zh-CN" altLang="en-GB" sz="1500">
                <a:solidFill>
                  <a:schemeClr val="accent1"/>
                </a:solidFill>
                <a:latin typeface="+mj-ea"/>
                <a:ea typeface="+mj-ea"/>
              </a:rPr>
              <a:t>，</a:t>
            </a:r>
            <a:r>
              <a:rPr lang="en-GB" altLang="zh-CN" sz="1500">
                <a:solidFill>
                  <a:schemeClr val="accent1"/>
                </a:solidFill>
                <a:latin typeface="+mj-ea"/>
                <a:ea typeface="+mj-ea"/>
              </a:rPr>
              <a:t>EWork</a:t>
            </a:r>
            <a:r>
              <a:rPr lang="zh-CN" altLang="en-US" sz="1500">
                <a:solidFill>
                  <a:schemeClr val="accent1"/>
                </a:solidFill>
                <a:latin typeface="+mj-ea"/>
                <a:ea typeface="+mj-ea"/>
              </a:rPr>
              <a:t>建设的是可复用、可治理、可进化的智能体工程体系。</a:t>
            </a:r>
          </a:p>
        </p:txBody>
      </p:sp>
      <p:sp>
        <p:nvSpPr>
          <p:cNvPr id="8" name="AutoShape 5"/>
          <p:cNvSpPr/>
          <p:nvPr/>
        </p:nvSpPr>
        <p:spPr>
          <a:xfrm>
            <a:off x="285659" y="1538049"/>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9" name="文本框 8"/>
          <p:cNvSpPr txBox="1"/>
          <p:nvPr/>
        </p:nvSpPr>
        <p:spPr>
          <a:xfrm>
            <a:off x="780605" y="1601490"/>
            <a:ext cx="954107" cy="276999"/>
          </a:xfrm>
          <a:prstGeom prst="rect">
            <a:avLst/>
          </a:prstGeom>
          <a:noFill/>
        </p:spPr>
        <p:txBody>
          <a:bodyPr wrap="none" rtlCol="0">
            <a:spAutoFit/>
          </a:bodyPr>
          <a:lstStyle/>
          <a:p>
            <a:r>
              <a:rPr kumimoji="1" lang="zh-CN" altLang="en-US" sz="1200" b="1" dirty="0">
                <a:solidFill>
                  <a:schemeClr val="accent1"/>
                </a:solidFill>
                <a:latin typeface="+mn-ea"/>
                <a:ea typeface="+mn-ea"/>
              </a:rPr>
              <a:t>提示词工程</a:t>
            </a:r>
          </a:p>
        </p:txBody>
      </p:sp>
      <p:sp>
        <p:nvSpPr>
          <p:cNvPr id="10" name="文本框 9"/>
          <p:cNvSpPr txBox="1"/>
          <p:nvPr/>
        </p:nvSpPr>
        <p:spPr>
          <a:xfrm>
            <a:off x="428232" y="1864961"/>
            <a:ext cx="1658852" cy="276999"/>
          </a:xfrm>
          <a:prstGeom prst="rect">
            <a:avLst/>
          </a:prstGeom>
          <a:noFill/>
        </p:spPr>
        <p:txBody>
          <a:bodyPr wrap="none" rtlCol="0">
            <a:spAutoFit/>
          </a:bodyPr>
          <a:lstStyle/>
          <a:p>
            <a:r>
              <a:rPr kumimoji="1" lang="en-US" altLang="zh-CN" sz="1200" dirty="0">
                <a:solidFill>
                  <a:schemeClr val="accent4"/>
                </a:solidFill>
                <a:latin typeface="+mn-ea"/>
                <a:ea typeface="+mn-ea"/>
              </a:rPr>
              <a:t>Prompt</a:t>
            </a:r>
            <a:r>
              <a:rPr kumimoji="1" lang="zh-CN" altLang="en-US" sz="1200" dirty="0">
                <a:solidFill>
                  <a:schemeClr val="accent4"/>
                </a:solidFill>
                <a:latin typeface="+mn-ea"/>
                <a:ea typeface="+mn-ea"/>
              </a:rPr>
              <a:t> </a:t>
            </a:r>
            <a:r>
              <a:rPr kumimoji="1" lang="en-US" altLang="zh-CN" sz="1200" dirty="0">
                <a:solidFill>
                  <a:schemeClr val="accent4"/>
                </a:solidFill>
                <a:latin typeface="+mn-ea"/>
                <a:ea typeface="+mn-ea"/>
              </a:rPr>
              <a:t>Engineering</a:t>
            </a:r>
            <a:endParaRPr kumimoji="1" lang="zh-CN" altLang="en-US" sz="1200" dirty="0">
              <a:solidFill>
                <a:schemeClr val="accent4"/>
              </a:solidFill>
              <a:latin typeface="+mn-ea"/>
              <a:ea typeface="+mn-ea"/>
            </a:endParaRPr>
          </a:p>
        </p:txBody>
      </p:sp>
      <p:sp>
        <p:nvSpPr>
          <p:cNvPr id="11" name="AutoShape 5"/>
          <p:cNvSpPr/>
          <p:nvPr/>
        </p:nvSpPr>
        <p:spPr>
          <a:xfrm>
            <a:off x="2475893" y="1538049"/>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2" name="文本框 11"/>
          <p:cNvSpPr txBox="1"/>
          <p:nvPr/>
        </p:nvSpPr>
        <p:spPr>
          <a:xfrm>
            <a:off x="2970839" y="1601490"/>
            <a:ext cx="954107" cy="276999"/>
          </a:xfrm>
          <a:prstGeom prst="rect">
            <a:avLst/>
          </a:prstGeom>
          <a:noFill/>
        </p:spPr>
        <p:txBody>
          <a:bodyPr wrap="none" rtlCol="0">
            <a:spAutoFit/>
          </a:bodyPr>
          <a:lstStyle/>
          <a:p>
            <a:r>
              <a:rPr kumimoji="1" lang="zh-CN" altLang="en-US" sz="1200" b="1" dirty="0">
                <a:solidFill>
                  <a:schemeClr val="accent1"/>
                </a:solidFill>
                <a:latin typeface="+mn-ea"/>
                <a:ea typeface="+mn-ea"/>
              </a:rPr>
              <a:t>工作流工程</a:t>
            </a:r>
          </a:p>
        </p:txBody>
      </p:sp>
      <p:sp>
        <p:nvSpPr>
          <p:cNvPr id="13" name="文本框 12"/>
          <p:cNvSpPr txBox="1"/>
          <p:nvPr/>
        </p:nvSpPr>
        <p:spPr>
          <a:xfrm>
            <a:off x="2539213" y="1864961"/>
            <a:ext cx="1817357" cy="276999"/>
          </a:xfrm>
          <a:prstGeom prst="rect">
            <a:avLst/>
          </a:prstGeom>
          <a:noFill/>
        </p:spPr>
        <p:txBody>
          <a:bodyPr wrap="none" rtlCol="0">
            <a:spAutoFit/>
          </a:bodyPr>
          <a:lstStyle/>
          <a:p>
            <a:r>
              <a:rPr kumimoji="1" lang="en-US" altLang="zh-CN" sz="1200" dirty="0">
                <a:solidFill>
                  <a:schemeClr val="accent4"/>
                </a:solidFill>
                <a:latin typeface="+mn-ea"/>
                <a:ea typeface="+mn-ea"/>
              </a:rPr>
              <a:t>Workflow</a:t>
            </a:r>
            <a:r>
              <a:rPr kumimoji="1" lang="zh-CN" altLang="en-US" sz="1200" dirty="0">
                <a:solidFill>
                  <a:schemeClr val="accent4"/>
                </a:solidFill>
                <a:latin typeface="+mn-ea"/>
                <a:ea typeface="+mn-ea"/>
              </a:rPr>
              <a:t> </a:t>
            </a:r>
            <a:r>
              <a:rPr kumimoji="1" lang="en-US" altLang="zh-CN" sz="1200" dirty="0">
                <a:solidFill>
                  <a:schemeClr val="accent4"/>
                </a:solidFill>
                <a:latin typeface="+mn-ea"/>
                <a:ea typeface="+mn-ea"/>
              </a:rPr>
              <a:t>Engineering</a:t>
            </a:r>
            <a:endParaRPr kumimoji="1" lang="zh-CN" altLang="en-US" sz="1200" dirty="0">
              <a:solidFill>
                <a:schemeClr val="accent4"/>
              </a:solidFill>
              <a:latin typeface="+mn-ea"/>
              <a:ea typeface="+mn-ea"/>
            </a:endParaRPr>
          </a:p>
        </p:txBody>
      </p:sp>
      <p:sp>
        <p:nvSpPr>
          <p:cNvPr id="14" name="AutoShape 5"/>
          <p:cNvSpPr/>
          <p:nvPr/>
        </p:nvSpPr>
        <p:spPr>
          <a:xfrm>
            <a:off x="4680837" y="1538049"/>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文本框 14"/>
          <p:cNvSpPr txBox="1"/>
          <p:nvPr/>
        </p:nvSpPr>
        <p:spPr>
          <a:xfrm>
            <a:off x="5175783" y="1601490"/>
            <a:ext cx="954107" cy="276999"/>
          </a:xfrm>
          <a:prstGeom prst="rect">
            <a:avLst/>
          </a:prstGeom>
          <a:noFill/>
        </p:spPr>
        <p:txBody>
          <a:bodyPr wrap="none" rtlCol="0">
            <a:spAutoFit/>
          </a:bodyPr>
          <a:lstStyle/>
          <a:p>
            <a:r>
              <a:rPr kumimoji="1" lang="zh-CN" altLang="en-US" sz="1200" b="1" dirty="0">
                <a:solidFill>
                  <a:schemeClr val="accent1"/>
                </a:solidFill>
                <a:latin typeface="+mn-ea"/>
                <a:ea typeface="+mn-ea"/>
              </a:rPr>
              <a:t>运行层工程</a:t>
            </a:r>
          </a:p>
        </p:txBody>
      </p:sp>
      <p:sp>
        <p:nvSpPr>
          <p:cNvPr id="16" name="文本框 15"/>
          <p:cNvSpPr txBox="1"/>
          <p:nvPr/>
        </p:nvSpPr>
        <p:spPr>
          <a:xfrm>
            <a:off x="4760088" y="1864961"/>
            <a:ext cx="1694375" cy="276999"/>
          </a:xfrm>
          <a:prstGeom prst="rect">
            <a:avLst/>
          </a:prstGeom>
          <a:noFill/>
        </p:spPr>
        <p:txBody>
          <a:bodyPr wrap="none" rtlCol="0">
            <a:spAutoFit/>
          </a:bodyPr>
          <a:lstStyle/>
          <a:p>
            <a:r>
              <a:rPr kumimoji="1" lang="en-US" altLang="zh-CN" sz="1200" dirty="0">
                <a:solidFill>
                  <a:schemeClr val="accent4"/>
                </a:solidFill>
                <a:latin typeface="+mn-ea"/>
                <a:ea typeface="+mn-ea"/>
              </a:rPr>
              <a:t>Harness</a:t>
            </a:r>
            <a:r>
              <a:rPr kumimoji="1" lang="zh-CN" altLang="en-US" sz="1200" dirty="0">
                <a:solidFill>
                  <a:schemeClr val="accent4"/>
                </a:solidFill>
                <a:latin typeface="+mn-ea"/>
                <a:ea typeface="+mn-ea"/>
              </a:rPr>
              <a:t> </a:t>
            </a:r>
            <a:r>
              <a:rPr kumimoji="1" lang="en-US" altLang="zh-CN" sz="1200" dirty="0">
                <a:solidFill>
                  <a:schemeClr val="accent4"/>
                </a:solidFill>
                <a:latin typeface="+mn-ea"/>
                <a:ea typeface="+mn-ea"/>
              </a:rPr>
              <a:t>Engineering</a:t>
            </a:r>
            <a:endParaRPr kumimoji="1" lang="zh-CN" altLang="en-US" sz="1200" dirty="0">
              <a:solidFill>
                <a:schemeClr val="accent4"/>
              </a:solidFill>
              <a:latin typeface="+mn-ea"/>
              <a:ea typeface="+mn-ea"/>
            </a:endParaRPr>
          </a:p>
        </p:txBody>
      </p:sp>
      <p:sp>
        <p:nvSpPr>
          <p:cNvPr id="17" name="AutoShape 5"/>
          <p:cNvSpPr/>
          <p:nvPr/>
        </p:nvSpPr>
        <p:spPr>
          <a:xfrm>
            <a:off x="6872868" y="1538049"/>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8" name="文本框 17"/>
          <p:cNvSpPr txBox="1"/>
          <p:nvPr/>
        </p:nvSpPr>
        <p:spPr>
          <a:xfrm>
            <a:off x="7460421" y="1601490"/>
            <a:ext cx="800219" cy="276999"/>
          </a:xfrm>
          <a:prstGeom prst="rect">
            <a:avLst/>
          </a:prstGeom>
          <a:noFill/>
        </p:spPr>
        <p:txBody>
          <a:bodyPr wrap="none" rtlCol="0">
            <a:spAutoFit/>
          </a:bodyPr>
          <a:lstStyle/>
          <a:p>
            <a:r>
              <a:rPr kumimoji="1" lang="zh-CN" altLang="en-US" sz="1200" b="1" dirty="0">
                <a:solidFill>
                  <a:schemeClr val="accent1"/>
                </a:solidFill>
                <a:latin typeface="+mn-ea"/>
                <a:ea typeface="+mn-ea"/>
              </a:rPr>
              <a:t>循环工程</a:t>
            </a:r>
          </a:p>
        </p:txBody>
      </p:sp>
      <p:sp>
        <p:nvSpPr>
          <p:cNvPr id="20" name="文本框 19"/>
          <p:cNvSpPr txBox="1"/>
          <p:nvPr/>
        </p:nvSpPr>
        <p:spPr>
          <a:xfrm>
            <a:off x="7119783" y="1864961"/>
            <a:ext cx="1481496" cy="276999"/>
          </a:xfrm>
          <a:prstGeom prst="rect">
            <a:avLst/>
          </a:prstGeom>
          <a:noFill/>
        </p:spPr>
        <p:txBody>
          <a:bodyPr wrap="none" rtlCol="0">
            <a:spAutoFit/>
          </a:bodyPr>
          <a:lstStyle/>
          <a:p>
            <a:r>
              <a:rPr kumimoji="1" lang="en-US" altLang="zh-CN" sz="1200" dirty="0">
                <a:solidFill>
                  <a:schemeClr val="accent4"/>
                </a:solidFill>
                <a:latin typeface="+mn-ea"/>
                <a:ea typeface="+mn-ea"/>
              </a:rPr>
              <a:t>Loop</a:t>
            </a:r>
            <a:r>
              <a:rPr kumimoji="1" lang="zh-CN" altLang="en-US" sz="1200" dirty="0">
                <a:solidFill>
                  <a:schemeClr val="accent4"/>
                </a:solidFill>
                <a:latin typeface="+mn-ea"/>
                <a:ea typeface="+mn-ea"/>
              </a:rPr>
              <a:t> </a:t>
            </a:r>
            <a:r>
              <a:rPr kumimoji="1" lang="en-US" altLang="zh-CN" sz="1200" dirty="0">
                <a:solidFill>
                  <a:schemeClr val="accent4"/>
                </a:solidFill>
                <a:latin typeface="+mn-ea"/>
                <a:ea typeface="+mn-ea"/>
              </a:rPr>
              <a:t>Engineering</a:t>
            </a:r>
            <a:endParaRPr kumimoji="1" lang="zh-CN" altLang="en-US" sz="1200" dirty="0">
              <a:solidFill>
                <a:schemeClr val="accent4"/>
              </a:solidFill>
              <a:latin typeface="+mn-ea"/>
              <a:ea typeface="+mn-ea"/>
            </a:endParaRPr>
          </a:p>
        </p:txBody>
      </p:sp>
      <p:sp>
        <p:nvSpPr>
          <p:cNvPr id="21" name="右箭头 20"/>
          <p:cNvSpPr/>
          <p:nvPr/>
        </p:nvSpPr>
        <p:spPr bwMode="auto">
          <a:xfrm>
            <a:off x="2227861" y="1704446"/>
            <a:ext cx="274917" cy="325465"/>
          </a:xfrm>
          <a:prstGeom prst="rightArrow">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2" name="右箭头 21"/>
          <p:cNvSpPr/>
          <p:nvPr/>
        </p:nvSpPr>
        <p:spPr bwMode="auto">
          <a:xfrm>
            <a:off x="4420871" y="1704446"/>
            <a:ext cx="274917" cy="325465"/>
          </a:xfrm>
          <a:prstGeom prst="rightArrow">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4" name="右箭头 23"/>
          <p:cNvSpPr/>
          <p:nvPr/>
        </p:nvSpPr>
        <p:spPr bwMode="auto">
          <a:xfrm>
            <a:off x="6618531" y="1704446"/>
            <a:ext cx="274917" cy="325465"/>
          </a:xfrm>
          <a:prstGeom prst="rightArrow">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5" name="文本框 24"/>
          <p:cNvSpPr txBox="1"/>
          <p:nvPr/>
        </p:nvSpPr>
        <p:spPr>
          <a:xfrm>
            <a:off x="266748" y="2302292"/>
            <a:ext cx="2031325" cy="570221"/>
          </a:xfrm>
          <a:prstGeom prst="rect">
            <a:avLst/>
          </a:prstGeom>
          <a:noFill/>
        </p:spPr>
        <p:txBody>
          <a:bodyPr wrap="square" rtlCol="0">
            <a:spAutoFit/>
          </a:bodyPr>
          <a:lstStyle/>
          <a:p>
            <a:pPr>
              <a:lnSpc>
                <a:spcPct val="150000"/>
              </a:lnSpc>
            </a:pPr>
            <a:r>
              <a:rPr kumimoji="1" lang="zh-CN" altLang="en-US" sz="1100" dirty="0">
                <a:solidFill>
                  <a:schemeClr val="accent2"/>
                </a:solidFill>
                <a:latin typeface="+mj-ea"/>
                <a:ea typeface="+mj-ea"/>
              </a:rPr>
              <a:t>把提示词写好，</a:t>
            </a:r>
            <a:endParaRPr kumimoji="1" lang="en-US" altLang="zh-CN" sz="1100" dirty="0">
              <a:solidFill>
                <a:schemeClr val="accent2"/>
              </a:solidFill>
              <a:latin typeface="+mj-ea"/>
              <a:ea typeface="+mj-ea"/>
            </a:endParaRPr>
          </a:p>
          <a:p>
            <a:pPr>
              <a:lnSpc>
                <a:spcPct val="150000"/>
              </a:lnSpc>
            </a:pPr>
            <a:r>
              <a:rPr lang="zh-CN" altLang="en-US" sz="1100">
                <a:solidFill>
                  <a:schemeClr val="accent2"/>
                </a:solidFill>
                <a:latin typeface="+mj-ea"/>
                <a:ea typeface="+mj-ea"/>
              </a:rPr>
              <a:t>让</a:t>
            </a:r>
            <a:r>
              <a:rPr lang="en-GB" altLang="zh-CN" sz="1100">
                <a:solidFill>
                  <a:schemeClr val="accent2"/>
                </a:solidFill>
                <a:latin typeface="+mj-ea"/>
                <a:ea typeface="+mj-ea"/>
              </a:rPr>
              <a:t>AI</a:t>
            </a:r>
            <a:r>
              <a:rPr lang="zh-CN" altLang="en-US" sz="1100">
                <a:solidFill>
                  <a:schemeClr val="accent2"/>
                </a:solidFill>
                <a:latin typeface="+mj-ea"/>
                <a:ea typeface="+mj-ea"/>
              </a:rPr>
              <a:t>听懂人的意图</a:t>
            </a:r>
          </a:p>
        </p:txBody>
      </p:sp>
      <p:sp>
        <p:nvSpPr>
          <p:cNvPr id="26" name="文本框 25"/>
          <p:cNvSpPr txBox="1"/>
          <p:nvPr/>
        </p:nvSpPr>
        <p:spPr>
          <a:xfrm>
            <a:off x="2406714" y="2291368"/>
            <a:ext cx="2013180" cy="570221"/>
          </a:xfrm>
          <a:prstGeom prst="rect">
            <a:avLst/>
          </a:prstGeom>
          <a:noFill/>
        </p:spPr>
        <p:txBody>
          <a:bodyPr wrap="square" rtlCol="0">
            <a:spAutoFit/>
          </a:bodyPr>
          <a:lstStyle/>
          <a:p>
            <a:pPr>
              <a:lnSpc>
                <a:spcPct val="150000"/>
              </a:lnSpc>
            </a:pPr>
            <a:r>
              <a:rPr kumimoji="1" lang="zh-CN" altLang="en-US" sz="1100" dirty="0">
                <a:solidFill>
                  <a:schemeClr val="accent2"/>
                </a:solidFill>
                <a:latin typeface="+mj-ea"/>
                <a:ea typeface="+mj-ea"/>
              </a:rPr>
              <a:t>编排工作流程步骤和上下文，</a:t>
            </a:r>
            <a:r>
              <a:rPr lang="zh-CN" altLang="en-US" sz="1100">
                <a:solidFill>
                  <a:schemeClr val="accent2"/>
                </a:solidFill>
                <a:latin typeface="+mj-ea"/>
                <a:ea typeface="+mj-ea"/>
              </a:rPr>
              <a:t>让</a:t>
            </a:r>
            <a:r>
              <a:rPr lang="en-GB" altLang="zh-CN" sz="1100">
                <a:solidFill>
                  <a:schemeClr val="accent2"/>
                </a:solidFill>
                <a:latin typeface="+mj-ea"/>
                <a:ea typeface="+mj-ea"/>
              </a:rPr>
              <a:t>AI</a:t>
            </a:r>
            <a:r>
              <a:rPr lang="zh-CN" altLang="en-US" sz="1100">
                <a:solidFill>
                  <a:schemeClr val="accent2"/>
                </a:solidFill>
                <a:latin typeface="+mj-ea"/>
                <a:ea typeface="+mj-ea"/>
              </a:rPr>
              <a:t>知道任务怎么一步步做</a:t>
            </a:r>
          </a:p>
        </p:txBody>
      </p:sp>
      <p:sp>
        <p:nvSpPr>
          <p:cNvPr id="27" name="文本框 26"/>
          <p:cNvSpPr txBox="1"/>
          <p:nvPr/>
        </p:nvSpPr>
        <p:spPr>
          <a:xfrm>
            <a:off x="4637174" y="2291368"/>
            <a:ext cx="2013180" cy="570221"/>
          </a:xfrm>
          <a:prstGeom prst="rect">
            <a:avLst/>
          </a:prstGeom>
          <a:noFill/>
        </p:spPr>
        <p:txBody>
          <a:bodyPr wrap="square" rtlCol="0">
            <a:spAutoFit/>
          </a:bodyPr>
          <a:lstStyle/>
          <a:p>
            <a:pPr>
              <a:lnSpc>
                <a:spcPct val="150000"/>
              </a:lnSpc>
            </a:pPr>
            <a:r>
              <a:rPr kumimoji="1" lang="zh-CN" altLang="en-US" sz="1100" dirty="0">
                <a:solidFill>
                  <a:schemeClr val="accent2"/>
                </a:solidFill>
                <a:latin typeface="+mj-ea"/>
                <a:ea typeface="+mj-ea"/>
              </a:rPr>
              <a:t>搭建可靠及有效的执行环境，让</a:t>
            </a:r>
            <a:r>
              <a:rPr kumimoji="1" lang="en-GB" altLang="zh-CN" sz="1100" dirty="0">
                <a:solidFill>
                  <a:schemeClr val="accent2"/>
                </a:solidFill>
                <a:latin typeface="+mj-ea"/>
                <a:ea typeface="+mj-ea"/>
              </a:rPr>
              <a:t>AI</a:t>
            </a:r>
            <a:r>
              <a:rPr kumimoji="1" lang="zh-CN" altLang="en-US" sz="1100" dirty="0">
                <a:solidFill>
                  <a:schemeClr val="accent2"/>
                </a:solidFill>
                <a:latin typeface="+mj-ea"/>
                <a:ea typeface="+mj-ea"/>
              </a:rPr>
              <a:t>在企业边界内安全执行</a:t>
            </a:r>
          </a:p>
        </p:txBody>
      </p:sp>
      <p:sp>
        <p:nvSpPr>
          <p:cNvPr id="28" name="文本框 27"/>
          <p:cNvSpPr txBox="1"/>
          <p:nvPr/>
        </p:nvSpPr>
        <p:spPr>
          <a:xfrm>
            <a:off x="6872868" y="2291368"/>
            <a:ext cx="1942202" cy="570221"/>
          </a:xfrm>
          <a:prstGeom prst="rect">
            <a:avLst/>
          </a:prstGeom>
          <a:noFill/>
        </p:spPr>
        <p:txBody>
          <a:bodyPr wrap="square" rtlCol="0">
            <a:spAutoFit/>
          </a:bodyPr>
          <a:lstStyle/>
          <a:p>
            <a:pPr>
              <a:lnSpc>
                <a:spcPct val="150000"/>
              </a:lnSpc>
            </a:pPr>
            <a:r>
              <a:rPr kumimoji="1" lang="zh-CN" altLang="en-US" sz="1100" dirty="0">
                <a:solidFill>
                  <a:schemeClr val="accent2"/>
                </a:solidFill>
                <a:latin typeface="+mj-ea"/>
                <a:ea typeface="+mj-ea"/>
              </a:rPr>
              <a:t>设计智能体自我演进闭环，</a:t>
            </a:r>
            <a:r>
              <a:rPr lang="zh-CN" altLang="en-US" sz="1100">
                <a:solidFill>
                  <a:schemeClr val="accent2"/>
                </a:solidFill>
                <a:latin typeface="+mj-ea"/>
                <a:ea typeface="+mj-ea"/>
              </a:rPr>
              <a:t>让</a:t>
            </a:r>
            <a:r>
              <a:rPr lang="en-GB" altLang="zh-CN" sz="1100">
                <a:solidFill>
                  <a:schemeClr val="accent2"/>
                </a:solidFill>
                <a:latin typeface="+mj-ea"/>
                <a:ea typeface="+mj-ea"/>
              </a:rPr>
              <a:t>AI</a:t>
            </a:r>
            <a:r>
              <a:rPr lang="zh-CN" altLang="en-US" sz="1100">
                <a:solidFill>
                  <a:schemeClr val="accent2"/>
                </a:solidFill>
                <a:latin typeface="+mj-ea"/>
                <a:ea typeface="+mj-ea"/>
              </a:rPr>
              <a:t>在使用中持续变好</a:t>
            </a:r>
          </a:p>
        </p:txBody>
      </p:sp>
      <p:sp>
        <p:nvSpPr>
          <p:cNvPr id="30" name="文本框 29"/>
          <p:cNvSpPr txBox="1"/>
          <p:nvPr/>
        </p:nvSpPr>
        <p:spPr>
          <a:xfrm>
            <a:off x="285659" y="3195709"/>
            <a:ext cx="1942202"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高质量</a:t>
            </a:r>
            <a:r>
              <a:rPr lang="en-GB" altLang="zh-CN" sz="1000">
                <a:solidFill>
                  <a:schemeClr val="accent4"/>
                </a:solidFill>
                <a:latin typeface="+mj-ea"/>
                <a:ea typeface="+mj-ea"/>
              </a:rPr>
              <a:t>Prompt</a:t>
            </a:r>
            <a:r>
              <a:rPr lang="zh-CN" altLang="en-GB" sz="1000">
                <a:solidFill>
                  <a:schemeClr val="accent4"/>
                </a:solidFill>
                <a:latin typeface="+mj-ea"/>
                <a:ea typeface="+mj-ea"/>
              </a:rPr>
              <a:t>、</a:t>
            </a:r>
            <a:r>
              <a:rPr lang="zh-CN" altLang="en-US" sz="1000">
                <a:solidFill>
                  <a:schemeClr val="accent4"/>
                </a:solidFill>
                <a:latin typeface="+mj-ea"/>
                <a:ea typeface="+mj-ea"/>
              </a:rPr>
              <a:t>任务模板、角色设定</a:t>
            </a:r>
          </a:p>
        </p:txBody>
      </p:sp>
      <p:sp>
        <p:nvSpPr>
          <p:cNvPr id="31" name="文本框 30"/>
          <p:cNvSpPr txBox="1"/>
          <p:nvPr/>
        </p:nvSpPr>
        <p:spPr>
          <a:xfrm>
            <a:off x="285660" y="4005321"/>
            <a:ext cx="1942202"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提升单次交互质量，让个人可以更好使用</a:t>
            </a:r>
            <a:r>
              <a:rPr lang="en-GB" altLang="zh-CN" sz="1000">
                <a:solidFill>
                  <a:schemeClr val="accent4"/>
                </a:solidFill>
                <a:latin typeface="+mj-ea"/>
                <a:ea typeface="+mj-ea"/>
              </a:rPr>
              <a:t>AI</a:t>
            </a:r>
            <a:endParaRPr lang="zh-CN" altLang="en-US" sz="1000">
              <a:solidFill>
                <a:schemeClr val="accent4"/>
              </a:solidFill>
              <a:latin typeface="+mj-ea"/>
              <a:ea typeface="+mj-ea"/>
            </a:endParaRPr>
          </a:p>
        </p:txBody>
      </p:sp>
      <p:sp>
        <p:nvSpPr>
          <p:cNvPr id="33" name="文本框 32"/>
          <p:cNvSpPr txBox="1"/>
          <p:nvPr/>
        </p:nvSpPr>
        <p:spPr>
          <a:xfrm>
            <a:off x="2439923" y="3195709"/>
            <a:ext cx="1942202"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流程步骤、上下文组织、输入输出标准</a:t>
            </a:r>
          </a:p>
        </p:txBody>
      </p:sp>
      <p:sp>
        <p:nvSpPr>
          <p:cNvPr id="34" name="文本框 33"/>
          <p:cNvSpPr txBox="1"/>
          <p:nvPr/>
        </p:nvSpPr>
        <p:spPr>
          <a:xfrm>
            <a:off x="2439923" y="3985860"/>
            <a:ext cx="1942202"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把一次性问答变成可复用的业务流程</a:t>
            </a:r>
          </a:p>
        </p:txBody>
      </p:sp>
      <p:sp>
        <p:nvSpPr>
          <p:cNvPr id="36" name="文本框 35"/>
          <p:cNvSpPr txBox="1"/>
          <p:nvPr/>
        </p:nvSpPr>
        <p:spPr>
          <a:xfrm>
            <a:off x="4694926" y="3195709"/>
            <a:ext cx="1942202"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权限、工具调用、沙箱、审批、审计</a:t>
            </a:r>
          </a:p>
        </p:txBody>
      </p:sp>
      <p:sp>
        <p:nvSpPr>
          <p:cNvPr id="37" name="文本框 36"/>
          <p:cNvSpPr txBox="1"/>
          <p:nvPr/>
        </p:nvSpPr>
        <p:spPr>
          <a:xfrm>
            <a:off x="4694925" y="3963239"/>
            <a:ext cx="2121055"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让</a:t>
            </a:r>
            <a:r>
              <a:rPr lang="en-GB" altLang="zh-CN" sz="1000">
                <a:solidFill>
                  <a:schemeClr val="accent4"/>
                </a:solidFill>
                <a:latin typeface="+mj-ea"/>
                <a:ea typeface="+mj-ea"/>
              </a:rPr>
              <a:t>Agent</a:t>
            </a:r>
            <a:r>
              <a:rPr lang="zh-CN" altLang="en-US" sz="1000">
                <a:solidFill>
                  <a:schemeClr val="accent4"/>
                </a:solidFill>
                <a:latin typeface="+mj-ea"/>
                <a:ea typeface="+mj-ea"/>
              </a:rPr>
              <a:t>能调用系统、处理文件、执行任务，同时可控可追溯</a:t>
            </a:r>
          </a:p>
        </p:txBody>
      </p:sp>
      <p:sp>
        <p:nvSpPr>
          <p:cNvPr id="39" name="文本框 38"/>
          <p:cNvSpPr txBox="1"/>
          <p:nvPr/>
        </p:nvSpPr>
        <p:spPr>
          <a:xfrm>
            <a:off x="6849191" y="3195709"/>
            <a:ext cx="1942202"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评测集、反馈数据、错误复盘、模型</a:t>
            </a:r>
            <a:r>
              <a:rPr lang="en-US" altLang="zh-CN" sz="1000">
                <a:solidFill>
                  <a:schemeClr val="accent4"/>
                </a:solidFill>
                <a:latin typeface="+mj-ea"/>
                <a:ea typeface="+mj-ea"/>
              </a:rPr>
              <a:t>/</a:t>
            </a:r>
            <a:r>
              <a:rPr lang="en-GB" altLang="zh-CN" sz="1000">
                <a:solidFill>
                  <a:schemeClr val="accent4"/>
                </a:solidFill>
                <a:latin typeface="+mj-ea"/>
                <a:ea typeface="+mj-ea"/>
              </a:rPr>
              <a:t>Skill</a:t>
            </a:r>
            <a:r>
              <a:rPr lang="zh-CN" altLang="en-US" sz="1000">
                <a:solidFill>
                  <a:schemeClr val="accent4"/>
                </a:solidFill>
                <a:latin typeface="+mj-ea"/>
                <a:ea typeface="+mj-ea"/>
              </a:rPr>
              <a:t>迭代</a:t>
            </a:r>
          </a:p>
        </p:txBody>
      </p:sp>
      <p:sp>
        <p:nvSpPr>
          <p:cNvPr id="40" name="文本框 39"/>
          <p:cNvSpPr txBox="1"/>
          <p:nvPr/>
        </p:nvSpPr>
        <p:spPr>
          <a:xfrm>
            <a:off x="6849191" y="3963239"/>
            <a:ext cx="1942202" cy="526811"/>
          </a:xfrm>
          <a:prstGeom prst="rect">
            <a:avLst/>
          </a:prstGeom>
          <a:noFill/>
        </p:spPr>
        <p:txBody>
          <a:bodyPr wrap="square" rtlCol="0">
            <a:spAutoFit/>
          </a:bodyPr>
          <a:lstStyle/>
          <a:p>
            <a:pPr>
              <a:lnSpc>
                <a:spcPct val="150000"/>
              </a:lnSpc>
            </a:pPr>
            <a:r>
              <a:rPr lang="zh-CN" altLang="en-US" sz="1000">
                <a:solidFill>
                  <a:schemeClr val="accent4"/>
                </a:solidFill>
                <a:latin typeface="+mj-ea"/>
                <a:ea typeface="+mj-ea"/>
              </a:rPr>
              <a:t>把业务反馈沉淀为组织资产，形成越用越好的能力飞轮</a:t>
            </a:r>
          </a:p>
        </p:txBody>
      </p:sp>
      <p:sp>
        <p:nvSpPr>
          <p:cNvPr id="45" name="文本框 44"/>
          <p:cNvSpPr txBox="1"/>
          <p:nvPr/>
        </p:nvSpPr>
        <p:spPr>
          <a:xfrm>
            <a:off x="285657" y="3020154"/>
            <a:ext cx="697627" cy="246221"/>
          </a:xfrm>
          <a:prstGeom prst="rect">
            <a:avLst/>
          </a:prstGeom>
          <a:noFill/>
        </p:spPr>
        <p:txBody>
          <a:bodyPr wrap="none" rtlCol="0">
            <a:spAutoFit/>
          </a:bodyPr>
          <a:lstStyle/>
          <a:p>
            <a:r>
              <a:rPr kumimoji="1" lang="zh-CN" altLang="en-US" sz="1000" b="1" dirty="0">
                <a:solidFill>
                  <a:schemeClr val="accent1"/>
                </a:solidFill>
                <a:latin typeface="+mn-ea"/>
                <a:ea typeface="+mn-ea"/>
              </a:rPr>
              <a:t>关键产出</a:t>
            </a:r>
          </a:p>
        </p:txBody>
      </p:sp>
      <p:sp>
        <p:nvSpPr>
          <p:cNvPr id="46" name="文本框 45"/>
          <p:cNvSpPr txBox="1"/>
          <p:nvPr/>
        </p:nvSpPr>
        <p:spPr>
          <a:xfrm>
            <a:off x="285659" y="3801039"/>
            <a:ext cx="1125629" cy="246221"/>
          </a:xfrm>
          <a:prstGeom prst="rect">
            <a:avLst/>
          </a:prstGeom>
          <a:noFill/>
        </p:spPr>
        <p:txBody>
          <a:bodyPr wrap="none" rtlCol="0">
            <a:spAutoFit/>
          </a:bodyPr>
          <a:lstStyle/>
          <a:p>
            <a:r>
              <a:rPr kumimoji="1" lang="zh-CN" altLang="en-US" sz="1000" b="1" dirty="0">
                <a:solidFill>
                  <a:schemeClr val="accent1"/>
                </a:solidFill>
                <a:latin typeface="+mn-ea"/>
                <a:ea typeface="+mn-ea"/>
              </a:rPr>
              <a:t>对</a:t>
            </a:r>
            <a:r>
              <a:rPr kumimoji="1" lang="en-US" altLang="zh-CN" sz="1000" b="1" dirty="0">
                <a:solidFill>
                  <a:schemeClr val="accent1"/>
                </a:solidFill>
                <a:latin typeface="+mn-ea"/>
                <a:ea typeface="+mn-ea"/>
              </a:rPr>
              <a:t>EWork</a:t>
            </a:r>
            <a:r>
              <a:rPr kumimoji="1" lang="zh-CN" altLang="en-US" sz="1000" b="1" dirty="0">
                <a:solidFill>
                  <a:schemeClr val="accent1"/>
                </a:solidFill>
                <a:latin typeface="+mn-ea"/>
                <a:ea typeface="+mn-ea"/>
              </a:rPr>
              <a:t>的价值</a:t>
            </a:r>
          </a:p>
        </p:txBody>
      </p:sp>
      <p:cxnSp>
        <p:nvCxnSpPr>
          <p:cNvPr id="50" name="直线连接符 49"/>
          <p:cNvCxnSpPr>
            <a:stCxn id="45" idx="3"/>
          </p:cNvCxnSpPr>
          <p:nvPr/>
        </p:nvCxnSpPr>
        <p:spPr bwMode="auto">
          <a:xfrm flipV="1">
            <a:off x="983284" y="3143264"/>
            <a:ext cx="7742262" cy="1"/>
          </a:xfrm>
          <a:prstGeom prst="line">
            <a:avLst/>
          </a:prstGeom>
          <a:solidFill>
            <a:schemeClr val="accent1"/>
          </a:solidFill>
          <a:ln w="9525" cap="flat" cmpd="sng" algn="ctr">
            <a:solidFill>
              <a:schemeClr val="accent6"/>
            </a:solidFill>
            <a:prstDash val="solid"/>
            <a:round/>
            <a:headEnd type="none" w="med" len="med"/>
            <a:tailEnd type="none" w="med" len="med"/>
          </a:ln>
        </p:spPr>
      </p:cxnSp>
      <p:cxnSp>
        <p:nvCxnSpPr>
          <p:cNvPr id="51" name="直线连接符 50"/>
          <p:cNvCxnSpPr>
            <a:stCxn id="46" idx="3"/>
          </p:cNvCxnSpPr>
          <p:nvPr/>
        </p:nvCxnSpPr>
        <p:spPr bwMode="auto">
          <a:xfrm flipV="1">
            <a:off x="1411288" y="3918180"/>
            <a:ext cx="7314258" cy="5970"/>
          </a:xfrm>
          <a:prstGeom prst="line">
            <a:avLst/>
          </a:prstGeom>
          <a:solidFill>
            <a:schemeClr val="accent1"/>
          </a:solidFill>
          <a:ln w="9525" cap="flat" cmpd="sng" algn="ctr">
            <a:solidFill>
              <a:schemeClr val="accent6"/>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a:extLst>
              <a:ext uri="{FF2B5EF4-FFF2-40B4-BE49-F238E27FC236}">
                <a16:creationId xmlns:a16="http://schemas.microsoft.com/office/drawing/2014/main" id="{38760D9F-D56E-A6A5-5175-4540B68DB8E4}"/>
              </a:ext>
            </a:extLst>
          </p:cNvPr>
          <p:cNvSpPr/>
          <p:nvPr/>
        </p:nvSpPr>
        <p:spPr>
          <a:xfrm>
            <a:off x="2616992" y="2077811"/>
            <a:ext cx="1944000" cy="680882"/>
          </a:xfrm>
          <a:prstGeom prst="rect">
            <a:avLst/>
          </a:prstGeom>
          <a:solidFill>
            <a:srgbClr val="FFC000">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6" name="AutoShape 5">
            <a:extLst>
              <a:ext uri="{FF2B5EF4-FFF2-40B4-BE49-F238E27FC236}">
                <a16:creationId xmlns:a16="http://schemas.microsoft.com/office/drawing/2014/main" id="{6684936D-9A17-6ECE-B88B-780DC76DBC9B}"/>
              </a:ext>
            </a:extLst>
          </p:cNvPr>
          <p:cNvSpPr/>
          <p:nvPr/>
        </p:nvSpPr>
        <p:spPr>
          <a:xfrm>
            <a:off x="2616992" y="3424656"/>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7" name="AutoShape 5">
            <a:extLst>
              <a:ext uri="{FF2B5EF4-FFF2-40B4-BE49-F238E27FC236}">
                <a16:creationId xmlns:a16="http://schemas.microsoft.com/office/drawing/2014/main" id="{9A8C8B1D-5B5B-181D-EF33-54A855BE53F1}"/>
              </a:ext>
            </a:extLst>
          </p:cNvPr>
          <p:cNvSpPr/>
          <p:nvPr/>
        </p:nvSpPr>
        <p:spPr>
          <a:xfrm>
            <a:off x="4686176" y="2077811"/>
            <a:ext cx="1944000" cy="680882"/>
          </a:xfrm>
          <a:prstGeom prst="rect">
            <a:avLst/>
          </a:prstGeom>
          <a:solidFill>
            <a:srgbClr val="FFC000">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8" name="AutoShape 5">
            <a:extLst>
              <a:ext uri="{FF2B5EF4-FFF2-40B4-BE49-F238E27FC236}">
                <a16:creationId xmlns:a16="http://schemas.microsoft.com/office/drawing/2014/main" id="{62D4DCAD-8126-7CED-E1E1-518B8BE2BDFF}"/>
              </a:ext>
            </a:extLst>
          </p:cNvPr>
          <p:cNvSpPr/>
          <p:nvPr/>
        </p:nvSpPr>
        <p:spPr>
          <a:xfrm>
            <a:off x="4686176" y="3424656"/>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9" name="AutoShape 5">
            <a:extLst>
              <a:ext uri="{FF2B5EF4-FFF2-40B4-BE49-F238E27FC236}">
                <a16:creationId xmlns:a16="http://schemas.microsoft.com/office/drawing/2014/main" id="{69F4CC33-93CC-3E51-A5D6-B023A4323CBA}"/>
              </a:ext>
            </a:extLst>
          </p:cNvPr>
          <p:cNvSpPr/>
          <p:nvPr/>
        </p:nvSpPr>
        <p:spPr>
          <a:xfrm>
            <a:off x="6778926" y="2077811"/>
            <a:ext cx="1944000" cy="680882"/>
          </a:xfrm>
          <a:prstGeom prst="rect">
            <a:avLst/>
          </a:prstGeom>
          <a:solidFill>
            <a:srgbClr val="FFC000">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0" name="AutoShape 5">
            <a:extLst>
              <a:ext uri="{FF2B5EF4-FFF2-40B4-BE49-F238E27FC236}">
                <a16:creationId xmlns:a16="http://schemas.microsoft.com/office/drawing/2014/main" id="{7ECB865C-4BED-CD06-3ED2-4302534C567A}"/>
              </a:ext>
            </a:extLst>
          </p:cNvPr>
          <p:cNvSpPr/>
          <p:nvPr/>
        </p:nvSpPr>
        <p:spPr>
          <a:xfrm>
            <a:off x="6778926" y="3424656"/>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4" name="AutoShape 5">
            <a:extLst>
              <a:ext uri="{FF2B5EF4-FFF2-40B4-BE49-F238E27FC236}">
                <a16:creationId xmlns:a16="http://schemas.microsoft.com/office/drawing/2014/main" id="{8FA61599-2FF1-F20D-6D0F-7E3FA4E680B5}"/>
              </a:ext>
            </a:extLst>
          </p:cNvPr>
          <p:cNvSpPr/>
          <p:nvPr/>
        </p:nvSpPr>
        <p:spPr>
          <a:xfrm>
            <a:off x="528955" y="2077811"/>
            <a:ext cx="1944000" cy="680882"/>
          </a:xfrm>
          <a:prstGeom prst="rect">
            <a:avLst/>
          </a:prstGeom>
          <a:solidFill>
            <a:srgbClr val="FFC000">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2" name="标题 1"/>
          <p:cNvSpPr>
            <a:spLocks noGrp="1"/>
          </p:cNvSpPr>
          <p:nvPr>
            <p:ph type="title"/>
          </p:nvPr>
        </p:nvSpPr>
        <p:spPr/>
        <p:txBody>
          <a:bodyPr/>
          <a:lstStyle/>
          <a:p>
            <a:r>
              <a:rPr lang="en-US" altLang="zh-CN" dirty="0"/>
              <a:t>EWork</a:t>
            </a:r>
            <a:r>
              <a:rPr lang="zh-CN" altLang="en-US" dirty="0"/>
              <a:t>与传统资管系统的核心差异</a:t>
            </a:r>
          </a:p>
        </p:txBody>
      </p:sp>
      <p:sp>
        <p:nvSpPr>
          <p:cNvPr id="11" name="AutoShape 5"/>
          <p:cNvSpPr/>
          <p:nvPr/>
        </p:nvSpPr>
        <p:spPr>
          <a:xfrm>
            <a:off x="528955" y="3424656"/>
            <a:ext cx="1944000" cy="680881"/>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556577" y="1635177"/>
            <a:ext cx="1885315" cy="247650"/>
          </a:xfrm>
          <a:prstGeom prst="rect">
            <a:avLst/>
          </a:prstGeom>
          <a:solidFill>
            <a:srgbClr val="000000">
              <a:alpha val="0"/>
            </a:srgbClr>
          </a:solidFill>
        </p:spPr>
        <p:txBody>
          <a:bodyPr lIns="0" tIns="0" rIns="0" bIns="0" rtlCol="0" anchor="ctr"/>
          <a:lstStyle/>
          <a:p>
            <a:pPr algn="ctr">
              <a:lnSpc>
                <a:spcPct val="120000"/>
              </a:lnSpc>
              <a:buClrTx/>
              <a:buSzTx/>
              <a:buFontTx/>
              <a:defRPr/>
            </a:pPr>
            <a:r>
              <a:rPr lang="zh-CN" altLang="en-US" sz="1600" b="1">
                <a:solidFill>
                  <a:schemeClr val="accent1"/>
                </a:solidFill>
                <a:latin typeface="+mj-ea"/>
                <a:ea typeface="+mj-ea"/>
              </a:rPr>
              <a:t>交互范式转变</a:t>
            </a:r>
          </a:p>
        </p:txBody>
      </p:sp>
      <p:sp>
        <p:nvSpPr>
          <p:cNvPr id="23" name="TextBox 18"/>
          <p:cNvSpPr txBox="1"/>
          <p:nvPr/>
        </p:nvSpPr>
        <p:spPr>
          <a:xfrm>
            <a:off x="660400" y="2157688"/>
            <a:ext cx="1704098" cy="1855512"/>
          </a:xfrm>
          <a:prstGeom prst="rect">
            <a:avLst/>
          </a:prstGeom>
          <a:solidFill>
            <a:srgbClr val="000000">
              <a:alpha val="0"/>
            </a:srgbClr>
          </a:solidFill>
        </p:spPr>
        <p:txBody>
          <a:bodyPr lIns="0" tIns="0" rIns="0" bIns="0" rtlCol="0" anchor="t"/>
          <a:lstStyle/>
          <a:p>
            <a:pPr indent="0">
              <a:lnSpc>
                <a:spcPct val="150000"/>
              </a:lnSpc>
              <a:defRPr/>
            </a:pPr>
            <a:r>
              <a:rPr lang="zh-CN" altLang="en-US" sz="1000">
                <a:solidFill>
                  <a:schemeClr val="accent4"/>
                </a:solidFill>
                <a:latin typeface="+mj-ea"/>
                <a:ea typeface="+mj-ea"/>
              </a:rPr>
              <a:t>传统资管系统以流程为中心，</a:t>
            </a:r>
            <a:endParaRPr lang="en-US" altLang="zh-CN" sz="1000">
              <a:solidFill>
                <a:schemeClr val="accent4"/>
              </a:solidFill>
              <a:latin typeface="+mj-ea"/>
              <a:ea typeface="+mj-ea"/>
            </a:endParaRPr>
          </a:p>
          <a:p>
            <a:pPr indent="0">
              <a:lnSpc>
                <a:spcPct val="150000"/>
              </a:lnSpc>
              <a:defRPr/>
            </a:pPr>
            <a:r>
              <a:rPr lang="zh-CN" altLang="en-US" sz="1000">
                <a:solidFill>
                  <a:schemeClr val="accent4"/>
                </a:solidFill>
                <a:latin typeface="+mj-ea"/>
                <a:ea typeface="+mj-ea"/>
              </a:rPr>
              <a:t>要求用户适应系统操作逻辑；</a:t>
            </a:r>
            <a:endParaRPr lang="en-US" altLang="zh-CN" sz="1000">
              <a:solidFill>
                <a:schemeClr val="accent4"/>
              </a:solidFill>
              <a:latin typeface="+mj-ea"/>
              <a:ea typeface="+mj-ea"/>
            </a:endParaRPr>
          </a:p>
          <a:p>
            <a:pPr indent="0">
              <a:lnSpc>
                <a:spcPct val="150000"/>
              </a:lnSpc>
              <a:defRPr/>
            </a:pPr>
            <a:endParaRPr lang="en-US" altLang="zh-CN" sz="1000">
              <a:solidFill>
                <a:schemeClr val="accent4"/>
              </a:solidFill>
              <a:latin typeface="+mj-ea"/>
              <a:ea typeface="+mj-ea"/>
            </a:endParaRPr>
          </a:p>
          <a:p>
            <a:pPr indent="0">
              <a:lnSpc>
                <a:spcPct val="150000"/>
              </a:lnSpc>
              <a:defRPr/>
            </a:pPr>
            <a:endParaRPr lang="en-US" altLang="zh-CN" sz="1000">
              <a:solidFill>
                <a:schemeClr val="accent4"/>
              </a:solidFill>
              <a:latin typeface="+mj-ea"/>
              <a:ea typeface="+mj-ea"/>
            </a:endParaRPr>
          </a:p>
          <a:p>
            <a:pPr indent="0">
              <a:lnSpc>
                <a:spcPct val="150000"/>
              </a:lnSpc>
              <a:defRPr/>
            </a:pPr>
            <a:endParaRPr lang="en-US" altLang="zh-CN" sz="1000">
              <a:solidFill>
                <a:schemeClr val="accent4"/>
              </a:solidFill>
              <a:latin typeface="+mj-ea"/>
              <a:ea typeface="+mj-ea"/>
            </a:endParaRPr>
          </a:p>
          <a:p>
            <a:pPr indent="0">
              <a:lnSpc>
                <a:spcPct val="150000"/>
              </a:lnSpc>
              <a:defRPr/>
            </a:pPr>
            <a:endParaRPr lang="en-US" altLang="zh-CN" sz="1000">
              <a:solidFill>
                <a:schemeClr val="accent4"/>
              </a:solidFill>
              <a:latin typeface="+mj-ea"/>
              <a:ea typeface="+mj-ea"/>
            </a:endParaRPr>
          </a:p>
          <a:p>
            <a:pPr indent="0">
              <a:lnSpc>
                <a:spcPct val="150000"/>
              </a:lnSpc>
              <a:defRPr/>
            </a:pPr>
            <a:r>
              <a:rPr lang="en-US" altLang="zh-CN" sz="1000">
                <a:solidFill>
                  <a:schemeClr val="accent4"/>
                </a:solidFill>
                <a:latin typeface="+mj-ea"/>
                <a:ea typeface="+mj-ea"/>
              </a:rPr>
              <a:t>EWork</a:t>
            </a:r>
            <a:r>
              <a:rPr lang="zh-CN" altLang="en-US" sz="1000">
                <a:solidFill>
                  <a:schemeClr val="accent4"/>
                </a:solidFill>
                <a:latin typeface="+mj-ea"/>
                <a:ea typeface="+mj-ea"/>
              </a:rPr>
              <a:t>以意图为中心，</a:t>
            </a:r>
            <a:r>
              <a:rPr lang="en-US" altLang="zh-CN" sz="1000">
                <a:solidFill>
                  <a:schemeClr val="accent4"/>
                </a:solidFill>
                <a:latin typeface="+mj-ea"/>
                <a:ea typeface="+mj-ea"/>
              </a:rPr>
              <a:t>AI</a:t>
            </a:r>
            <a:r>
              <a:rPr lang="zh-CN" altLang="en-US" sz="1000">
                <a:solidFill>
                  <a:schemeClr val="accent4"/>
                </a:solidFill>
                <a:latin typeface="+mj-ea"/>
                <a:ea typeface="+mj-ea"/>
              </a:rPr>
              <a:t>理解自然语言并直接执行任务。</a:t>
            </a:r>
          </a:p>
        </p:txBody>
      </p:sp>
      <p:sp>
        <p:nvSpPr>
          <p:cNvPr id="14" name="TextBox 14"/>
          <p:cNvSpPr txBox="1"/>
          <p:nvPr/>
        </p:nvSpPr>
        <p:spPr>
          <a:xfrm>
            <a:off x="528955" y="1016000"/>
            <a:ext cx="3352800" cy="330200"/>
          </a:xfrm>
          <a:prstGeom prst="rect">
            <a:avLst/>
          </a:prstGeom>
          <a:solidFill>
            <a:srgbClr val="000000">
              <a:alpha val="0"/>
            </a:srgbClr>
          </a:solidFill>
        </p:spPr>
        <p:txBody>
          <a:bodyPr lIns="0" tIns="0" rIns="0" bIns="0" rtlCol="0" anchor="ctr">
            <a:scene3d>
              <a:camera prst="orthographicFront"/>
              <a:lightRig rig="threePt" dir="t"/>
            </a:scene3d>
          </a:bodyPr>
          <a:lstStyle/>
          <a:p>
            <a:pPr indent="0" algn="l">
              <a:lnSpc>
                <a:spcPct val="120000"/>
              </a:lnSpc>
              <a:defRPr/>
            </a:pPr>
            <a:r>
              <a:rPr lang="en-US" sz="1400">
                <a:solidFill>
                  <a:schemeClr val="accent1"/>
                </a:solidFill>
                <a:effectLst/>
                <a:latin typeface="+mn-ea"/>
                <a:ea typeface="+mn-ea"/>
              </a:rPr>
              <a:t>从流程驱动到意图驱动的范式转变</a:t>
            </a:r>
          </a:p>
        </p:txBody>
      </p:sp>
      <p:sp>
        <p:nvSpPr>
          <p:cNvPr id="29" name="TextBox 14"/>
          <p:cNvSpPr txBox="1"/>
          <p:nvPr/>
        </p:nvSpPr>
        <p:spPr>
          <a:xfrm>
            <a:off x="2645092" y="1640257"/>
            <a:ext cx="1885315" cy="247650"/>
          </a:xfrm>
          <a:prstGeom prst="rect">
            <a:avLst/>
          </a:prstGeom>
          <a:solidFill>
            <a:srgbClr val="000000">
              <a:alpha val="0"/>
            </a:srgbClr>
          </a:solidFill>
        </p:spPr>
        <p:txBody>
          <a:bodyPr lIns="0" tIns="0" rIns="0" bIns="0" rtlCol="0" anchor="ctr"/>
          <a:lstStyle/>
          <a:p>
            <a:pPr algn="ctr">
              <a:lnSpc>
                <a:spcPct val="120000"/>
              </a:lnSpc>
              <a:buClrTx/>
              <a:buSzTx/>
              <a:buFontTx/>
              <a:defRPr/>
            </a:pPr>
            <a:r>
              <a:rPr lang="zh-CN" altLang="en-US" sz="1600" b="1">
                <a:solidFill>
                  <a:schemeClr val="accent1"/>
                </a:solidFill>
                <a:latin typeface="+mj-ea"/>
                <a:ea typeface="+mj-ea"/>
              </a:rPr>
              <a:t>系统集成模式</a:t>
            </a:r>
          </a:p>
        </p:txBody>
      </p:sp>
      <p:sp>
        <p:nvSpPr>
          <p:cNvPr id="30" name="TextBox 18"/>
          <p:cNvSpPr txBox="1"/>
          <p:nvPr/>
        </p:nvSpPr>
        <p:spPr>
          <a:xfrm>
            <a:off x="2819400" y="2152608"/>
            <a:ext cx="1540140" cy="1974892"/>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a:solidFill>
                  <a:schemeClr val="accent4"/>
                </a:solidFill>
                <a:latin typeface="+mj-ea"/>
                <a:ea typeface="+mj-ea"/>
              </a:rPr>
              <a:t>传统架构形成烟囱式孤岛，数据与功能割裂；</a:t>
            </a: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r>
              <a:rPr lang="en-US" altLang="zh-CN" sz="1000">
                <a:solidFill>
                  <a:schemeClr val="accent4"/>
                </a:solidFill>
                <a:latin typeface="+mj-ea"/>
                <a:ea typeface="+mj-ea"/>
              </a:rPr>
              <a:t>EWork</a:t>
            </a:r>
            <a:r>
              <a:rPr lang="zh-CN" altLang="en-US" sz="1000">
                <a:solidFill>
                  <a:schemeClr val="accent4"/>
                </a:solidFill>
                <a:latin typeface="+mj-ea"/>
                <a:ea typeface="+mj-ea"/>
              </a:rPr>
              <a:t>通过逻辑覆盖层统一编排，实现跨系统协同。</a:t>
            </a:r>
          </a:p>
        </p:txBody>
      </p:sp>
      <p:sp>
        <p:nvSpPr>
          <p:cNvPr id="33" name="TextBox 14"/>
          <p:cNvSpPr txBox="1"/>
          <p:nvPr/>
        </p:nvSpPr>
        <p:spPr>
          <a:xfrm>
            <a:off x="4715518" y="1640257"/>
            <a:ext cx="1885315" cy="247650"/>
          </a:xfrm>
          <a:prstGeom prst="rect">
            <a:avLst/>
          </a:prstGeom>
          <a:solidFill>
            <a:srgbClr val="000000">
              <a:alpha val="0"/>
            </a:srgbClr>
          </a:solidFill>
        </p:spPr>
        <p:txBody>
          <a:bodyPr lIns="0" tIns="0" rIns="0" bIns="0" rtlCol="0" anchor="ctr"/>
          <a:lstStyle/>
          <a:p>
            <a:pPr algn="ctr">
              <a:lnSpc>
                <a:spcPct val="120000"/>
              </a:lnSpc>
              <a:buClrTx/>
              <a:buSzTx/>
              <a:buFontTx/>
              <a:defRPr/>
            </a:pPr>
            <a:r>
              <a:rPr lang="zh-CN" altLang="en-US" sz="1600" b="1">
                <a:solidFill>
                  <a:schemeClr val="accent1"/>
                </a:solidFill>
                <a:latin typeface="+mj-ea"/>
                <a:ea typeface="+mj-ea"/>
              </a:rPr>
              <a:t>知识资产激活</a:t>
            </a:r>
          </a:p>
        </p:txBody>
      </p:sp>
      <p:sp>
        <p:nvSpPr>
          <p:cNvPr id="34" name="TextBox 18"/>
          <p:cNvSpPr txBox="1"/>
          <p:nvPr/>
        </p:nvSpPr>
        <p:spPr>
          <a:xfrm>
            <a:off x="4814443" y="2152607"/>
            <a:ext cx="1659476" cy="2204523"/>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a:solidFill>
                  <a:schemeClr val="accent4"/>
                </a:solidFill>
                <a:latin typeface="+mj-ea"/>
                <a:ea typeface="+mj-ea"/>
              </a:rPr>
              <a:t>传统模式下静态文档沉睡在系统中难以复用；</a:t>
            </a: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r>
              <a:rPr lang="en-US" altLang="zh-CN" sz="1000">
                <a:solidFill>
                  <a:schemeClr val="accent4"/>
                </a:solidFill>
                <a:latin typeface="+mj-ea"/>
                <a:ea typeface="+mj-ea"/>
              </a:rPr>
              <a:t>EWork</a:t>
            </a:r>
            <a:r>
              <a:rPr lang="zh-CN" altLang="en-US" sz="1000">
                <a:solidFill>
                  <a:schemeClr val="accent4"/>
                </a:solidFill>
                <a:latin typeface="+mj-ea"/>
                <a:ea typeface="+mj-ea"/>
              </a:rPr>
              <a:t>通过实时语义内存组织知识，使其可被</a:t>
            </a:r>
            <a:r>
              <a:rPr lang="en-US" altLang="zh-CN" sz="1000">
                <a:solidFill>
                  <a:schemeClr val="accent4"/>
                </a:solidFill>
                <a:latin typeface="+mj-ea"/>
                <a:ea typeface="+mj-ea"/>
              </a:rPr>
              <a:t>AI</a:t>
            </a:r>
            <a:r>
              <a:rPr lang="zh-CN" altLang="en-US" sz="1000">
                <a:solidFill>
                  <a:schemeClr val="accent4"/>
                </a:solidFill>
                <a:latin typeface="+mj-ea"/>
                <a:ea typeface="+mj-ea"/>
              </a:rPr>
              <a:t>即时调用。</a:t>
            </a:r>
          </a:p>
        </p:txBody>
      </p:sp>
      <p:sp>
        <p:nvSpPr>
          <p:cNvPr id="37" name="TextBox 14"/>
          <p:cNvSpPr txBox="1"/>
          <p:nvPr/>
        </p:nvSpPr>
        <p:spPr>
          <a:xfrm>
            <a:off x="6808268" y="1635177"/>
            <a:ext cx="1885315" cy="247650"/>
          </a:xfrm>
          <a:prstGeom prst="rect">
            <a:avLst/>
          </a:prstGeom>
          <a:solidFill>
            <a:srgbClr val="000000">
              <a:alpha val="0"/>
            </a:srgbClr>
          </a:solidFill>
        </p:spPr>
        <p:txBody>
          <a:bodyPr lIns="0" tIns="0" rIns="0" bIns="0" rtlCol="0" anchor="ctr"/>
          <a:lstStyle/>
          <a:p>
            <a:pPr algn="ctr">
              <a:lnSpc>
                <a:spcPct val="120000"/>
              </a:lnSpc>
              <a:buClrTx/>
              <a:buSzTx/>
              <a:buFontTx/>
              <a:defRPr/>
            </a:pPr>
            <a:r>
              <a:rPr lang="zh-CN" altLang="en-US" sz="1600" b="1">
                <a:solidFill>
                  <a:schemeClr val="accent1"/>
                </a:solidFill>
                <a:latin typeface="+mj-ea"/>
                <a:ea typeface="+mj-ea"/>
              </a:rPr>
              <a:t>工作模式升级</a:t>
            </a:r>
          </a:p>
        </p:txBody>
      </p:sp>
      <p:sp>
        <p:nvSpPr>
          <p:cNvPr id="38" name="TextBox 18"/>
          <p:cNvSpPr txBox="1"/>
          <p:nvPr/>
        </p:nvSpPr>
        <p:spPr>
          <a:xfrm>
            <a:off x="6928823" y="2147527"/>
            <a:ext cx="1686222" cy="179793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00">
                <a:solidFill>
                  <a:schemeClr val="accent4"/>
                </a:solidFill>
                <a:latin typeface="+mj-ea"/>
                <a:ea typeface="+mj-ea"/>
              </a:rPr>
              <a:t>传统方式依赖人工辅助工具提升效率但仍需人驱动；</a:t>
            </a: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endParaRPr lang="en-US" altLang="zh-CN" sz="1000">
              <a:solidFill>
                <a:schemeClr val="accent4"/>
              </a:solidFill>
              <a:latin typeface="+mj-ea"/>
              <a:ea typeface="+mj-ea"/>
            </a:endParaRPr>
          </a:p>
          <a:p>
            <a:pPr indent="0" algn="just">
              <a:lnSpc>
                <a:spcPct val="150000"/>
              </a:lnSpc>
              <a:defRPr/>
            </a:pPr>
            <a:r>
              <a:rPr lang="en-US" altLang="zh-CN" sz="1000">
                <a:solidFill>
                  <a:schemeClr val="accent4"/>
                </a:solidFill>
                <a:latin typeface="+mj-ea"/>
                <a:ea typeface="+mj-ea"/>
              </a:rPr>
              <a:t>EWork</a:t>
            </a:r>
            <a:r>
              <a:rPr lang="zh-CN" altLang="en-US" sz="1000">
                <a:solidFill>
                  <a:schemeClr val="accent4"/>
                </a:solidFill>
                <a:latin typeface="+mj-ea"/>
                <a:ea typeface="+mj-ea"/>
              </a:rPr>
              <a:t>由自主代理</a:t>
            </a:r>
            <a:r>
              <a:rPr lang="en-US" altLang="zh-CN" sz="1000">
                <a:solidFill>
                  <a:schemeClr val="accent4"/>
                </a:solidFill>
                <a:latin typeface="+mj-ea"/>
                <a:ea typeface="+mj-ea"/>
              </a:rPr>
              <a:t>Agent</a:t>
            </a:r>
            <a:r>
              <a:rPr lang="zh-CN" altLang="en-US" sz="1000">
                <a:solidFill>
                  <a:schemeClr val="accent4"/>
                </a:solidFill>
                <a:latin typeface="+mj-ea"/>
                <a:ea typeface="+mj-ea"/>
              </a:rPr>
              <a:t>承担复杂任务，形成数字劳动力。</a:t>
            </a:r>
          </a:p>
        </p:txBody>
      </p:sp>
      <p:sp>
        <p:nvSpPr>
          <p:cNvPr id="12" name="TextBox 14">
            <a:extLst>
              <a:ext uri="{FF2B5EF4-FFF2-40B4-BE49-F238E27FC236}">
                <a16:creationId xmlns:a16="http://schemas.microsoft.com/office/drawing/2014/main" id="{3A91EBBE-1E7C-0AFE-E779-CE9505943636}"/>
              </a:ext>
            </a:extLst>
          </p:cNvPr>
          <p:cNvSpPr txBox="1"/>
          <p:nvPr/>
        </p:nvSpPr>
        <p:spPr>
          <a:xfrm>
            <a:off x="1178757" y="2953677"/>
            <a:ext cx="694288" cy="247650"/>
          </a:xfrm>
          <a:prstGeom prst="rect">
            <a:avLst/>
          </a:prstGeom>
          <a:solidFill>
            <a:srgbClr val="000000">
              <a:alpha val="0"/>
            </a:srgbClr>
          </a:solidFill>
        </p:spPr>
        <p:txBody>
          <a:bodyPr lIns="0" tIns="0" rIns="0" bIns="0" rtlCol="0" anchor="ctr"/>
          <a:lstStyle/>
          <a:p>
            <a:pPr algn="l">
              <a:lnSpc>
                <a:spcPct val="120000"/>
              </a:lnSpc>
              <a:buClrTx/>
              <a:buSzTx/>
              <a:buFontTx/>
              <a:defRPr/>
            </a:pPr>
            <a:r>
              <a:rPr lang="en-US" altLang="zh-CN" sz="3200" b="1">
                <a:solidFill>
                  <a:schemeClr val="accent6"/>
                </a:solidFill>
                <a:latin typeface="+mj-ea"/>
                <a:ea typeface="+mj-ea"/>
              </a:rPr>
              <a:t>VS</a:t>
            </a:r>
            <a:endParaRPr lang="zh-CN" altLang="en-US" sz="3200" b="1">
              <a:solidFill>
                <a:schemeClr val="accent6"/>
              </a:solidFill>
              <a:latin typeface="+mj-ea"/>
              <a:ea typeface="+mj-ea"/>
            </a:endParaRPr>
          </a:p>
        </p:txBody>
      </p:sp>
      <p:sp>
        <p:nvSpPr>
          <p:cNvPr id="13" name="TextBox 14">
            <a:extLst>
              <a:ext uri="{FF2B5EF4-FFF2-40B4-BE49-F238E27FC236}">
                <a16:creationId xmlns:a16="http://schemas.microsoft.com/office/drawing/2014/main" id="{37ECD384-BCC1-5F7F-D1F5-B3197BF6B5FB}"/>
              </a:ext>
            </a:extLst>
          </p:cNvPr>
          <p:cNvSpPr txBox="1"/>
          <p:nvPr/>
        </p:nvSpPr>
        <p:spPr>
          <a:xfrm>
            <a:off x="3290362" y="2953677"/>
            <a:ext cx="694288" cy="247650"/>
          </a:xfrm>
          <a:prstGeom prst="rect">
            <a:avLst/>
          </a:prstGeom>
          <a:solidFill>
            <a:srgbClr val="000000">
              <a:alpha val="0"/>
            </a:srgbClr>
          </a:solidFill>
        </p:spPr>
        <p:txBody>
          <a:bodyPr lIns="0" tIns="0" rIns="0" bIns="0" rtlCol="0" anchor="ctr"/>
          <a:lstStyle/>
          <a:p>
            <a:pPr algn="l">
              <a:lnSpc>
                <a:spcPct val="120000"/>
              </a:lnSpc>
              <a:buClrTx/>
              <a:buSzTx/>
              <a:buFontTx/>
              <a:defRPr/>
            </a:pPr>
            <a:r>
              <a:rPr lang="en-US" altLang="zh-CN" sz="3200" b="1">
                <a:solidFill>
                  <a:schemeClr val="accent6"/>
                </a:solidFill>
                <a:latin typeface="+mj-ea"/>
                <a:ea typeface="+mj-ea"/>
              </a:rPr>
              <a:t>VS</a:t>
            </a:r>
            <a:endParaRPr lang="zh-CN" altLang="en-US" sz="3200" b="1">
              <a:solidFill>
                <a:schemeClr val="accent6"/>
              </a:solidFill>
              <a:latin typeface="+mj-ea"/>
              <a:ea typeface="+mj-ea"/>
            </a:endParaRPr>
          </a:p>
        </p:txBody>
      </p:sp>
      <p:sp>
        <p:nvSpPr>
          <p:cNvPr id="15" name="TextBox 14">
            <a:extLst>
              <a:ext uri="{FF2B5EF4-FFF2-40B4-BE49-F238E27FC236}">
                <a16:creationId xmlns:a16="http://schemas.microsoft.com/office/drawing/2014/main" id="{94602B2E-BBE0-140D-AD73-500294EE366E}"/>
              </a:ext>
            </a:extLst>
          </p:cNvPr>
          <p:cNvSpPr txBox="1"/>
          <p:nvPr/>
        </p:nvSpPr>
        <p:spPr>
          <a:xfrm>
            <a:off x="5383113" y="2953677"/>
            <a:ext cx="694288" cy="247650"/>
          </a:xfrm>
          <a:prstGeom prst="rect">
            <a:avLst/>
          </a:prstGeom>
          <a:solidFill>
            <a:srgbClr val="000000">
              <a:alpha val="0"/>
            </a:srgbClr>
          </a:solidFill>
        </p:spPr>
        <p:txBody>
          <a:bodyPr lIns="0" tIns="0" rIns="0" bIns="0" rtlCol="0" anchor="ctr"/>
          <a:lstStyle/>
          <a:p>
            <a:pPr algn="l">
              <a:lnSpc>
                <a:spcPct val="120000"/>
              </a:lnSpc>
              <a:buClrTx/>
              <a:buSzTx/>
              <a:buFontTx/>
              <a:defRPr/>
            </a:pPr>
            <a:r>
              <a:rPr lang="en-US" altLang="zh-CN" sz="3200" b="1">
                <a:solidFill>
                  <a:schemeClr val="accent6"/>
                </a:solidFill>
                <a:latin typeface="+mj-ea"/>
                <a:ea typeface="+mj-ea"/>
              </a:rPr>
              <a:t>VS</a:t>
            </a:r>
            <a:endParaRPr lang="zh-CN" altLang="en-US" sz="3200" b="1">
              <a:solidFill>
                <a:schemeClr val="accent6"/>
              </a:solidFill>
              <a:latin typeface="+mj-ea"/>
              <a:ea typeface="+mj-ea"/>
            </a:endParaRPr>
          </a:p>
        </p:txBody>
      </p:sp>
      <p:sp>
        <p:nvSpPr>
          <p:cNvPr id="16" name="TextBox 14">
            <a:extLst>
              <a:ext uri="{FF2B5EF4-FFF2-40B4-BE49-F238E27FC236}">
                <a16:creationId xmlns:a16="http://schemas.microsoft.com/office/drawing/2014/main" id="{82129CB0-0082-FA9E-B992-08A3ACEFA4EC}"/>
              </a:ext>
            </a:extLst>
          </p:cNvPr>
          <p:cNvSpPr txBox="1"/>
          <p:nvPr/>
        </p:nvSpPr>
        <p:spPr>
          <a:xfrm>
            <a:off x="7499431" y="2953677"/>
            <a:ext cx="694288" cy="247650"/>
          </a:xfrm>
          <a:prstGeom prst="rect">
            <a:avLst/>
          </a:prstGeom>
          <a:solidFill>
            <a:srgbClr val="000000">
              <a:alpha val="0"/>
            </a:srgbClr>
          </a:solidFill>
        </p:spPr>
        <p:txBody>
          <a:bodyPr lIns="0" tIns="0" rIns="0" bIns="0" rtlCol="0" anchor="ctr"/>
          <a:lstStyle/>
          <a:p>
            <a:pPr algn="l">
              <a:lnSpc>
                <a:spcPct val="120000"/>
              </a:lnSpc>
              <a:buClrTx/>
              <a:buSzTx/>
              <a:buFontTx/>
              <a:defRPr/>
            </a:pPr>
            <a:r>
              <a:rPr lang="en-US" altLang="zh-CN" sz="3200" b="1">
                <a:solidFill>
                  <a:schemeClr val="accent6"/>
                </a:solidFill>
                <a:latin typeface="+mj-ea"/>
                <a:ea typeface="+mj-ea"/>
              </a:rPr>
              <a:t>VS</a:t>
            </a:r>
            <a:endParaRPr lang="zh-CN" altLang="en-US" sz="3200" b="1">
              <a:solidFill>
                <a:schemeClr val="accent6"/>
              </a:solidFill>
              <a:latin typeface="+mj-ea"/>
              <a:ea typeface="+mj-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EWork</a:t>
            </a:r>
            <a:r>
              <a:rPr lang="zh-CN" altLang="en-GB" dirty="0"/>
              <a:t>平台</a:t>
            </a:r>
            <a:r>
              <a:rPr lang="zh-CN" altLang="en-US" dirty="0"/>
              <a:t>的五层架构设计</a:t>
            </a:r>
          </a:p>
        </p:txBody>
      </p:sp>
      <p:sp>
        <p:nvSpPr>
          <p:cNvPr id="6" name="TextBox 14"/>
          <p:cNvSpPr txBox="1"/>
          <p:nvPr/>
        </p:nvSpPr>
        <p:spPr>
          <a:xfrm>
            <a:off x="2307301" y="1252303"/>
            <a:ext cx="3803174" cy="247964"/>
          </a:xfrm>
          <a:prstGeom prst="rect">
            <a:avLst/>
          </a:prstGeom>
          <a:solidFill>
            <a:srgbClr val="000000">
              <a:alpha val="0"/>
            </a:srgbClr>
          </a:solidFill>
        </p:spPr>
        <p:txBody>
          <a:bodyPr lIns="0" tIns="0" rIns="0" bIns="0" rtlCol="0" anchor="t"/>
          <a:lstStyle/>
          <a:p>
            <a:pPr indent="0" algn="l">
              <a:lnSpc>
                <a:spcPct val="120000"/>
              </a:lnSpc>
              <a:defRPr/>
            </a:pPr>
            <a:r>
              <a:rPr lang="zh-CN" altLang="en-US" sz="1500">
                <a:solidFill>
                  <a:schemeClr val="accent1"/>
                </a:solidFill>
                <a:latin typeface="+mj-ea"/>
                <a:ea typeface="+mj-ea"/>
              </a:rPr>
              <a:t>资源池化与全局协同的系统化重构</a:t>
            </a:r>
          </a:p>
          <a:p>
            <a:pPr indent="0" algn="l">
              <a:lnSpc>
                <a:spcPct val="120000"/>
              </a:lnSpc>
              <a:defRPr/>
            </a:pPr>
            <a:endParaRPr lang="zh-CN" altLang="en-US" sz="1500">
              <a:solidFill>
                <a:schemeClr val="accent1"/>
              </a:solidFill>
              <a:latin typeface="+mj-ea"/>
              <a:ea typeface="+mj-ea"/>
            </a:endParaRPr>
          </a:p>
        </p:txBody>
      </p:sp>
      <p:grpSp>
        <p:nvGrpSpPr>
          <p:cNvPr id="9" name="组合 8"/>
          <p:cNvGrpSpPr/>
          <p:nvPr/>
        </p:nvGrpSpPr>
        <p:grpSpPr>
          <a:xfrm>
            <a:off x="2307301" y="1720849"/>
            <a:ext cx="8495005" cy="2581112"/>
            <a:chOff x="545831" y="1597507"/>
            <a:chExt cx="8495005" cy="2581112"/>
          </a:xfrm>
        </p:grpSpPr>
        <p:sp>
          <p:nvSpPr>
            <p:cNvPr id="26" name="TextBox 22"/>
            <p:cNvSpPr txBox="1"/>
            <p:nvPr/>
          </p:nvSpPr>
          <p:spPr>
            <a:xfrm>
              <a:off x="545831" y="3718661"/>
              <a:ext cx="1031063" cy="214947"/>
            </a:xfrm>
            <a:prstGeom prst="rect">
              <a:avLst/>
            </a:prstGeom>
            <a:solidFill>
              <a:srgbClr val="000000">
                <a:alpha val="0"/>
              </a:srgbClr>
            </a:solidFill>
          </p:spPr>
          <p:txBody>
            <a:bodyPr lIns="0" tIns="0" rIns="0" bIns="0" rtlCol="0" anchor="t"/>
            <a:lstStyle/>
            <a:p>
              <a:pPr indent="0">
                <a:lnSpc>
                  <a:spcPct val="120000"/>
                </a:lnSpc>
                <a:defRPr/>
              </a:pPr>
              <a:r>
                <a:rPr lang="en-US" sz="1300">
                  <a:solidFill>
                    <a:schemeClr val="accent2"/>
                  </a:solidFill>
                  <a:latin typeface="+mj-ea"/>
                  <a:ea typeface="+mj-ea"/>
                </a:rPr>
                <a:t>算力层</a:t>
              </a:r>
            </a:p>
          </p:txBody>
        </p:sp>
        <p:sp>
          <p:nvSpPr>
            <p:cNvPr id="27" name="TextBox 23"/>
            <p:cNvSpPr txBox="1"/>
            <p:nvPr/>
          </p:nvSpPr>
          <p:spPr>
            <a:xfrm>
              <a:off x="545831" y="2130867"/>
              <a:ext cx="954990" cy="215128"/>
            </a:xfrm>
            <a:prstGeom prst="rect">
              <a:avLst/>
            </a:prstGeom>
            <a:solidFill>
              <a:srgbClr val="000000">
                <a:alpha val="0"/>
              </a:srgbClr>
            </a:solidFill>
          </p:spPr>
          <p:txBody>
            <a:bodyPr lIns="0" tIns="0" rIns="0" bIns="0" rtlCol="0" anchor="t"/>
            <a:lstStyle/>
            <a:p>
              <a:pPr indent="0">
                <a:lnSpc>
                  <a:spcPct val="120000"/>
                </a:lnSpc>
                <a:defRPr/>
              </a:pPr>
              <a:r>
                <a:rPr lang="en-US" sz="1300">
                  <a:solidFill>
                    <a:schemeClr val="accent2"/>
                  </a:solidFill>
                  <a:latin typeface="+mj-ea"/>
                  <a:ea typeface="+mj-ea"/>
                </a:rPr>
                <a:t>架构层</a:t>
              </a:r>
            </a:p>
          </p:txBody>
        </p:sp>
        <p:sp>
          <p:nvSpPr>
            <p:cNvPr id="28" name="TextBox 24"/>
            <p:cNvSpPr txBox="1"/>
            <p:nvPr/>
          </p:nvSpPr>
          <p:spPr>
            <a:xfrm>
              <a:off x="545831" y="2674381"/>
              <a:ext cx="877558" cy="238516"/>
            </a:xfrm>
            <a:prstGeom prst="rect">
              <a:avLst/>
            </a:prstGeom>
            <a:solidFill>
              <a:srgbClr val="000000">
                <a:alpha val="0"/>
              </a:srgbClr>
            </a:solidFill>
          </p:spPr>
          <p:txBody>
            <a:bodyPr lIns="0" tIns="0" rIns="0" bIns="0" rtlCol="0" anchor="t"/>
            <a:lstStyle/>
            <a:p>
              <a:pPr indent="0">
                <a:lnSpc>
                  <a:spcPct val="120000"/>
                </a:lnSpc>
                <a:defRPr/>
              </a:pPr>
              <a:r>
                <a:rPr lang="en-US" sz="1300">
                  <a:solidFill>
                    <a:schemeClr val="accent2"/>
                  </a:solidFill>
                  <a:latin typeface="+mj-ea"/>
                  <a:ea typeface="+mj-ea"/>
                </a:rPr>
                <a:t>模型层</a:t>
              </a:r>
            </a:p>
          </p:txBody>
        </p:sp>
        <p:sp>
          <p:nvSpPr>
            <p:cNvPr id="29" name="TextBox 25"/>
            <p:cNvSpPr txBox="1"/>
            <p:nvPr/>
          </p:nvSpPr>
          <p:spPr>
            <a:xfrm>
              <a:off x="545831" y="1597507"/>
              <a:ext cx="801485" cy="234579"/>
            </a:xfrm>
            <a:prstGeom prst="rect">
              <a:avLst/>
            </a:prstGeom>
            <a:solidFill>
              <a:srgbClr val="000000">
                <a:alpha val="0"/>
              </a:srgbClr>
            </a:solidFill>
          </p:spPr>
          <p:txBody>
            <a:bodyPr lIns="0" tIns="0" rIns="0" bIns="0" rtlCol="0" anchor="t"/>
            <a:lstStyle/>
            <a:p>
              <a:pPr indent="0">
                <a:lnSpc>
                  <a:spcPct val="120000"/>
                </a:lnSpc>
                <a:defRPr/>
              </a:pPr>
              <a:r>
                <a:rPr lang="en-US" sz="1300">
                  <a:solidFill>
                    <a:schemeClr val="accent2"/>
                  </a:solidFill>
                  <a:latin typeface="+mj-ea"/>
                  <a:ea typeface="+mj-ea"/>
                </a:rPr>
                <a:t>技能层</a:t>
              </a:r>
            </a:p>
          </p:txBody>
        </p:sp>
        <p:sp>
          <p:nvSpPr>
            <p:cNvPr id="30" name="TextBox 26"/>
            <p:cNvSpPr txBox="1"/>
            <p:nvPr/>
          </p:nvSpPr>
          <p:spPr>
            <a:xfrm>
              <a:off x="545831" y="3192238"/>
              <a:ext cx="724053" cy="97320"/>
            </a:xfrm>
            <a:prstGeom prst="rect">
              <a:avLst/>
            </a:prstGeom>
            <a:solidFill>
              <a:srgbClr val="000000">
                <a:alpha val="0"/>
              </a:srgbClr>
            </a:solidFill>
          </p:spPr>
          <p:txBody>
            <a:bodyPr lIns="0" tIns="0" rIns="0" bIns="0" rtlCol="0" anchor="t"/>
            <a:lstStyle/>
            <a:p>
              <a:pPr indent="0">
                <a:lnSpc>
                  <a:spcPct val="120000"/>
                </a:lnSpc>
                <a:defRPr/>
              </a:pPr>
              <a:r>
                <a:rPr lang="en-US" sz="1300">
                  <a:solidFill>
                    <a:schemeClr val="accent2"/>
                  </a:solidFill>
                  <a:latin typeface="+mj-ea"/>
                  <a:ea typeface="+mj-ea"/>
                </a:rPr>
                <a:t>数据层</a:t>
              </a:r>
            </a:p>
          </p:txBody>
        </p:sp>
        <p:sp>
          <p:nvSpPr>
            <p:cNvPr id="31" name="TextBox 27"/>
            <p:cNvSpPr txBox="1"/>
            <p:nvPr/>
          </p:nvSpPr>
          <p:spPr>
            <a:xfrm>
              <a:off x="548693" y="3963490"/>
              <a:ext cx="8492143" cy="215129"/>
            </a:xfrm>
            <a:prstGeom prst="rect">
              <a:avLst/>
            </a:prstGeom>
            <a:solidFill>
              <a:srgbClr val="000000">
                <a:alpha val="0"/>
              </a:srgbClr>
            </a:solidFill>
          </p:spPr>
          <p:txBody>
            <a:bodyPr lIns="0" tIns="0" rIns="0" bIns="0" rtlCol="0" anchor="t"/>
            <a:lstStyle/>
            <a:p>
              <a:pPr marL="171450" indent="-171450">
                <a:lnSpc>
                  <a:spcPct val="150000"/>
                </a:lnSpc>
                <a:buFont typeface="Arial" charset="0"/>
                <a:buChar char="•"/>
                <a:defRPr/>
              </a:pPr>
              <a:r>
                <a:rPr lang="en-US" sz="1100">
                  <a:solidFill>
                    <a:schemeClr val="accent4"/>
                  </a:solidFill>
                  <a:latin typeface="+mj-ea"/>
                  <a:ea typeface="+mj-ea"/>
                </a:rPr>
                <a:t>统筹云上云下资源实现弹性伸缩与负载均衡，确保核心业务的响应优先级与成本最优化</a:t>
              </a:r>
              <a:endParaRPr lang="en-US" sz="1000">
                <a:solidFill>
                  <a:schemeClr val="accent4"/>
                </a:solidFill>
                <a:latin typeface="+mj-ea"/>
                <a:ea typeface="+mj-ea"/>
              </a:endParaRPr>
            </a:p>
          </p:txBody>
        </p:sp>
        <p:sp>
          <p:nvSpPr>
            <p:cNvPr id="32" name="TextBox 28"/>
            <p:cNvSpPr txBox="1"/>
            <p:nvPr/>
          </p:nvSpPr>
          <p:spPr>
            <a:xfrm>
              <a:off x="548693" y="2381083"/>
              <a:ext cx="7865580" cy="215129"/>
            </a:xfrm>
            <a:prstGeom prst="rect">
              <a:avLst/>
            </a:prstGeom>
            <a:solidFill>
              <a:srgbClr val="000000">
                <a:alpha val="0"/>
              </a:srgbClr>
            </a:solidFill>
          </p:spPr>
          <p:txBody>
            <a:bodyPr lIns="0" tIns="0" rIns="0" bIns="0" rtlCol="0" anchor="t"/>
            <a:lstStyle/>
            <a:p>
              <a:pPr marL="171450" indent="-171450">
                <a:lnSpc>
                  <a:spcPct val="150000"/>
                </a:lnSpc>
                <a:buFont typeface="Arial" charset="0"/>
                <a:buChar char="•"/>
                <a:defRPr/>
              </a:pPr>
              <a:r>
                <a:rPr lang="en-US" sz="1100">
                  <a:solidFill>
                    <a:schemeClr val="accent4"/>
                  </a:solidFill>
                  <a:latin typeface="+mj-ea"/>
                  <a:ea typeface="+mj-ea"/>
                </a:rPr>
                <a:t>解决工程化调度难题，处理资源争抢、上下文管理与安全控制等深层技术瓶颈，提升系统可靠性</a:t>
              </a:r>
              <a:endParaRPr lang="en-US" sz="1000">
                <a:solidFill>
                  <a:schemeClr val="accent4"/>
                </a:solidFill>
                <a:latin typeface="+mj-ea"/>
                <a:ea typeface="+mj-ea"/>
              </a:endParaRPr>
            </a:p>
          </p:txBody>
        </p:sp>
        <p:sp>
          <p:nvSpPr>
            <p:cNvPr id="33" name="TextBox 29"/>
            <p:cNvSpPr txBox="1"/>
            <p:nvPr/>
          </p:nvSpPr>
          <p:spPr>
            <a:xfrm>
              <a:off x="548693" y="2878715"/>
              <a:ext cx="7227832" cy="215129"/>
            </a:xfrm>
            <a:prstGeom prst="rect">
              <a:avLst/>
            </a:prstGeom>
            <a:solidFill>
              <a:srgbClr val="000000">
                <a:alpha val="0"/>
              </a:srgbClr>
            </a:solidFill>
          </p:spPr>
          <p:txBody>
            <a:bodyPr lIns="0" tIns="0" rIns="0" bIns="0" rtlCol="0" anchor="t"/>
            <a:lstStyle/>
            <a:p>
              <a:pPr marL="171450" indent="-171450">
                <a:lnSpc>
                  <a:spcPct val="150000"/>
                </a:lnSpc>
                <a:buFont typeface="Arial" charset="0"/>
                <a:buChar char="•"/>
                <a:defRPr/>
              </a:pPr>
              <a:r>
                <a:rPr lang="en-US" sz="1100">
                  <a:solidFill>
                    <a:schemeClr val="accent4"/>
                  </a:solidFill>
                  <a:latin typeface="+mj-ea"/>
                  <a:ea typeface="+mj-ea"/>
                </a:rPr>
                <a:t>打造专业化模型集群，整合通用基础大模型与垂直领域小模型，实现推理能力与场景的精准匹配</a:t>
              </a:r>
              <a:endParaRPr lang="en-US" sz="1000">
                <a:solidFill>
                  <a:schemeClr val="accent4"/>
                </a:solidFill>
                <a:latin typeface="+mj-ea"/>
                <a:ea typeface="+mj-ea"/>
              </a:endParaRPr>
            </a:p>
          </p:txBody>
        </p:sp>
        <p:sp>
          <p:nvSpPr>
            <p:cNvPr id="34" name="TextBox 30"/>
            <p:cNvSpPr txBox="1"/>
            <p:nvPr/>
          </p:nvSpPr>
          <p:spPr>
            <a:xfrm>
              <a:off x="548693" y="1816905"/>
              <a:ext cx="6601271" cy="215129"/>
            </a:xfrm>
            <a:prstGeom prst="rect">
              <a:avLst/>
            </a:prstGeom>
            <a:solidFill>
              <a:srgbClr val="000000">
                <a:alpha val="0"/>
              </a:srgbClr>
            </a:solidFill>
          </p:spPr>
          <p:txBody>
            <a:bodyPr lIns="0" tIns="0" rIns="0" bIns="0" rtlCol="0" anchor="t"/>
            <a:lstStyle/>
            <a:p>
              <a:pPr marL="171450" indent="-171450">
                <a:lnSpc>
                  <a:spcPct val="150000"/>
                </a:lnSpc>
                <a:buFont typeface="Arial" charset="0"/>
                <a:buChar char="•"/>
                <a:defRPr/>
              </a:pPr>
              <a:r>
                <a:rPr lang="en-US" sz="1100">
                  <a:solidFill>
                    <a:schemeClr val="accent4"/>
                  </a:solidFill>
                  <a:latin typeface="+mj-ea"/>
                  <a:ea typeface="+mj-ea"/>
                </a:rPr>
                <a:t>封装标准化工具箱，将系统API、浏览器及办公工具封装为原子化可组合的技能单元，便于复用</a:t>
              </a:r>
              <a:endParaRPr lang="en-US" sz="1000">
                <a:solidFill>
                  <a:schemeClr val="accent4"/>
                </a:solidFill>
                <a:latin typeface="+mj-ea"/>
                <a:ea typeface="+mj-ea"/>
              </a:endParaRPr>
            </a:p>
          </p:txBody>
        </p:sp>
        <p:sp>
          <p:nvSpPr>
            <p:cNvPr id="35" name="TextBox 31"/>
            <p:cNvSpPr txBox="1"/>
            <p:nvPr/>
          </p:nvSpPr>
          <p:spPr>
            <a:xfrm>
              <a:off x="548693" y="3421651"/>
              <a:ext cx="6210326" cy="215129"/>
            </a:xfrm>
            <a:prstGeom prst="rect">
              <a:avLst/>
            </a:prstGeom>
            <a:solidFill>
              <a:srgbClr val="000000">
                <a:alpha val="0"/>
              </a:srgbClr>
            </a:solidFill>
          </p:spPr>
          <p:txBody>
            <a:bodyPr lIns="0" tIns="0" rIns="0" bIns="0" rtlCol="0" anchor="t"/>
            <a:lstStyle/>
            <a:p>
              <a:pPr marL="171450" indent="-171450">
                <a:lnSpc>
                  <a:spcPct val="150000"/>
                </a:lnSpc>
                <a:buFont typeface="Arial" charset="0"/>
                <a:buChar char="•"/>
                <a:defRPr/>
              </a:pPr>
              <a:r>
                <a:rPr lang="en-US" sz="1100">
                  <a:solidFill>
                    <a:schemeClr val="accent4"/>
                  </a:solidFill>
                  <a:latin typeface="+mj-ea"/>
                  <a:ea typeface="+mj-ea"/>
                </a:rPr>
                <a:t>整合全量语义内存跨部门汇聚，对结构化与非结构化信息进行语义化处理，转化为AI可调用资产</a:t>
              </a:r>
              <a:endParaRPr lang="en-US" sz="1000">
                <a:solidFill>
                  <a:schemeClr val="accent4"/>
                </a:solidFill>
                <a:latin typeface="+mj-ea"/>
                <a:ea typeface="+mj-ea"/>
              </a:endParaRPr>
            </a:p>
          </p:txBody>
        </p:sp>
      </p:grpSp>
      <p:sp>
        <p:nvSpPr>
          <p:cNvPr id="10" name="矩形 9"/>
          <p:cNvSpPr/>
          <p:nvPr/>
        </p:nvSpPr>
        <p:spPr bwMode="auto">
          <a:xfrm>
            <a:off x="283571" y="1258643"/>
            <a:ext cx="1729675" cy="522854"/>
          </a:xfrm>
          <a:prstGeom prst="rect">
            <a:avLst/>
          </a:prstGeom>
          <a:solidFill>
            <a:srgbClr val="FFC0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1" name="矩形 10"/>
          <p:cNvSpPr/>
          <p:nvPr/>
        </p:nvSpPr>
        <p:spPr bwMode="auto">
          <a:xfrm>
            <a:off x="283571" y="1889448"/>
            <a:ext cx="1729675" cy="522854"/>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2" name="矩形 11"/>
          <p:cNvSpPr/>
          <p:nvPr/>
        </p:nvSpPr>
        <p:spPr bwMode="auto">
          <a:xfrm>
            <a:off x="283571" y="2525388"/>
            <a:ext cx="1729675" cy="522854"/>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3" name="矩形 12"/>
          <p:cNvSpPr/>
          <p:nvPr/>
        </p:nvSpPr>
        <p:spPr bwMode="auto">
          <a:xfrm>
            <a:off x="283571" y="3165048"/>
            <a:ext cx="1729675" cy="522854"/>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4" name="矩形 13"/>
          <p:cNvSpPr/>
          <p:nvPr/>
        </p:nvSpPr>
        <p:spPr bwMode="auto">
          <a:xfrm>
            <a:off x="283571" y="3786679"/>
            <a:ext cx="1729675" cy="522854"/>
          </a:xfrm>
          <a:prstGeom prst="rect">
            <a:avLst/>
          </a:prstGeom>
          <a:solidFill>
            <a:schemeClr val="accent4"/>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5" name="TextBox 22"/>
          <p:cNvSpPr txBox="1"/>
          <p:nvPr/>
        </p:nvSpPr>
        <p:spPr>
          <a:xfrm>
            <a:off x="632879" y="3944472"/>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算力层</a:t>
            </a:r>
            <a:endParaRPr lang="en-US" sz="600">
              <a:solidFill>
                <a:schemeClr val="bg1"/>
              </a:solidFill>
              <a:latin typeface="+mj-ea"/>
              <a:ea typeface="+mj-ea"/>
            </a:endParaRPr>
          </a:p>
        </p:txBody>
      </p:sp>
      <p:sp>
        <p:nvSpPr>
          <p:cNvPr id="16" name="TextBox 22"/>
          <p:cNvSpPr txBox="1"/>
          <p:nvPr/>
        </p:nvSpPr>
        <p:spPr>
          <a:xfrm>
            <a:off x="634402" y="2043401"/>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架构层</a:t>
            </a:r>
            <a:endParaRPr lang="en-US" sz="600">
              <a:solidFill>
                <a:schemeClr val="bg1"/>
              </a:solidFill>
              <a:latin typeface="+mj-ea"/>
              <a:ea typeface="+mj-ea"/>
            </a:endParaRPr>
          </a:p>
        </p:txBody>
      </p:sp>
      <p:sp>
        <p:nvSpPr>
          <p:cNvPr id="17" name="TextBox 22"/>
          <p:cNvSpPr txBox="1"/>
          <p:nvPr/>
        </p:nvSpPr>
        <p:spPr>
          <a:xfrm>
            <a:off x="634402" y="2680165"/>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模型层</a:t>
            </a:r>
            <a:endParaRPr lang="en-US" sz="600">
              <a:solidFill>
                <a:schemeClr val="bg1"/>
              </a:solidFill>
              <a:latin typeface="+mj-ea"/>
              <a:ea typeface="+mj-ea"/>
            </a:endParaRPr>
          </a:p>
        </p:txBody>
      </p:sp>
      <p:sp>
        <p:nvSpPr>
          <p:cNvPr id="18" name="TextBox 22"/>
          <p:cNvSpPr txBox="1"/>
          <p:nvPr/>
        </p:nvSpPr>
        <p:spPr>
          <a:xfrm>
            <a:off x="634402" y="1412447"/>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技能层</a:t>
            </a:r>
            <a:endParaRPr lang="en-US" sz="600">
              <a:solidFill>
                <a:schemeClr val="bg1"/>
              </a:solidFill>
              <a:latin typeface="+mj-ea"/>
              <a:ea typeface="+mj-ea"/>
            </a:endParaRPr>
          </a:p>
        </p:txBody>
      </p:sp>
      <p:sp>
        <p:nvSpPr>
          <p:cNvPr id="19" name="TextBox 22"/>
          <p:cNvSpPr txBox="1"/>
          <p:nvPr/>
        </p:nvSpPr>
        <p:spPr>
          <a:xfrm>
            <a:off x="632878" y="3319001"/>
            <a:ext cx="1031063" cy="214947"/>
          </a:xfrm>
          <a:prstGeom prst="rect">
            <a:avLst/>
          </a:prstGeom>
          <a:solidFill>
            <a:schemeClr val="accent1">
              <a:lumMod val="60000"/>
              <a:lumOff val="40000"/>
              <a:alpha val="0"/>
            </a:schemeClr>
          </a:solidFill>
        </p:spPr>
        <p:txBody>
          <a:bodyPr lIns="0" tIns="0" rIns="0" bIns="0" rtlCol="0" anchor="t"/>
          <a:lstStyle>
            <a:defPPr>
              <a:defRPr lang="en-US"/>
            </a:defPPr>
            <a:lvl1pPr indent="0" algn="ctr">
              <a:lnSpc>
                <a:spcPct val="120000"/>
              </a:lnSpc>
              <a:defRPr sz="1100">
                <a:solidFill>
                  <a:schemeClr val="bg1"/>
                </a:solidFill>
                <a:latin typeface="+mj-ea"/>
                <a:ea typeface="+mj-ea"/>
              </a:defRPr>
            </a:lvl1pPr>
          </a:lstStyle>
          <a:p>
            <a:r>
              <a:rPr lang="en-US">
                <a:solidFill>
                  <a:schemeClr val="bg2"/>
                </a:solidFill>
              </a:rPr>
              <a:t>数据层</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算力层：统筹云端资源，优化弹性伸缩与成本</a:t>
            </a:r>
          </a:p>
        </p:txBody>
      </p:sp>
      <p:sp>
        <p:nvSpPr>
          <p:cNvPr id="11" name="AutoShape 5"/>
          <p:cNvSpPr/>
          <p:nvPr/>
        </p:nvSpPr>
        <p:spPr>
          <a:xfrm>
            <a:off x="2264158" y="1253067"/>
            <a:ext cx="2087708"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3" name="AutoShape 7"/>
          <p:cNvSpPr/>
          <p:nvPr/>
        </p:nvSpPr>
        <p:spPr>
          <a:xfrm>
            <a:off x="4490099" y="1253067"/>
            <a:ext cx="2087708"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AutoShape 9"/>
          <p:cNvSpPr/>
          <p:nvPr/>
        </p:nvSpPr>
        <p:spPr>
          <a:xfrm>
            <a:off x="6696841" y="1253067"/>
            <a:ext cx="2087708"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2454220" y="1889448"/>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混合云资源统筹</a:t>
            </a:r>
          </a:p>
        </p:txBody>
      </p:sp>
      <p:sp>
        <p:nvSpPr>
          <p:cNvPr id="20" name="TextBox 15"/>
          <p:cNvSpPr txBox="1"/>
          <p:nvPr/>
        </p:nvSpPr>
        <p:spPr>
          <a:xfrm>
            <a:off x="4680019" y="1889448"/>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性能优先级保障</a:t>
            </a:r>
          </a:p>
        </p:txBody>
      </p:sp>
      <p:sp>
        <p:nvSpPr>
          <p:cNvPr id="21" name="TextBox 16"/>
          <p:cNvSpPr txBox="1"/>
          <p:nvPr/>
        </p:nvSpPr>
        <p:spPr>
          <a:xfrm>
            <a:off x="6892131" y="1889448"/>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成本效益优化</a:t>
            </a:r>
          </a:p>
        </p:txBody>
      </p:sp>
      <p:sp>
        <p:nvSpPr>
          <p:cNvPr id="23" name="TextBox 18"/>
          <p:cNvSpPr txBox="1"/>
          <p:nvPr/>
        </p:nvSpPr>
        <p:spPr>
          <a:xfrm>
            <a:off x="2454220" y="2287893"/>
            <a:ext cx="1707868"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50">
                <a:solidFill>
                  <a:schemeClr val="accent4"/>
                </a:solidFill>
                <a:latin typeface="+mj-ea"/>
                <a:ea typeface="+mj-ea"/>
              </a:rPr>
              <a:t>统一管理公有云、私有云及本地算力资源，根据数据安全性与成本考量实现智能分配与弹性调度，支持跨域调度与策略化编排，确保资源可用性与合规性。</a:t>
            </a:r>
          </a:p>
        </p:txBody>
      </p:sp>
      <p:sp>
        <p:nvSpPr>
          <p:cNvPr id="24" name="TextBox 19"/>
          <p:cNvSpPr txBox="1"/>
          <p:nvPr/>
        </p:nvSpPr>
        <p:spPr>
          <a:xfrm>
            <a:off x="4680159" y="2290728"/>
            <a:ext cx="1707869" cy="10456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50">
                <a:solidFill>
                  <a:schemeClr val="accent4"/>
                </a:solidFill>
                <a:latin typeface="+mj-ea"/>
                <a:ea typeface="+mj-ea"/>
              </a:rPr>
              <a:t>建立算力资源的优先级机制，确保核心业务与紧急任务的响应速度，通过动态预留与负载隔离避免资源竞争导致的性能下降，保障</a:t>
            </a:r>
            <a:r>
              <a:rPr lang="en-GB" altLang="zh-CN" sz="1050">
                <a:solidFill>
                  <a:schemeClr val="accent4"/>
                </a:solidFill>
                <a:latin typeface="+mj-ea"/>
                <a:ea typeface="+mj-ea"/>
              </a:rPr>
              <a:t>SLAs</a:t>
            </a:r>
            <a:r>
              <a:rPr lang="zh-CN" altLang="en-GB" sz="1050">
                <a:solidFill>
                  <a:schemeClr val="accent4"/>
                </a:solidFill>
                <a:latin typeface="+mj-ea"/>
                <a:ea typeface="+mj-ea"/>
              </a:rPr>
              <a:t>。</a:t>
            </a:r>
          </a:p>
        </p:txBody>
      </p:sp>
      <p:sp>
        <p:nvSpPr>
          <p:cNvPr id="25" name="TextBox 20"/>
          <p:cNvSpPr txBox="1"/>
          <p:nvPr/>
        </p:nvSpPr>
        <p:spPr>
          <a:xfrm>
            <a:off x="6886902" y="2287893"/>
            <a:ext cx="1707868" cy="971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050">
                <a:solidFill>
                  <a:schemeClr val="accent4"/>
                </a:solidFill>
                <a:latin typeface="+mj-ea"/>
                <a:ea typeface="+mj-ea"/>
              </a:rPr>
              <a:t>通过智能负载预测与资源调度算法在保障性能前提下最大化算力利用率，进行成本结构优化与闲置资源回收，降低整体</a:t>
            </a:r>
            <a:r>
              <a:rPr lang="en-GB" altLang="zh-CN" sz="1050">
                <a:solidFill>
                  <a:schemeClr val="accent4"/>
                </a:solidFill>
                <a:latin typeface="+mj-ea"/>
                <a:ea typeface="+mj-ea"/>
              </a:rPr>
              <a:t>TCO</a:t>
            </a:r>
            <a:r>
              <a:rPr lang="zh-CN" altLang="en-US" sz="1050">
                <a:solidFill>
                  <a:schemeClr val="accent4"/>
                </a:solidFill>
                <a:latin typeface="+mj-ea"/>
                <a:ea typeface="+mj-ea"/>
              </a:rPr>
              <a:t>并提升资源投资回报率。</a:t>
            </a:r>
          </a:p>
        </p:txBody>
      </p:sp>
      <p:sp>
        <p:nvSpPr>
          <p:cNvPr id="3" name="矩形 2"/>
          <p:cNvSpPr/>
          <p:nvPr/>
        </p:nvSpPr>
        <p:spPr bwMode="auto">
          <a:xfrm>
            <a:off x="2264158" y="1253067"/>
            <a:ext cx="2087708" cy="76200"/>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4" name="矩形 3"/>
          <p:cNvSpPr/>
          <p:nvPr/>
        </p:nvSpPr>
        <p:spPr bwMode="auto">
          <a:xfrm>
            <a:off x="4498442" y="1253067"/>
            <a:ext cx="2087708" cy="76200"/>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5" name="矩形 4"/>
          <p:cNvSpPr/>
          <p:nvPr/>
        </p:nvSpPr>
        <p:spPr bwMode="auto">
          <a:xfrm>
            <a:off x="6696594" y="1253067"/>
            <a:ext cx="2087708" cy="76200"/>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6" name="矩形 5"/>
          <p:cNvSpPr/>
          <p:nvPr/>
        </p:nvSpPr>
        <p:spPr bwMode="auto">
          <a:xfrm>
            <a:off x="283571" y="1258643"/>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7" name="矩形 6"/>
          <p:cNvSpPr/>
          <p:nvPr/>
        </p:nvSpPr>
        <p:spPr bwMode="auto">
          <a:xfrm>
            <a:off x="283571" y="18894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8" name="矩形 7"/>
          <p:cNvSpPr/>
          <p:nvPr/>
        </p:nvSpPr>
        <p:spPr bwMode="auto">
          <a:xfrm>
            <a:off x="283571" y="252538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9" name="矩形 8"/>
          <p:cNvSpPr/>
          <p:nvPr/>
        </p:nvSpPr>
        <p:spPr bwMode="auto">
          <a:xfrm>
            <a:off x="283571" y="31650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0" name="矩形 9"/>
          <p:cNvSpPr/>
          <p:nvPr/>
        </p:nvSpPr>
        <p:spPr bwMode="auto">
          <a:xfrm>
            <a:off x="283571" y="3786679"/>
            <a:ext cx="1729675" cy="522854"/>
          </a:xfrm>
          <a:prstGeom prst="rect">
            <a:avLst/>
          </a:prstGeom>
          <a:solidFill>
            <a:schemeClr val="accent4"/>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2" name="TextBox 22"/>
          <p:cNvSpPr txBox="1"/>
          <p:nvPr/>
        </p:nvSpPr>
        <p:spPr>
          <a:xfrm>
            <a:off x="632879" y="3944472"/>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算力层</a:t>
            </a:r>
            <a:endParaRPr lang="en-US" sz="600">
              <a:solidFill>
                <a:schemeClr val="bg1"/>
              </a:solidFill>
              <a:latin typeface="+mj-ea"/>
              <a:ea typeface="+mj-ea"/>
            </a:endParaRPr>
          </a:p>
        </p:txBody>
      </p:sp>
      <p:sp>
        <p:nvSpPr>
          <p:cNvPr id="14" name="TextBox 22"/>
          <p:cNvSpPr txBox="1"/>
          <p:nvPr/>
        </p:nvSpPr>
        <p:spPr>
          <a:xfrm>
            <a:off x="634402" y="2043401"/>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架构层</a:t>
            </a:r>
            <a:endParaRPr lang="en-US" sz="600">
              <a:solidFill>
                <a:schemeClr val="bg1"/>
              </a:solidFill>
              <a:latin typeface="+mj-ea"/>
              <a:ea typeface="+mj-ea"/>
            </a:endParaRPr>
          </a:p>
        </p:txBody>
      </p:sp>
      <p:sp>
        <p:nvSpPr>
          <p:cNvPr id="16" name="TextBox 22"/>
          <p:cNvSpPr txBox="1"/>
          <p:nvPr/>
        </p:nvSpPr>
        <p:spPr>
          <a:xfrm>
            <a:off x="634402" y="2680165"/>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模型层</a:t>
            </a:r>
            <a:endParaRPr lang="en-US" sz="600">
              <a:solidFill>
                <a:schemeClr val="bg1"/>
              </a:solidFill>
              <a:latin typeface="+mj-ea"/>
              <a:ea typeface="+mj-ea"/>
            </a:endParaRPr>
          </a:p>
        </p:txBody>
      </p:sp>
      <p:sp>
        <p:nvSpPr>
          <p:cNvPr id="17" name="TextBox 22"/>
          <p:cNvSpPr txBox="1"/>
          <p:nvPr/>
        </p:nvSpPr>
        <p:spPr>
          <a:xfrm>
            <a:off x="634402" y="1412447"/>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技能层</a:t>
            </a:r>
            <a:endParaRPr lang="en-US" sz="600">
              <a:solidFill>
                <a:schemeClr val="bg1"/>
              </a:solidFill>
              <a:latin typeface="+mj-ea"/>
              <a:ea typeface="+mj-ea"/>
            </a:endParaRPr>
          </a:p>
        </p:txBody>
      </p:sp>
      <p:sp>
        <p:nvSpPr>
          <p:cNvPr id="18" name="TextBox 22"/>
          <p:cNvSpPr txBox="1"/>
          <p:nvPr/>
        </p:nvSpPr>
        <p:spPr>
          <a:xfrm>
            <a:off x="632878" y="3319001"/>
            <a:ext cx="1031063" cy="214947"/>
          </a:xfrm>
          <a:prstGeom prst="rect">
            <a:avLst/>
          </a:prstGeom>
          <a:solidFill>
            <a:schemeClr val="accent1">
              <a:lumMod val="60000"/>
              <a:lumOff val="40000"/>
              <a:alpha val="0"/>
            </a:schemeClr>
          </a:solidFill>
        </p:spPr>
        <p:txBody>
          <a:bodyPr lIns="0" tIns="0" rIns="0" bIns="0" rtlCol="0" anchor="t"/>
          <a:lstStyle>
            <a:defPPr>
              <a:defRPr lang="en-US"/>
            </a:defPPr>
            <a:lvl1pPr indent="0" algn="ctr">
              <a:lnSpc>
                <a:spcPct val="120000"/>
              </a:lnSpc>
              <a:defRPr sz="1100">
                <a:solidFill>
                  <a:schemeClr val="bg1"/>
                </a:solidFill>
                <a:latin typeface="+mj-ea"/>
                <a:ea typeface="+mj-ea"/>
              </a:defRPr>
            </a:lvl1pPr>
          </a:lstStyle>
          <a:p>
            <a:r>
              <a:rPr lang="en-US">
                <a:solidFill>
                  <a:schemeClr val="bg2"/>
                </a:solidFill>
              </a:rPr>
              <a:t>数据层</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bwMode="auto">
          <a:xfrm>
            <a:off x="370935" y="213621"/>
            <a:ext cx="5329150" cy="267551"/>
          </a:xfrm>
          <a:prstGeom prst="rect">
            <a:avLst/>
          </a:prstGeom>
          <a:noFill/>
          <a:ln>
            <a:noFill/>
          </a:ln>
        </p:spPr>
        <p:txBody>
          <a:bodyPr vert="horz" wrap="square" lIns="0" tIns="0" rIns="0" bIns="45636" numCol="1" anchor="t" anchorCtr="0" compatLnSpc="1"/>
          <a:lstStyle>
            <a:lvl1pPr algn="l" rtl="0" eaLnBrk="1" fontAlgn="base" hangingPunct="1">
              <a:spcBef>
                <a:spcPct val="0"/>
              </a:spcBef>
              <a:spcAft>
                <a:spcPct val="0"/>
              </a:spcAft>
              <a:defRPr sz="900" b="0" i="0" baseline="0">
                <a:solidFill>
                  <a:schemeClr val="bg1"/>
                </a:solidFill>
                <a:latin typeface="Arial" charset="0"/>
                <a:ea typeface="华文黑体"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122"/>
                <a:cs typeface="ＭＳ Ｐゴシック" charset="0"/>
              </a:defRPr>
            </a:lvl2pPr>
            <a:lvl3pPr algn="l" rtl="0" eaLnBrk="1" fontAlgn="base" hangingPunct="1">
              <a:spcBef>
                <a:spcPct val="0"/>
              </a:spcBef>
              <a:spcAft>
                <a:spcPct val="0"/>
              </a:spcAft>
              <a:defRPr sz="3600">
                <a:solidFill>
                  <a:schemeClr val="tx1"/>
                </a:solidFill>
                <a:latin typeface="黑体" charset="-122"/>
                <a:ea typeface="黑体" charset="-122"/>
                <a:cs typeface="ＭＳ Ｐゴシック" charset="0"/>
              </a:defRPr>
            </a:lvl3pPr>
            <a:lvl4pPr algn="l" rtl="0" eaLnBrk="1" fontAlgn="base" hangingPunct="1">
              <a:spcBef>
                <a:spcPct val="0"/>
              </a:spcBef>
              <a:spcAft>
                <a:spcPct val="0"/>
              </a:spcAft>
              <a:defRPr sz="3600">
                <a:solidFill>
                  <a:schemeClr val="tx1"/>
                </a:solidFill>
                <a:latin typeface="黑体" charset="-122"/>
                <a:ea typeface="黑体" charset="-122"/>
                <a:cs typeface="ＭＳ Ｐゴシック" charset="0"/>
              </a:defRPr>
            </a:lvl4pPr>
            <a:lvl5pPr algn="l" rtl="0" eaLnBrk="1" fontAlgn="base" hangingPunct="1">
              <a:spcBef>
                <a:spcPct val="0"/>
              </a:spcBef>
              <a:spcAft>
                <a:spcPct val="0"/>
              </a:spcAft>
              <a:defRPr sz="3600">
                <a:solidFill>
                  <a:schemeClr val="tx1"/>
                </a:solidFill>
                <a:latin typeface="黑体" charset="-122"/>
                <a:ea typeface="黑体" charset="-122"/>
                <a:cs typeface="ＭＳ Ｐゴシック" charset="0"/>
              </a:defRPr>
            </a:lvl5pPr>
            <a:lvl6pPr marL="457200" algn="l" rtl="0" eaLnBrk="1" fontAlgn="base" hangingPunct="1">
              <a:spcBef>
                <a:spcPct val="0"/>
              </a:spcBef>
              <a:spcAft>
                <a:spcPct val="0"/>
              </a:spcAft>
              <a:defRPr sz="3600">
                <a:solidFill>
                  <a:srgbClr val="5F294F"/>
                </a:solidFill>
                <a:latin typeface="Arial Narrow" charset="0"/>
                <a:ea typeface="ＭＳ Ｐゴシック" charset="0"/>
                <a:cs typeface="ＭＳ Ｐゴシック" charset="0"/>
              </a:defRPr>
            </a:lvl6pPr>
            <a:lvl7pPr marL="914400" algn="l" rtl="0" eaLnBrk="1" fontAlgn="base" hangingPunct="1">
              <a:spcBef>
                <a:spcPct val="0"/>
              </a:spcBef>
              <a:spcAft>
                <a:spcPct val="0"/>
              </a:spcAft>
              <a:defRPr sz="3600">
                <a:solidFill>
                  <a:srgbClr val="5F294F"/>
                </a:solidFill>
                <a:latin typeface="Arial Narrow" charset="0"/>
                <a:ea typeface="ＭＳ Ｐゴシック" charset="0"/>
                <a:cs typeface="ＭＳ Ｐゴシック" charset="0"/>
              </a:defRPr>
            </a:lvl7pPr>
            <a:lvl8pPr marL="1371600" algn="l" rtl="0" eaLnBrk="1" fontAlgn="base" hangingPunct="1">
              <a:spcBef>
                <a:spcPct val="0"/>
              </a:spcBef>
              <a:spcAft>
                <a:spcPct val="0"/>
              </a:spcAft>
              <a:defRPr sz="3600">
                <a:solidFill>
                  <a:srgbClr val="5F294F"/>
                </a:solidFill>
                <a:latin typeface="Arial Narrow" charset="0"/>
                <a:ea typeface="ＭＳ Ｐゴシック" charset="0"/>
                <a:cs typeface="ＭＳ Ｐゴシック" charset="0"/>
              </a:defRPr>
            </a:lvl8pPr>
            <a:lvl9pPr marL="1828800" algn="l" rtl="0" eaLnBrk="1" fontAlgn="base" hangingPunct="1">
              <a:spcBef>
                <a:spcPct val="0"/>
              </a:spcBef>
              <a:spcAft>
                <a:spcPct val="0"/>
              </a:spcAft>
              <a:defRPr sz="3600">
                <a:solidFill>
                  <a:srgbClr val="5F294F"/>
                </a:solidFill>
                <a:latin typeface="Arial Narrow" charset="0"/>
                <a:ea typeface="ＭＳ Ｐゴシック" charset="0"/>
                <a:cs typeface="ＭＳ Ｐゴシック" charset="0"/>
              </a:defRPr>
            </a:lvl9pPr>
          </a:lstStyle>
          <a:p>
            <a:r>
              <a:rPr lang="zh-CN" altLang="en-US" sz="2295" b="1" kern="0" dirty="0">
                <a:solidFill>
                  <a:srgbClr val="FFFFFF"/>
                </a:solidFill>
                <a:latin typeface="+mj-ea"/>
                <a:ea typeface="+mj-ea"/>
              </a:rPr>
              <a:t>为</a:t>
            </a:r>
            <a:r>
              <a:rPr lang="en-US" altLang="zh-CN" sz="2295" b="1" kern="0" dirty="0">
                <a:solidFill>
                  <a:srgbClr val="FFFFFF"/>
                </a:solidFill>
                <a:latin typeface="+mj-ea"/>
                <a:ea typeface="+mj-ea"/>
              </a:rPr>
              <a:t>EWork</a:t>
            </a:r>
            <a:r>
              <a:rPr lang="zh-CN" altLang="en-US" sz="2295" b="1" kern="0" dirty="0">
                <a:solidFill>
                  <a:srgbClr val="FFFFFF"/>
                </a:solidFill>
                <a:latin typeface="+mj-ea"/>
                <a:ea typeface="+mj-ea"/>
              </a:rPr>
              <a:t>高效运作提供算力基础保障</a:t>
            </a:r>
            <a:endParaRPr lang="en-US" altLang="zh-CN" sz="2295" b="1" kern="0" dirty="0">
              <a:latin typeface="+mj-ea"/>
              <a:ea typeface="+mj-ea"/>
            </a:endParaRPr>
          </a:p>
        </p:txBody>
      </p:sp>
      <p:grpSp>
        <p:nvGrpSpPr>
          <p:cNvPr id="2" name="组合 1"/>
          <p:cNvGrpSpPr/>
          <p:nvPr/>
        </p:nvGrpSpPr>
        <p:grpSpPr>
          <a:xfrm>
            <a:off x="3212292" y="1492722"/>
            <a:ext cx="2719416" cy="1409536"/>
            <a:chOff x="1732715" y="2918321"/>
            <a:chExt cx="2724454" cy="1412147"/>
          </a:xfrm>
        </p:grpSpPr>
        <p:pic>
          <p:nvPicPr>
            <p:cNvPr id="88" name="图形 9" descr="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2741" y="3183721"/>
              <a:ext cx="1224428" cy="1146747"/>
            </a:xfrm>
            <a:prstGeom prst="rect">
              <a:avLst/>
            </a:prstGeom>
          </p:spPr>
        </p:pic>
        <p:sp>
          <p:nvSpPr>
            <p:cNvPr id="62" name="文本框 61"/>
            <p:cNvSpPr txBox="1"/>
            <p:nvPr/>
          </p:nvSpPr>
          <p:spPr>
            <a:xfrm>
              <a:off x="3431094" y="4063185"/>
              <a:ext cx="794023" cy="230918"/>
            </a:xfrm>
            <a:prstGeom prst="rect">
              <a:avLst/>
            </a:prstGeom>
            <a:solidFill>
              <a:schemeClr val="bg1"/>
            </a:solidFill>
          </p:spPr>
          <p:txBody>
            <a:bodyPr wrap="square" rtlCol="0">
              <a:spAutoFit/>
            </a:bodyPr>
            <a:lstStyle/>
            <a:p>
              <a:pPr algn="ctr"/>
              <a:r>
                <a:rPr kumimoji="1" lang="zh-CN" altLang="en-US" sz="900" b="1" dirty="0">
                  <a:solidFill>
                    <a:srgbClr val="00A4FF"/>
                  </a:solidFill>
                  <a:latin typeface="+mj-ea"/>
                  <a:ea typeface="+mj-ea"/>
                </a:rPr>
                <a:t>外部算力</a:t>
              </a:r>
              <a:endParaRPr kumimoji="1" lang="en-US" altLang="zh-CN" sz="900" b="1" dirty="0">
                <a:solidFill>
                  <a:srgbClr val="00A4FF"/>
                </a:solidFill>
                <a:latin typeface="+mj-ea"/>
                <a:ea typeface="+mj-ea"/>
              </a:endParaRPr>
            </a:p>
          </p:txBody>
        </p:sp>
        <p:pic>
          <p:nvPicPr>
            <p:cNvPr id="68" name="图形 6" descr="Interne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80695" y="3549915"/>
              <a:ext cx="196846" cy="184357"/>
            </a:xfrm>
            <a:prstGeom prst="rect">
              <a:avLst/>
            </a:prstGeom>
          </p:spPr>
        </p:pic>
        <p:pic>
          <p:nvPicPr>
            <p:cNvPr id="70" name="图形 6" descr="Interne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1709" y="3775068"/>
              <a:ext cx="196846" cy="184357"/>
            </a:xfrm>
            <a:prstGeom prst="rect">
              <a:avLst/>
            </a:prstGeom>
          </p:spPr>
        </p:pic>
        <p:pic>
          <p:nvPicPr>
            <p:cNvPr id="71" name="图形 8" descr="数据库"/>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16003" y="3780813"/>
              <a:ext cx="180765" cy="169297"/>
            </a:xfrm>
            <a:prstGeom prst="rect">
              <a:avLst/>
            </a:prstGeom>
          </p:spPr>
        </p:pic>
        <p:pic>
          <p:nvPicPr>
            <p:cNvPr id="72" name="图形 5" descr="服务器"/>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32543" y="3780813"/>
              <a:ext cx="180765" cy="169297"/>
            </a:xfrm>
            <a:prstGeom prst="rect">
              <a:avLst/>
            </a:prstGeom>
          </p:spPr>
        </p:pic>
        <p:pic>
          <p:nvPicPr>
            <p:cNvPr id="73" name="图形 9" descr="连接"/>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94609" y="3554686"/>
              <a:ext cx="223718" cy="209525"/>
            </a:xfrm>
            <a:prstGeom prst="rect">
              <a:avLst/>
            </a:prstGeom>
          </p:spPr>
        </p:pic>
        <p:pic>
          <p:nvPicPr>
            <p:cNvPr id="76" name="图形 8" descr="数据库"/>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01259" y="3144448"/>
              <a:ext cx="180765" cy="169297"/>
            </a:xfrm>
            <a:prstGeom prst="rect">
              <a:avLst/>
            </a:prstGeom>
          </p:spPr>
        </p:pic>
        <p:pic>
          <p:nvPicPr>
            <p:cNvPr id="77" name="图形 5" descr="服务器"/>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17798" y="3144448"/>
              <a:ext cx="180765" cy="169297"/>
            </a:xfrm>
            <a:prstGeom prst="rect">
              <a:avLst/>
            </a:prstGeom>
          </p:spPr>
        </p:pic>
        <p:pic>
          <p:nvPicPr>
            <p:cNvPr id="78" name="图形 9" descr="连接"/>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79865" y="2918321"/>
              <a:ext cx="223718" cy="209525"/>
            </a:xfrm>
            <a:prstGeom prst="rect">
              <a:avLst/>
            </a:prstGeom>
          </p:spPr>
        </p:pic>
        <p:pic>
          <p:nvPicPr>
            <p:cNvPr id="79" name="图形 6" descr="Interne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53794" y="3123833"/>
              <a:ext cx="196846" cy="205414"/>
            </a:xfrm>
            <a:prstGeom prst="rect">
              <a:avLst/>
            </a:prstGeom>
          </p:spPr>
        </p:pic>
        <p:pic>
          <p:nvPicPr>
            <p:cNvPr id="80" name="图形 36" descr="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2715" y="3175805"/>
              <a:ext cx="1224428" cy="1146747"/>
            </a:xfrm>
            <a:prstGeom prst="rect">
              <a:avLst/>
            </a:prstGeom>
          </p:spPr>
        </p:pic>
        <p:pic>
          <p:nvPicPr>
            <p:cNvPr id="81" name="图形 6" descr="Interne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59421" y="3822788"/>
              <a:ext cx="196846" cy="184357"/>
            </a:xfrm>
            <a:prstGeom prst="rect">
              <a:avLst/>
            </a:prstGeom>
          </p:spPr>
        </p:pic>
        <p:pic>
          <p:nvPicPr>
            <p:cNvPr id="82" name="图形 8" descr="数据库"/>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93715" y="3828534"/>
              <a:ext cx="180765" cy="169297"/>
            </a:xfrm>
            <a:prstGeom prst="rect">
              <a:avLst/>
            </a:prstGeom>
          </p:spPr>
        </p:pic>
        <p:pic>
          <p:nvPicPr>
            <p:cNvPr id="83" name="图形 5" descr="服务器"/>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10255" y="3828534"/>
              <a:ext cx="180765" cy="169297"/>
            </a:xfrm>
            <a:prstGeom prst="rect">
              <a:avLst/>
            </a:prstGeom>
          </p:spPr>
        </p:pic>
        <p:pic>
          <p:nvPicPr>
            <p:cNvPr id="84" name="图形 9" descr="连接"/>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72322" y="3602406"/>
              <a:ext cx="223718" cy="209525"/>
            </a:xfrm>
            <a:prstGeom prst="rect">
              <a:avLst/>
            </a:prstGeom>
          </p:spPr>
        </p:pic>
        <p:sp>
          <p:nvSpPr>
            <p:cNvPr id="87" name="文本框 86"/>
            <p:cNvSpPr txBox="1"/>
            <p:nvPr/>
          </p:nvSpPr>
          <p:spPr>
            <a:xfrm>
              <a:off x="1927042" y="4059745"/>
              <a:ext cx="794023" cy="230918"/>
            </a:xfrm>
            <a:prstGeom prst="rect">
              <a:avLst/>
            </a:prstGeom>
            <a:solidFill>
              <a:schemeClr val="bg1"/>
            </a:solidFill>
          </p:spPr>
          <p:txBody>
            <a:bodyPr wrap="square" rtlCol="0">
              <a:spAutoFit/>
            </a:bodyPr>
            <a:lstStyle/>
            <a:p>
              <a:pPr algn="ctr"/>
              <a:r>
                <a:rPr kumimoji="1" lang="zh-CN" altLang="en-US" sz="900" b="1" dirty="0">
                  <a:solidFill>
                    <a:srgbClr val="00A4FF"/>
                  </a:solidFill>
                  <a:latin typeface="+mj-ea"/>
                  <a:ea typeface="+mj-ea"/>
                </a:rPr>
                <a:t>内部算力</a:t>
              </a:r>
              <a:endParaRPr kumimoji="1" lang="en-US" altLang="zh-CN" sz="900" b="1" dirty="0">
                <a:solidFill>
                  <a:srgbClr val="00A4FF"/>
                </a:solidFill>
                <a:latin typeface="+mj-ea"/>
                <a:ea typeface="+mj-ea"/>
              </a:endParaRPr>
            </a:p>
          </p:txBody>
        </p:sp>
        <p:pic>
          <p:nvPicPr>
            <p:cNvPr id="89" name="图形 6" descr="Interne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9446" y="3830704"/>
              <a:ext cx="196846" cy="184357"/>
            </a:xfrm>
            <a:prstGeom prst="rect">
              <a:avLst/>
            </a:prstGeom>
          </p:spPr>
        </p:pic>
        <p:pic>
          <p:nvPicPr>
            <p:cNvPr id="90" name="图形 8" descr="数据库"/>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93741" y="3836449"/>
              <a:ext cx="180765" cy="169297"/>
            </a:xfrm>
            <a:prstGeom prst="rect">
              <a:avLst/>
            </a:prstGeom>
          </p:spPr>
        </p:pic>
        <p:pic>
          <p:nvPicPr>
            <p:cNvPr id="91" name="图形 5" descr="服务器"/>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10281" y="3836449"/>
              <a:ext cx="180765" cy="169297"/>
            </a:xfrm>
            <a:prstGeom prst="rect">
              <a:avLst/>
            </a:prstGeom>
          </p:spPr>
        </p:pic>
        <p:pic>
          <p:nvPicPr>
            <p:cNvPr id="92" name="图形 9" descr="连接"/>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72348" y="3610323"/>
              <a:ext cx="223718" cy="209525"/>
            </a:xfrm>
            <a:prstGeom prst="rect">
              <a:avLst/>
            </a:prstGeom>
          </p:spPr>
        </p:pic>
        <p:sp>
          <p:nvSpPr>
            <p:cNvPr id="69" name="椭圆 68"/>
            <p:cNvSpPr/>
            <p:nvPr/>
          </p:nvSpPr>
          <p:spPr bwMode="auto">
            <a:xfrm>
              <a:off x="2530942" y="3453396"/>
              <a:ext cx="1121724" cy="636879"/>
            </a:xfrm>
            <a:prstGeom prst="ellipse">
              <a:avLst/>
            </a:prstGeom>
            <a:noFill/>
            <a:ln w="28575">
              <a:solidFill>
                <a:schemeClr val="accent1"/>
              </a:solidFill>
              <a:prstDash val="dash"/>
            </a:ln>
          </p:spPr>
          <p:style>
            <a:lnRef idx="2">
              <a:schemeClr val="accent6"/>
            </a:lnRef>
            <a:fillRef idx="1">
              <a:schemeClr val="lt1"/>
            </a:fillRef>
            <a:effectRef idx="0">
              <a:schemeClr val="accent6"/>
            </a:effectRef>
            <a:fontRef idx="minor">
              <a:schemeClr val="dk1"/>
            </a:fontRef>
          </p:style>
          <p:txBody>
            <a:bodyPr vert="horz" wrap="square" lIns="68435" tIns="34218" rIns="68435" bIns="34218" numCol="1" rtlCol="0" anchor="t" anchorCtr="0" compatLnSpc="1"/>
            <a:lstStyle/>
            <a:p>
              <a:pPr algn="ctr"/>
              <a:endParaRPr kumimoji="1" lang="zh-CN" altLang="en-US" sz="900" dirty="0">
                <a:solidFill>
                  <a:prstClr val="white"/>
                </a:solidFill>
                <a:latin typeface="+mn-ea"/>
              </a:endParaRPr>
            </a:p>
          </p:txBody>
        </p:sp>
      </p:grpSp>
      <p:sp>
        <p:nvSpPr>
          <p:cNvPr id="49" name="矩形 48"/>
          <p:cNvSpPr/>
          <p:nvPr/>
        </p:nvSpPr>
        <p:spPr>
          <a:xfrm>
            <a:off x="240033" y="905398"/>
            <a:ext cx="2119582" cy="3683765"/>
          </a:xfrm>
          <a:prstGeom prst="rect">
            <a:avLst/>
          </a:prstGeom>
        </p:spPr>
        <p:txBody>
          <a:bodyPr wrap="square">
            <a:spAutoFit/>
          </a:bodyPr>
          <a:lstStyle/>
          <a:p>
            <a:pPr algn="just">
              <a:lnSpc>
                <a:spcPct val="150000"/>
              </a:lnSpc>
            </a:pPr>
            <a:r>
              <a:rPr lang="zh-CN" altLang="en-US" sz="1500" b="1" dirty="0">
                <a:solidFill>
                  <a:schemeClr val="accent1"/>
                </a:solidFill>
                <a:latin typeface="华文黑体_易方达" pitchFamily="2" charset="-122"/>
                <a:ea typeface="华文黑体_易方达" pitchFamily="2" charset="-122"/>
              </a:rPr>
              <a:t>内部算力</a:t>
            </a:r>
            <a:endParaRPr lang="en-US" altLang="zh-CN" sz="1500" b="1" dirty="0">
              <a:solidFill>
                <a:schemeClr val="accent1"/>
              </a:solidFill>
              <a:latin typeface="华文黑体_易方达" pitchFamily="2" charset="-122"/>
              <a:ea typeface="华文黑体_易方达" pitchFamily="2" charset="-122"/>
            </a:endParaRPr>
          </a:p>
          <a:p>
            <a:pPr algn="just"/>
            <a:endParaRPr lang="en-US" altLang="zh-CN" sz="1500" b="1" dirty="0">
              <a:solidFill>
                <a:schemeClr val="accent1"/>
              </a:solidFill>
              <a:latin typeface="华文黑体_易方达" pitchFamily="2" charset="-122"/>
              <a:ea typeface="华文黑体_易方达" pitchFamily="2" charset="-122"/>
            </a:endParaRPr>
          </a:p>
          <a:p>
            <a:pPr algn="just">
              <a:lnSpc>
                <a:spcPct val="150000"/>
              </a:lnSpc>
            </a:pPr>
            <a:r>
              <a:rPr lang="zh-CN" altLang="en-US" sz="1200" dirty="0">
                <a:solidFill>
                  <a:schemeClr val="accent4"/>
                </a:solidFill>
                <a:latin typeface="华文黑体_易方达" pitchFamily="2" charset="-122"/>
                <a:ea typeface="华文黑体_易方达" pitchFamily="2" charset="-122"/>
              </a:rPr>
              <a:t>以自建</a:t>
            </a:r>
            <a:r>
              <a:rPr lang="en-GB" altLang="zh-CN" sz="1200" dirty="0">
                <a:solidFill>
                  <a:schemeClr val="accent4"/>
                </a:solidFill>
                <a:latin typeface="华文黑体_易方达" pitchFamily="2" charset="-122"/>
                <a:ea typeface="华文黑体_易方达" pitchFamily="2" charset="-122"/>
              </a:rPr>
              <a:t>GPU</a:t>
            </a:r>
            <a:r>
              <a:rPr lang="zh-CN" altLang="en-US" sz="1200" dirty="0">
                <a:solidFill>
                  <a:schemeClr val="accent4"/>
                </a:solidFill>
                <a:latin typeface="华文黑体_易方达" pitchFamily="2" charset="-122"/>
                <a:ea typeface="华文黑体_易方达" pitchFamily="2" charset="-122"/>
              </a:rPr>
              <a:t>集群为主，承接敏感数据不出域和核心业务高安全要求场景。</a:t>
            </a:r>
          </a:p>
          <a:p>
            <a:pPr algn="just">
              <a:lnSpc>
                <a:spcPct val="150000"/>
              </a:lnSpc>
            </a:pPr>
            <a:endParaRPr lang="zh-CN" altLang="en-US" sz="1200" dirty="0">
              <a:solidFill>
                <a:schemeClr val="accent4"/>
              </a:solidFill>
              <a:latin typeface="华文黑体_易方达" pitchFamily="2" charset="-122"/>
              <a:ea typeface="华文黑体_易方达" pitchFamily="2" charset="-122"/>
            </a:endParaRPr>
          </a:p>
          <a:p>
            <a:pPr algn="just">
              <a:lnSpc>
                <a:spcPct val="150000"/>
              </a:lnSpc>
            </a:pPr>
            <a:r>
              <a:rPr lang="zh-CN" altLang="en-US" sz="1200" dirty="0">
                <a:solidFill>
                  <a:schemeClr val="accent4"/>
                </a:solidFill>
                <a:latin typeface="华文黑体_易方达" pitchFamily="2" charset="-122"/>
                <a:ea typeface="华文黑体_易方达" pitchFamily="2" charset="-122"/>
              </a:rPr>
              <a:t>通过模型分层与任务路由，为不同复杂度任务匹配合适参数规模的模型。</a:t>
            </a:r>
          </a:p>
          <a:p>
            <a:pPr algn="just">
              <a:lnSpc>
                <a:spcPct val="150000"/>
              </a:lnSpc>
            </a:pPr>
            <a:endParaRPr lang="zh-CN" altLang="en-US" sz="1200" dirty="0">
              <a:solidFill>
                <a:schemeClr val="accent4"/>
              </a:solidFill>
              <a:latin typeface="华文黑体_易方达" pitchFamily="2" charset="-122"/>
              <a:ea typeface="华文黑体_易方达" pitchFamily="2" charset="-122"/>
            </a:endParaRPr>
          </a:p>
          <a:p>
            <a:pPr algn="just">
              <a:lnSpc>
                <a:spcPct val="150000"/>
              </a:lnSpc>
            </a:pPr>
            <a:r>
              <a:rPr lang="zh-CN" altLang="en-US" sz="1200" dirty="0">
                <a:solidFill>
                  <a:schemeClr val="accent4"/>
                </a:solidFill>
                <a:latin typeface="华文黑体_易方达" pitchFamily="2" charset="-122"/>
                <a:ea typeface="华文黑体_易方达" pitchFamily="2" charset="-122"/>
              </a:rPr>
              <a:t>在保障安全与稳定的前提下，提高算力利用率，降低不必要的大模型调用消耗。</a:t>
            </a:r>
          </a:p>
        </p:txBody>
      </p:sp>
      <p:sp>
        <p:nvSpPr>
          <p:cNvPr id="50" name="矩形 49"/>
          <p:cNvSpPr/>
          <p:nvPr/>
        </p:nvSpPr>
        <p:spPr>
          <a:xfrm>
            <a:off x="6935452" y="943909"/>
            <a:ext cx="1968516" cy="3683765"/>
          </a:xfrm>
          <a:prstGeom prst="rect">
            <a:avLst/>
          </a:prstGeom>
        </p:spPr>
        <p:txBody>
          <a:bodyPr wrap="square">
            <a:spAutoFit/>
          </a:bodyPr>
          <a:lstStyle/>
          <a:p>
            <a:pPr algn="just">
              <a:lnSpc>
                <a:spcPct val="150000"/>
              </a:lnSpc>
            </a:pPr>
            <a:r>
              <a:rPr lang="zh-CN" altLang="en-US" sz="1500" b="1" dirty="0">
                <a:solidFill>
                  <a:schemeClr val="accent1"/>
                </a:solidFill>
                <a:latin typeface="华文黑体_易方达" pitchFamily="2" charset="-122"/>
                <a:ea typeface="华文黑体_易方达" pitchFamily="2" charset="-122"/>
              </a:rPr>
              <a:t>外部算力</a:t>
            </a:r>
            <a:endParaRPr lang="en-US" altLang="zh-CN" sz="1500" b="1" dirty="0">
              <a:solidFill>
                <a:schemeClr val="accent1"/>
              </a:solidFill>
              <a:latin typeface="华文黑体_易方达" pitchFamily="2" charset="-122"/>
              <a:ea typeface="华文黑体_易方达" pitchFamily="2" charset="-122"/>
            </a:endParaRPr>
          </a:p>
          <a:p>
            <a:pPr algn="just"/>
            <a:endParaRPr lang="en-US" altLang="zh-CN" sz="1500" b="1" dirty="0">
              <a:solidFill>
                <a:schemeClr val="accent1"/>
              </a:solidFill>
              <a:latin typeface="华文黑体_易方达" pitchFamily="2" charset="-122"/>
              <a:ea typeface="华文黑体_易方达" pitchFamily="2" charset="-122"/>
            </a:endParaRPr>
          </a:p>
          <a:p>
            <a:pPr algn="just">
              <a:lnSpc>
                <a:spcPct val="150000"/>
              </a:lnSpc>
            </a:pPr>
            <a:r>
              <a:rPr lang="zh-CN" altLang="en-US" sz="1200" dirty="0">
                <a:solidFill>
                  <a:schemeClr val="accent4"/>
                </a:solidFill>
                <a:latin typeface="华文黑体_易方达" pitchFamily="2" charset="-122"/>
                <a:ea typeface="华文黑体_易方达" pitchFamily="2" charset="-122"/>
              </a:rPr>
              <a:t>以公有云模型服务为主，承接数据可出域和弹性资源需求较高的场景。</a:t>
            </a:r>
          </a:p>
          <a:p>
            <a:pPr algn="just">
              <a:lnSpc>
                <a:spcPct val="150000"/>
              </a:lnSpc>
            </a:pPr>
            <a:endParaRPr lang="zh-CN" altLang="en-US" sz="1200" dirty="0">
              <a:solidFill>
                <a:schemeClr val="accent4"/>
              </a:solidFill>
              <a:latin typeface="华文黑体_易方达" pitchFamily="2" charset="-122"/>
              <a:ea typeface="华文黑体_易方达" pitchFamily="2" charset="-122"/>
            </a:endParaRPr>
          </a:p>
          <a:p>
            <a:pPr algn="just">
              <a:lnSpc>
                <a:spcPct val="150000"/>
              </a:lnSpc>
            </a:pPr>
            <a:r>
              <a:rPr lang="zh-CN" altLang="en-US" sz="1200" dirty="0">
                <a:solidFill>
                  <a:schemeClr val="accent4"/>
                </a:solidFill>
                <a:latin typeface="华文黑体_易方达" pitchFamily="2" charset="-122"/>
                <a:ea typeface="华文黑体_易方达" pitchFamily="2" charset="-122"/>
              </a:rPr>
              <a:t>通过云端模型能力补充内部资源，在高峰期提供快速扩展和灵活调度。</a:t>
            </a:r>
          </a:p>
          <a:p>
            <a:pPr algn="just">
              <a:lnSpc>
                <a:spcPct val="150000"/>
              </a:lnSpc>
            </a:pPr>
            <a:endParaRPr lang="zh-CN" altLang="en-US" sz="1200" dirty="0">
              <a:solidFill>
                <a:schemeClr val="accent4"/>
              </a:solidFill>
              <a:latin typeface="华文黑体_易方达" pitchFamily="2" charset="-122"/>
              <a:ea typeface="华文黑体_易方达" pitchFamily="2" charset="-122"/>
            </a:endParaRPr>
          </a:p>
          <a:p>
            <a:pPr algn="just">
              <a:lnSpc>
                <a:spcPct val="150000"/>
              </a:lnSpc>
            </a:pPr>
            <a:r>
              <a:rPr lang="zh-CN" altLang="en-US" sz="1200" dirty="0">
                <a:solidFill>
                  <a:schemeClr val="accent4"/>
                </a:solidFill>
                <a:latin typeface="华文黑体_易方达" pitchFamily="2" charset="-122"/>
                <a:ea typeface="华文黑体_易方达" pitchFamily="2" charset="-122"/>
              </a:rPr>
              <a:t>在控制数据边界与调用策略的前提下，降低固定投入，提升整体资源弹性。</a:t>
            </a:r>
          </a:p>
        </p:txBody>
      </p:sp>
      <p:sp>
        <p:nvSpPr>
          <p:cNvPr id="86" name="流程图: 手动操作 85"/>
          <p:cNvSpPr/>
          <p:nvPr/>
        </p:nvSpPr>
        <p:spPr>
          <a:xfrm rot="16200000" flipH="1" flipV="1">
            <a:off x="4734799" y="2596158"/>
            <a:ext cx="3465606" cy="580951"/>
          </a:xfrm>
          <a:prstGeom prst="flowChartManualOperation">
            <a:avLst/>
          </a:prstGeom>
          <a:gradFill>
            <a:gsLst>
              <a:gs pos="0">
                <a:schemeClr val="accent3">
                  <a:lumMod val="60000"/>
                  <a:lumOff val="40000"/>
                </a:schemeClr>
              </a:gs>
              <a:gs pos="35000">
                <a:schemeClr val="accent3">
                  <a:lumMod val="40000"/>
                  <a:lumOff val="60000"/>
                </a:schemeClr>
              </a:gs>
              <a:gs pos="99083">
                <a:sysClr val="window" lastClr="FFFFFF"/>
              </a:gs>
              <a:gs pos="85000">
                <a:schemeClr val="accent3">
                  <a:lumMod val="20000"/>
                  <a:lumOff val="80000"/>
                </a:schemeClr>
              </a:gs>
            </a:gsLst>
            <a:lin ang="16200000" scaled="1"/>
          </a:gradFill>
          <a:ln w="12700" cap="flat" cmpd="sng" algn="ctr">
            <a:noFill/>
            <a:prstDash val="solid"/>
            <a:miter lim="800000"/>
          </a:ln>
          <a:effectLst/>
        </p:spPr>
        <p:txBody>
          <a:bodyPr rtlCol="0" anchor="ctr"/>
          <a:lstStyle/>
          <a:p>
            <a:pPr algn="ctr"/>
            <a:endParaRPr lang="zh-CN" altLang="en-US" sz="1465" kern="0" dirty="0">
              <a:solidFill>
                <a:prstClr val="white"/>
              </a:solidFill>
            </a:endParaRPr>
          </a:p>
        </p:txBody>
      </p:sp>
      <p:sp>
        <p:nvSpPr>
          <p:cNvPr id="94" name="流程图: 手动操作 93"/>
          <p:cNvSpPr/>
          <p:nvPr/>
        </p:nvSpPr>
        <p:spPr>
          <a:xfrm rot="5400000" flipH="1" flipV="1">
            <a:off x="963031" y="2495317"/>
            <a:ext cx="3465606" cy="580951"/>
          </a:xfrm>
          <a:prstGeom prst="flowChartManualOperation">
            <a:avLst/>
          </a:prstGeom>
          <a:gradFill>
            <a:gsLst>
              <a:gs pos="0">
                <a:schemeClr val="accent3">
                  <a:lumMod val="60000"/>
                  <a:lumOff val="40000"/>
                </a:schemeClr>
              </a:gs>
              <a:gs pos="35000">
                <a:schemeClr val="accent3">
                  <a:lumMod val="40000"/>
                  <a:lumOff val="60000"/>
                </a:schemeClr>
              </a:gs>
              <a:gs pos="99083">
                <a:sysClr val="window" lastClr="FFFFFF"/>
              </a:gs>
              <a:gs pos="85000">
                <a:schemeClr val="accent3">
                  <a:lumMod val="20000"/>
                  <a:lumOff val="80000"/>
                </a:schemeClr>
              </a:gs>
            </a:gsLst>
            <a:lin ang="16200000" scaled="1"/>
          </a:gradFill>
          <a:ln w="12700" cap="flat" cmpd="sng" algn="ctr">
            <a:noFill/>
            <a:prstDash val="solid"/>
            <a:miter lim="800000"/>
          </a:ln>
          <a:effectLst/>
        </p:spPr>
        <p:txBody>
          <a:bodyPr rtlCol="0" anchor="ctr"/>
          <a:lstStyle/>
          <a:p>
            <a:pPr algn="ctr">
              <a:defRPr/>
            </a:pPr>
            <a:endParaRPr lang="zh-CN" altLang="en-US" sz="1465" kern="0" dirty="0">
              <a:solidFill>
                <a:prstClr val="white"/>
              </a:solidFill>
            </a:endParaRPr>
          </a:p>
        </p:txBody>
      </p:sp>
      <p:sp>
        <p:nvSpPr>
          <p:cNvPr id="96" name="矩形 95"/>
          <p:cNvSpPr/>
          <p:nvPr/>
        </p:nvSpPr>
        <p:spPr>
          <a:xfrm>
            <a:off x="3169822" y="1052990"/>
            <a:ext cx="2776155" cy="613446"/>
          </a:xfrm>
          <a:prstGeom prst="rect">
            <a:avLst/>
          </a:prstGeom>
        </p:spPr>
        <p:txBody>
          <a:bodyPr wrap="square">
            <a:spAutoFit/>
          </a:bodyPr>
          <a:lstStyle/>
          <a:p>
            <a:pPr algn="ctr">
              <a:lnSpc>
                <a:spcPct val="150000"/>
              </a:lnSpc>
            </a:pPr>
            <a:r>
              <a:rPr lang="zh-CN" altLang="en-US" sz="1200" dirty="0">
                <a:solidFill>
                  <a:schemeClr val="accent1"/>
                </a:solidFill>
                <a:latin typeface="华文黑体_易方达" pitchFamily="2" charset="-122"/>
                <a:ea typeface="华文黑体_易方达" pitchFamily="2" charset="-122"/>
              </a:rPr>
              <a:t>构建混合算力架构与分层模型体系，</a:t>
            </a:r>
            <a:endParaRPr lang="en-US" altLang="zh-CN" sz="1200" dirty="0">
              <a:solidFill>
                <a:schemeClr val="accent1"/>
              </a:solidFill>
              <a:latin typeface="华文黑体_易方达" pitchFamily="2" charset="-122"/>
              <a:ea typeface="华文黑体_易方达" pitchFamily="2" charset="-122"/>
            </a:endParaRPr>
          </a:p>
          <a:p>
            <a:pPr algn="ctr">
              <a:lnSpc>
                <a:spcPct val="150000"/>
              </a:lnSpc>
            </a:pPr>
            <a:r>
              <a:rPr lang="zh-CN" altLang="en-US" sz="1200" dirty="0">
                <a:solidFill>
                  <a:schemeClr val="accent1"/>
                </a:solidFill>
                <a:latin typeface="华文黑体_易方达" pitchFamily="2" charset="-122"/>
                <a:ea typeface="华文黑体_易方达" pitchFamily="2" charset="-122"/>
              </a:rPr>
              <a:t>实现算力资源高效协同利用</a:t>
            </a:r>
          </a:p>
        </p:txBody>
      </p:sp>
      <p:sp>
        <p:nvSpPr>
          <p:cNvPr id="97" name="矩形 96"/>
          <p:cNvSpPr/>
          <p:nvPr/>
        </p:nvSpPr>
        <p:spPr>
          <a:xfrm>
            <a:off x="3104290" y="3074601"/>
            <a:ext cx="3001316" cy="1033296"/>
          </a:xfrm>
          <a:prstGeom prst="rect">
            <a:avLst/>
          </a:prstGeom>
        </p:spPr>
        <p:txBody>
          <a:bodyPr wrap="square">
            <a:spAutoFit/>
          </a:bodyPr>
          <a:lstStyle/>
          <a:p>
            <a:pPr algn="just">
              <a:lnSpc>
                <a:spcPct val="150000"/>
              </a:lnSpc>
            </a:pPr>
            <a:r>
              <a:rPr lang="zh-CN" altLang="en-US" sz="1050" dirty="0">
                <a:solidFill>
                  <a:schemeClr val="accent4"/>
                </a:solidFill>
                <a:latin typeface="华文黑体_易方达" pitchFamily="2" charset="-122"/>
                <a:ea typeface="华文黑体_易方达" pitchFamily="2" charset="-122"/>
              </a:rPr>
              <a:t>整合自建</a:t>
            </a:r>
            <a:r>
              <a:rPr lang="en-GB" altLang="zh-CN" sz="1050" dirty="0">
                <a:solidFill>
                  <a:schemeClr val="accent4"/>
                </a:solidFill>
                <a:latin typeface="华文黑体_易方达" pitchFamily="2" charset="-122"/>
                <a:ea typeface="华文黑体_易方达" pitchFamily="2" charset="-122"/>
              </a:rPr>
              <a:t>GPU</a:t>
            </a:r>
            <a:r>
              <a:rPr lang="zh-CN" altLang="en-US" sz="1050" dirty="0">
                <a:solidFill>
                  <a:schemeClr val="accent4"/>
                </a:solidFill>
                <a:latin typeface="华文黑体_易方达" pitchFamily="2" charset="-122"/>
                <a:ea typeface="华文黑体_易方达" pitchFamily="2" charset="-122"/>
              </a:rPr>
              <a:t>集群与公有云模型服务，通过多算协同架构实现异构算力动态调度：内部算力保障敏感场景和核心任务，外部算力支撑弹性扩展与峰值需求，在安全、性能和成本之间取得平衡。</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70935" y="213621"/>
            <a:ext cx="6223594" cy="267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636" numCol="1" anchor="t" anchorCtr="0" compatLnSpc="1">
            <a:prstTxWarp prst="textNoShape">
              <a:avLst/>
            </a:prstTxWarp>
          </a:bodyPr>
          <a:lstStyle>
            <a:lvl1pPr algn="l" rtl="0" eaLnBrk="1" fontAlgn="base" hangingPunct="1">
              <a:spcBef>
                <a:spcPct val="0"/>
              </a:spcBef>
              <a:spcAft>
                <a:spcPct val="0"/>
              </a:spcAft>
              <a:defRPr sz="900" b="0" i="0" baseline="0">
                <a:solidFill>
                  <a:schemeClr val="bg1"/>
                </a:solidFill>
                <a:latin typeface="Arial"/>
                <a:ea typeface="华文黑体"/>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2pPr>
            <a:lvl3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3pPr>
            <a:lvl4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4pPr>
            <a:lvl5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296" b="1" kern="0" dirty="0">
                <a:solidFill>
                  <a:srgbClr val="FFFFFF"/>
                </a:solidFill>
                <a:latin typeface="+mj-ea"/>
                <a:ea typeface="+mj-ea"/>
              </a:rPr>
              <a:t>在算力提效方面建设缓存友好的路由层</a:t>
            </a:r>
            <a:endParaRPr lang="en-US" altLang="zh-CN" sz="2296" b="1" kern="0" dirty="0">
              <a:latin typeface="+mj-ea"/>
              <a:ea typeface="+mj-ea"/>
            </a:endParaRPr>
          </a:p>
        </p:txBody>
      </p:sp>
      <p:pic>
        <p:nvPicPr>
          <p:cNvPr id="2" name="图片 1">
            <a:extLst>
              <a:ext uri="{FF2B5EF4-FFF2-40B4-BE49-F238E27FC236}">
                <a16:creationId xmlns:a16="http://schemas.microsoft.com/office/drawing/2014/main" id="{ECC72CF2-6D99-A87E-62B2-C2858561D328}"/>
              </a:ext>
            </a:extLst>
          </p:cNvPr>
          <p:cNvPicPr>
            <a:picLocks noChangeAspect="1"/>
          </p:cNvPicPr>
          <p:nvPr/>
        </p:nvPicPr>
        <p:blipFill rotWithShape="1">
          <a:blip r:embed="rId3"/>
          <a:srcRect t="27550"/>
          <a:stretch/>
        </p:blipFill>
        <p:spPr>
          <a:xfrm>
            <a:off x="685800" y="1988819"/>
            <a:ext cx="7772400" cy="2456813"/>
          </a:xfrm>
          <a:prstGeom prst="rect">
            <a:avLst/>
          </a:prstGeom>
        </p:spPr>
      </p:pic>
      <p:sp>
        <p:nvSpPr>
          <p:cNvPr id="4" name="TextBox 18">
            <a:extLst>
              <a:ext uri="{FF2B5EF4-FFF2-40B4-BE49-F238E27FC236}">
                <a16:creationId xmlns:a16="http://schemas.microsoft.com/office/drawing/2014/main" id="{92AB9D78-A4CF-3D59-6052-E4E56360A3B0}"/>
              </a:ext>
            </a:extLst>
          </p:cNvPr>
          <p:cNvSpPr txBox="1"/>
          <p:nvPr/>
        </p:nvSpPr>
        <p:spPr>
          <a:xfrm>
            <a:off x="606371" y="1140656"/>
            <a:ext cx="3886200" cy="696615"/>
          </a:xfrm>
          <a:prstGeom prst="rect">
            <a:avLst/>
          </a:prstGeom>
          <a:solidFill>
            <a:srgbClr val="000000">
              <a:alpha val="0"/>
            </a:srgbClr>
          </a:solidFill>
        </p:spPr>
        <p:txBody>
          <a:bodyPr lIns="0" tIns="0" rIns="0" bIns="0" rtlCol="0" anchor="t"/>
          <a:lstStyle/>
          <a:p>
            <a:pPr marL="171450" indent="-171450" algn="l">
              <a:lnSpc>
                <a:spcPct val="150000"/>
              </a:lnSpc>
              <a:buFont typeface="Arial" panose="020B0604020202020204" pitchFamily="34" charset="0"/>
              <a:buChar char="•"/>
            </a:pPr>
            <a:r>
              <a:rPr lang="zh-CN" altLang="en-US" sz="1200" b="0">
                <a:solidFill>
                  <a:schemeClr val="accent4"/>
                </a:solidFill>
                <a:latin typeface="+mj-ea"/>
                <a:ea typeface="+mj-ea"/>
              </a:rPr>
              <a:t>模型服务前新增</a:t>
            </a:r>
            <a:r>
              <a:rPr lang="zh-CN" altLang="en-US" sz="1200" b="0">
                <a:solidFill>
                  <a:schemeClr val="accent3"/>
                </a:solidFill>
                <a:latin typeface="+mj-ea"/>
                <a:ea typeface="+mj-ea"/>
              </a:rPr>
              <a:t>智能路由层</a:t>
            </a:r>
            <a:r>
              <a:rPr lang="zh-CN" altLang="en-US" sz="1200" b="0">
                <a:solidFill>
                  <a:schemeClr val="accent4"/>
                </a:solidFill>
                <a:latin typeface="+mj-ea"/>
                <a:ea typeface="+mj-ea"/>
              </a:rPr>
              <a:t>，统一调度后端 </a:t>
            </a:r>
            <a:r>
              <a:rPr lang="en" altLang="zh-CN" sz="1200" b="0">
                <a:solidFill>
                  <a:schemeClr val="accent4"/>
                </a:solidFill>
                <a:latin typeface="+mj-ea"/>
                <a:ea typeface="+mj-ea"/>
              </a:rPr>
              <a:t>worker</a:t>
            </a:r>
          </a:p>
          <a:p>
            <a:pPr marL="171450" indent="-171450">
              <a:lnSpc>
                <a:spcPct val="150000"/>
              </a:lnSpc>
              <a:buFont typeface="Arial" panose="020B0604020202020204" pitchFamily="34" charset="0"/>
              <a:buChar char="•"/>
            </a:pPr>
            <a:r>
              <a:rPr lang="zh-CN" altLang="en-US" sz="1200" b="0">
                <a:solidFill>
                  <a:schemeClr val="accent4"/>
                </a:solidFill>
                <a:latin typeface="+mj-ea"/>
                <a:ea typeface="+mj-ea"/>
              </a:rPr>
              <a:t>识别</a:t>
            </a:r>
            <a:r>
              <a:rPr lang="zh-CN" altLang="en-US" sz="1200" b="0">
                <a:solidFill>
                  <a:schemeClr val="accent3"/>
                </a:solidFill>
                <a:latin typeface="+mj-ea"/>
                <a:ea typeface="+mj-ea"/>
              </a:rPr>
              <a:t>相似上下文请求</a:t>
            </a:r>
            <a:r>
              <a:rPr lang="zh-CN" altLang="en-US" sz="1200" b="0">
                <a:solidFill>
                  <a:schemeClr val="accent4"/>
                </a:solidFill>
                <a:latin typeface="+mj-ea"/>
                <a:ea typeface="+mj-ea"/>
              </a:rPr>
              <a:t>，优先发送到</a:t>
            </a:r>
            <a:r>
              <a:rPr lang="zh-CN" altLang="en-US" sz="1200" b="0">
                <a:solidFill>
                  <a:schemeClr val="accent3"/>
                </a:solidFill>
                <a:latin typeface="+mj-ea"/>
                <a:ea typeface="+mj-ea"/>
              </a:rPr>
              <a:t>已有缓存的节点</a:t>
            </a:r>
          </a:p>
        </p:txBody>
      </p:sp>
      <p:sp>
        <p:nvSpPr>
          <p:cNvPr id="5" name="TextBox 18">
            <a:extLst>
              <a:ext uri="{FF2B5EF4-FFF2-40B4-BE49-F238E27FC236}">
                <a16:creationId xmlns:a16="http://schemas.microsoft.com/office/drawing/2014/main" id="{6EC0E0B2-1B89-0D25-8DE4-BFDB02074541}"/>
              </a:ext>
            </a:extLst>
          </p:cNvPr>
          <p:cNvSpPr txBox="1"/>
          <p:nvPr/>
        </p:nvSpPr>
        <p:spPr>
          <a:xfrm>
            <a:off x="4651431" y="1140656"/>
            <a:ext cx="3886200" cy="696615"/>
          </a:xfrm>
          <a:prstGeom prst="rect">
            <a:avLst/>
          </a:prstGeom>
          <a:solidFill>
            <a:srgbClr val="000000">
              <a:alpha val="0"/>
            </a:srgbClr>
          </a:solidFill>
        </p:spPr>
        <p:txBody>
          <a:bodyPr lIns="0" tIns="0" rIns="0" bIns="0" rtlCol="0" anchor="t"/>
          <a:lstStyle/>
          <a:p>
            <a:pPr marL="171450" indent="-171450">
              <a:lnSpc>
                <a:spcPct val="150000"/>
              </a:lnSpc>
              <a:buFont typeface="Arial" panose="020B0604020202020204" pitchFamily="34" charset="0"/>
              <a:buChar char="•"/>
            </a:pPr>
            <a:r>
              <a:rPr lang="zh-CN" altLang="en-US" sz="1200" b="0">
                <a:solidFill>
                  <a:schemeClr val="accent4"/>
                </a:solidFill>
                <a:latin typeface="+mj-ea"/>
                <a:ea typeface="+mj-ea"/>
              </a:rPr>
              <a:t>提升</a:t>
            </a:r>
            <a:r>
              <a:rPr lang="zh-CN" altLang="en-US" sz="1200" b="0">
                <a:solidFill>
                  <a:schemeClr val="accent3"/>
                </a:solidFill>
                <a:latin typeface="+mj-ea"/>
                <a:ea typeface="+mj-ea"/>
              </a:rPr>
              <a:t>缓存命中</a:t>
            </a:r>
            <a:r>
              <a:rPr lang="zh-CN" altLang="en-US" sz="1200" b="0">
                <a:solidFill>
                  <a:schemeClr val="accent4"/>
                </a:solidFill>
                <a:latin typeface="+mj-ea"/>
                <a:ea typeface="+mj-ea"/>
              </a:rPr>
              <a:t>的同时，避免请求集中到</a:t>
            </a:r>
            <a:r>
              <a:rPr lang="zh-CN" altLang="en-US" sz="1200" b="0">
                <a:solidFill>
                  <a:schemeClr val="accent3"/>
                </a:solidFill>
                <a:latin typeface="+mj-ea"/>
                <a:ea typeface="+mj-ea"/>
              </a:rPr>
              <a:t>少数热点节点</a:t>
            </a:r>
          </a:p>
          <a:p>
            <a:pPr marL="171450" indent="-171450">
              <a:lnSpc>
                <a:spcPct val="150000"/>
              </a:lnSpc>
              <a:buFont typeface="Arial" panose="020B0604020202020204" pitchFamily="34" charset="0"/>
              <a:buChar char="•"/>
            </a:pPr>
            <a:r>
              <a:rPr lang="zh-CN" altLang="en-US" sz="1200" b="0">
                <a:solidFill>
                  <a:schemeClr val="accent4"/>
                </a:solidFill>
                <a:latin typeface="+mj-ea"/>
                <a:ea typeface="+mj-ea"/>
              </a:rPr>
              <a:t>补齐</a:t>
            </a:r>
            <a:r>
              <a:rPr lang="zh-CN" altLang="en-US" sz="1200" b="0">
                <a:solidFill>
                  <a:schemeClr val="accent3"/>
                </a:solidFill>
                <a:latin typeface="+mj-ea"/>
                <a:ea typeface="+mj-ea"/>
              </a:rPr>
              <a:t>服务发现、故障隔离、监控能力</a:t>
            </a:r>
            <a:r>
              <a:rPr lang="zh-CN" altLang="en-US" sz="1200" b="0">
                <a:solidFill>
                  <a:schemeClr val="accent4"/>
                </a:solidFill>
                <a:latin typeface="+mj-ea"/>
                <a:ea typeface="+mj-ea"/>
              </a:rPr>
              <a:t>，支撑稳定上线</a:t>
            </a:r>
          </a:p>
        </p:txBody>
      </p:sp>
    </p:spTree>
    <p:extLst>
      <p:ext uri="{BB962C8B-B14F-4D97-AF65-F5344CB8AC3E}">
        <p14:creationId xmlns:p14="http://schemas.microsoft.com/office/powerpoint/2010/main" val="2619150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70935" y="213621"/>
            <a:ext cx="4678745" cy="2675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636" numCol="1" anchor="t" anchorCtr="0" compatLnSpc="1">
            <a:prstTxWarp prst="textNoShape">
              <a:avLst/>
            </a:prstTxWarp>
          </a:bodyPr>
          <a:lstStyle>
            <a:lvl1pPr algn="l" rtl="0" eaLnBrk="1" fontAlgn="base" hangingPunct="1">
              <a:spcBef>
                <a:spcPct val="0"/>
              </a:spcBef>
              <a:spcAft>
                <a:spcPct val="0"/>
              </a:spcAft>
              <a:defRPr sz="900" b="0" i="0" baseline="0">
                <a:solidFill>
                  <a:schemeClr val="bg1"/>
                </a:solidFill>
                <a:latin typeface="Arial"/>
                <a:ea typeface="华文黑体"/>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2pPr>
            <a:lvl3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3pPr>
            <a:lvl4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4pPr>
            <a:lvl5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296" b="1" kern="0" dirty="0">
                <a:solidFill>
                  <a:srgbClr val="FFFFFF"/>
                </a:solidFill>
                <a:latin typeface="+mj-ea"/>
                <a:ea typeface="+mj-ea"/>
              </a:rPr>
              <a:t>实现吞吐与响应同步提升</a:t>
            </a:r>
            <a:endParaRPr lang="en-US" altLang="zh-CN" sz="2296" b="1" kern="0" dirty="0">
              <a:latin typeface="+mj-ea"/>
              <a:ea typeface="+mj-ea"/>
            </a:endParaRPr>
          </a:p>
        </p:txBody>
      </p:sp>
      <p:pic>
        <p:nvPicPr>
          <p:cNvPr id="4" name="图片 3">
            <a:extLst>
              <a:ext uri="{FF2B5EF4-FFF2-40B4-BE49-F238E27FC236}">
                <a16:creationId xmlns:a16="http://schemas.microsoft.com/office/drawing/2014/main" id="{44D666DB-D277-6902-4D71-04694779DCD4}"/>
              </a:ext>
            </a:extLst>
          </p:cNvPr>
          <p:cNvPicPr>
            <a:picLocks noChangeAspect="1"/>
          </p:cNvPicPr>
          <p:nvPr/>
        </p:nvPicPr>
        <p:blipFill rotWithShape="1">
          <a:blip r:embed="rId3"/>
          <a:srcRect t="27163"/>
          <a:stretch/>
        </p:blipFill>
        <p:spPr>
          <a:xfrm>
            <a:off x="370935" y="1692278"/>
            <a:ext cx="8519412" cy="2845607"/>
          </a:xfrm>
          <a:prstGeom prst="rect">
            <a:avLst/>
          </a:prstGeom>
        </p:spPr>
      </p:pic>
      <p:sp>
        <p:nvSpPr>
          <p:cNvPr id="2" name="TextBox 4">
            <a:extLst>
              <a:ext uri="{FF2B5EF4-FFF2-40B4-BE49-F238E27FC236}">
                <a16:creationId xmlns:a16="http://schemas.microsoft.com/office/drawing/2014/main" id="{AEA245DF-C11B-AED5-AB0A-9506B8BB76DE}"/>
              </a:ext>
            </a:extLst>
          </p:cNvPr>
          <p:cNvSpPr txBox="1"/>
          <p:nvPr/>
        </p:nvSpPr>
        <p:spPr>
          <a:xfrm>
            <a:off x="316101" y="1121476"/>
            <a:ext cx="2848600" cy="198516"/>
          </a:xfrm>
          <a:prstGeom prst="rect">
            <a:avLst/>
          </a:prstGeom>
          <a:noFill/>
        </p:spPr>
        <p:txBody>
          <a:bodyPr wrap="none" lIns="18288" tIns="18288" rIns="18288" bIns="18288" anchor="t">
            <a:spAutoFit/>
          </a:bodyPr>
          <a:lstStyle/>
          <a:p>
            <a:pPr marL="171450" indent="-171450" algn="l">
              <a:buFont typeface="Arial" panose="020B0604020202020204" pitchFamily="34" charset="0"/>
              <a:buChar char="•"/>
            </a:pPr>
            <a:r>
              <a:rPr sz="1050" b="0">
                <a:solidFill>
                  <a:schemeClr val="accent1"/>
                </a:solidFill>
                <a:latin typeface="+mj-ea"/>
                <a:ea typeface="+mj-ea"/>
              </a:rPr>
              <a:t>缓存命中率显著提升：</a:t>
            </a:r>
            <a:r>
              <a:rPr sz="1050" b="0">
                <a:solidFill>
                  <a:srgbClr val="26303A"/>
                </a:solidFill>
                <a:latin typeface="+mj-ea"/>
                <a:ea typeface="+mj-ea"/>
              </a:rPr>
              <a:t>改造后 </a:t>
            </a:r>
            <a:r>
              <a:rPr sz="1050" b="0">
                <a:solidFill>
                  <a:schemeClr val="accent3"/>
                </a:solidFill>
                <a:latin typeface="+mj-ea"/>
                <a:ea typeface="+mj-ea"/>
              </a:rPr>
              <a:t>较高水平</a:t>
            </a:r>
          </a:p>
        </p:txBody>
      </p:sp>
      <p:sp>
        <p:nvSpPr>
          <p:cNvPr id="5" name="TextBox 6">
            <a:extLst>
              <a:ext uri="{FF2B5EF4-FFF2-40B4-BE49-F238E27FC236}">
                <a16:creationId xmlns:a16="http://schemas.microsoft.com/office/drawing/2014/main" id="{36D04DBC-2CC0-0B0E-4AA7-35DD3344891D}"/>
              </a:ext>
            </a:extLst>
          </p:cNvPr>
          <p:cNvSpPr txBox="1"/>
          <p:nvPr/>
        </p:nvSpPr>
        <p:spPr>
          <a:xfrm>
            <a:off x="316101" y="1400555"/>
            <a:ext cx="4038029" cy="198516"/>
          </a:xfrm>
          <a:prstGeom prst="rect">
            <a:avLst/>
          </a:prstGeom>
          <a:noFill/>
        </p:spPr>
        <p:txBody>
          <a:bodyPr wrap="none" lIns="18288" tIns="18288" rIns="18288" bIns="18288" anchor="t">
            <a:spAutoFit/>
          </a:bodyPr>
          <a:lstStyle/>
          <a:p>
            <a:pPr marL="171450" indent="-171450" algn="l">
              <a:buFont typeface="Arial" panose="020B0604020202020204" pitchFamily="34" charset="0"/>
              <a:buChar char="•"/>
            </a:pPr>
            <a:r>
              <a:rPr sz="1050" b="0">
                <a:solidFill>
                  <a:schemeClr val="accent1"/>
                </a:solidFill>
                <a:latin typeface="+mj-ea"/>
                <a:ea typeface="+mj-ea"/>
              </a:rPr>
              <a:t>首包时延明显下降：</a:t>
            </a:r>
            <a:r>
              <a:rPr sz="1050" b="0">
                <a:solidFill>
                  <a:srgbClr val="26303A"/>
                </a:solidFill>
                <a:latin typeface="+mj-ea"/>
                <a:ea typeface="+mj-ea"/>
              </a:rPr>
              <a:t>GLM5.1 首字符延迟中位数 </a:t>
            </a:r>
            <a:r>
              <a:rPr sz="1050" b="0">
                <a:solidFill>
                  <a:schemeClr val="accent3"/>
                </a:solidFill>
                <a:latin typeface="+mj-ea"/>
                <a:ea typeface="+mj-ea"/>
              </a:rPr>
              <a:t>秒级 → 毫秒级</a:t>
            </a:r>
          </a:p>
        </p:txBody>
      </p:sp>
      <p:sp>
        <p:nvSpPr>
          <p:cNvPr id="6" name="TextBox 8">
            <a:extLst>
              <a:ext uri="{FF2B5EF4-FFF2-40B4-BE49-F238E27FC236}">
                <a16:creationId xmlns:a16="http://schemas.microsoft.com/office/drawing/2014/main" id="{28A5DAC1-3DDD-A504-6092-463E9C62CF2D}"/>
              </a:ext>
            </a:extLst>
          </p:cNvPr>
          <p:cNvSpPr txBox="1"/>
          <p:nvPr/>
        </p:nvSpPr>
        <p:spPr>
          <a:xfrm>
            <a:off x="3402214" y="1108832"/>
            <a:ext cx="5325240" cy="198516"/>
          </a:xfrm>
          <a:prstGeom prst="rect">
            <a:avLst/>
          </a:prstGeom>
          <a:noFill/>
        </p:spPr>
        <p:txBody>
          <a:bodyPr wrap="none" lIns="18288" tIns="18288" rIns="18288" bIns="18288" anchor="t">
            <a:spAutoFit/>
          </a:bodyPr>
          <a:lstStyle/>
          <a:p>
            <a:pPr marL="171450" indent="-171450" algn="l">
              <a:buFont typeface="Arial" panose="020B0604020202020204" pitchFamily="34" charset="0"/>
              <a:buChar char="•"/>
            </a:pPr>
            <a:r>
              <a:rPr sz="1050" b="0">
                <a:solidFill>
                  <a:schemeClr val="accent1"/>
                </a:solidFill>
                <a:latin typeface="+mj-ea"/>
                <a:ea typeface="+mj-ea"/>
              </a:rPr>
              <a:t>长尾卡顿基本消除：</a:t>
            </a:r>
            <a:r>
              <a:rPr lang="zh-CN" altLang="en-US" sz="1050" b="0">
                <a:solidFill>
                  <a:schemeClr val="accent4"/>
                </a:solidFill>
                <a:latin typeface="+mj-ea"/>
                <a:ea typeface="+mj-ea"/>
              </a:rPr>
              <a:t>字符延迟缩短 </a:t>
            </a:r>
            <a:r>
              <a:rPr lang="en-US" altLang="zh-CN" sz="1050" b="0">
                <a:solidFill>
                  <a:schemeClr val="accent3"/>
                </a:solidFill>
                <a:latin typeface="+mj-ea"/>
                <a:ea typeface="+mj-ea"/>
              </a:rPr>
              <a:t>显著缩短</a:t>
            </a:r>
            <a:r>
              <a:rPr lang="zh-CN" altLang="en-US" sz="1050" b="0">
                <a:solidFill>
                  <a:schemeClr val="accent4"/>
                </a:solidFill>
                <a:latin typeface="+mj-ea"/>
                <a:ea typeface="+mj-ea"/>
              </a:rPr>
              <a:t>，</a:t>
            </a:r>
            <a:r>
              <a:rPr sz="1050" b="0">
                <a:solidFill>
                  <a:srgbClr val="26303A"/>
                </a:solidFill>
                <a:latin typeface="+mj-ea"/>
                <a:ea typeface="+mj-ea"/>
              </a:rPr>
              <a:t>MiniMax-m2.5 长尾延迟 </a:t>
            </a:r>
            <a:r>
              <a:rPr sz="1050" b="0">
                <a:solidFill>
                  <a:schemeClr val="accent3"/>
                </a:solidFill>
                <a:latin typeface="+mj-ea"/>
                <a:ea typeface="+mj-ea"/>
              </a:rPr>
              <a:t>长尾明显收敛</a:t>
            </a:r>
          </a:p>
        </p:txBody>
      </p:sp>
      <p:sp>
        <p:nvSpPr>
          <p:cNvPr id="7" name="TextBox 10">
            <a:extLst>
              <a:ext uri="{FF2B5EF4-FFF2-40B4-BE49-F238E27FC236}">
                <a16:creationId xmlns:a16="http://schemas.microsoft.com/office/drawing/2014/main" id="{221C0ABA-3AD2-1852-1258-0AA23161F935}"/>
              </a:ext>
            </a:extLst>
          </p:cNvPr>
          <p:cNvSpPr txBox="1"/>
          <p:nvPr/>
        </p:nvSpPr>
        <p:spPr>
          <a:xfrm>
            <a:off x="4484241" y="1400555"/>
            <a:ext cx="4243213" cy="198516"/>
          </a:xfrm>
          <a:prstGeom prst="rect">
            <a:avLst/>
          </a:prstGeom>
          <a:noFill/>
        </p:spPr>
        <p:txBody>
          <a:bodyPr wrap="none" lIns="18288" tIns="18288" rIns="18288" bIns="18288" anchor="t">
            <a:spAutoFit/>
          </a:bodyPr>
          <a:lstStyle/>
          <a:p>
            <a:pPr marL="171450" indent="-171450" algn="l">
              <a:buFont typeface="Arial" panose="020B0604020202020204" pitchFamily="34" charset="0"/>
              <a:buChar char="•"/>
            </a:pPr>
            <a:r>
              <a:rPr sz="1050" b="0">
                <a:solidFill>
                  <a:schemeClr val="accent1"/>
                </a:solidFill>
                <a:latin typeface="+mj-ea"/>
                <a:ea typeface="+mj-ea"/>
              </a:rPr>
              <a:t>端到端体验同步改善：</a:t>
            </a:r>
            <a:r>
              <a:rPr sz="1050" b="0">
                <a:solidFill>
                  <a:srgbClr val="26303A"/>
                </a:solidFill>
                <a:latin typeface="+mj-ea"/>
                <a:ea typeface="+mj-ea"/>
              </a:rPr>
              <a:t>平均下降 </a:t>
            </a:r>
            <a:r>
              <a:rPr sz="1050" b="0">
                <a:solidFill>
                  <a:schemeClr val="accent3"/>
                </a:solidFill>
                <a:latin typeface="+mj-ea"/>
                <a:ea typeface="+mj-ea"/>
              </a:rPr>
              <a:t>明显下降</a:t>
            </a:r>
            <a:r>
              <a:rPr sz="1050" b="0">
                <a:solidFill>
                  <a:srgbClr val="26303A"/>
                </a:solidFill>
                <a:latin typeface="+mj-ea"/>
                <a:ea typeface="+mj-ea"/>
              </a:rPr>
              <a:t>，上下文场景收益更明显</a:t>
            </a:r>
          </a:p>
        </p:txBody>
      </p:sp>
    </p:spTree>
    <p:extLst>
      <p:ext uri="{BB962C8B-B14F-4D97-AF65-F5344CB8AC3E}">
        <p14:creationId xmlns:p14="http://schemas.microsoft.com/office/powerpoint/2010/main" val="482736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数据层：汇聚全量数据，转化语义化 </a:t>
            </a:r>
            <a:r>
              <a:rPr lang="en-GB" altLang="zh-CN" dirty="0"/>
              <a:t>AI </a:t>
            </a:r>
            <a:r>
              <a:rPr lang="zh-CN" altLang="en-US" dirty="0"/>
              <a:t>资产</a:t>
            </a:r>
          </a:p>
        </p:txBody>
      </p:sp>
      <p:sp>
        <p:nvSpPr>
          <p:cNvPr id="11" name="AutoShape 5"/>
          <p:cNvSpPr/>
          <p:nvPr/>
        </p:nvSpPr>
        <p:spPr>
          <a:xfrm>
            <a:off x="2176351" y="1253067"/>
            <a:ext cx="207120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3" name="AutoShape 7"/>
          <p:cNvSpPr/>
          <p:nvPr/>
        </p:nvSpPr>
        <p:spPr>
          <a:xfrm>
            <a:off x="4428988" y="1253067"/>
            <a:ext cx="207120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AutoShape 9"/>
          <p:cNvSpPr/>
          <p:nvPr/>
        </p:nvSpPr>
        <p:spPr>
          <a:xfrm>
            <a:off x="6688277" y="1253067"/>
            <a:ext cx="207120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2432721" y="1531426"/>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跨部门资源整合</a:t>
            </a:r>
          </a:p>
        </p:txBody>
      </p:sp>
      <p:sp>
        <p:nvSpPr>
          <p:cNvPr id="20" name="TextBox 15"/>
          <p:cNvSpPr txBox="1"/>
          <p:nvPr/>
        </p:nvSpPr>
        <p:spPr>
          <a:xfrm>
            <a:off x="4657988" y="1531426"/>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语义化转换引擎</a:t>
            </a:r>
          </a:p>
        </p:txBody>
      </p:sp>
      <p:sp>
        <p:nvSpPr>
          <p:cNvPr id="21" name="TextBox 16"/>
          <p:cNvSpPr txBox="1"/>
          <p:nvPr/>
        </p:nvSpPr>
        <p:spPr>
          <a:xfrm>
            <a:off x="6917278" y="1531426"/>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实时内存机制</a:t>
            </a:r>
          </a:p>
        </p:txBody>
      </p:sp>
      <p:sp>
        <p:nvSpPr>
          <p:cNvPr id="23" name="TextBox 18"/>
          <p:cNvSpPr txBox="1"/>
          <p:nvPr/>
        </p:nvSpPr>
        <p:spPr>
          <a:xfrm>
            <a:off x="2405353" y="1929871"/>
            <a:ext cx="1608154" cy="2379662"/>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实现投资、研究、风控、运营等全业务线的数据统一汇聚，建立企业级数据资产池，提供统一的数据准入与治理机制，支持上层应用快速调用与分析。</a:t>
            </a:r>
          </a:p>
        </p:txBody>
      </p:sp>
      <p:sp>
        <p:nvSpPr>
          <p:cNvPr id="24" name="TextBox 19"/>
          <p:cNvSpPr txBox="1"/>
          <p:nvPr/>
        </p:nvSpPr>
        <p:spPr>
          <a:xfrm>
            <a:off x="4657988" y="1932706"/>
            <a:ext cx="1608155" cy="10456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将结构化数字信息与非结构化文本统一转化为向量化语义表示，构建</a:t>
            </a:r>
            <a:r>
              <a:rPr lang="en-GB" altLang="zh-CN" sz="1200">
                <a:solidFill>
                  <a:schemeClr val="accent4"/>
                </a:solidFill>
                <a:latin typeface="+mj-ea"/>
                <a:ea typeface="+mj-ea"/>
              </a:rPr>
              <a:t>AI</a:t>
            </a:r>
            <a:r>
              <a:rPr lang="zh-CN" altLang="en-US" sz="1200">
                <a:solidFill>
                  <a:schemeClr val="accent4"/>
                </a:solidFill>
                <a:latin typeface="+mj-ea"/>
                <a:ea typeface="+mj-ea"/>
              </a:rPr>
              <a:t>可理解的知识表达体系，支持语义检索、相似度计算与智能问答等能力。</a:t>
            </a:r>
          </a:p>
        </p:txBody>
      </p:sp>
      <p:sp>
        <p:nvSpPr>
          <p:cNvPr id="25" name="TextBox 20"/>
          <p:cNvSpPr txBox="1"/>
          <p:nvPr/>
        </p:nvSpPr>
        <p:spPr>
          <a:xfrm>
            <a:off x="6917278" y="1929871"/>
            <a:ext cx="1608154" cy="971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构建动态更新的语义内存系统，使</a:t>
            </a:r>
            <a:r>
              <a:rPr lang="en-GB" altLang="zh-CN" sz="1200">
                <a:solidFill>
                  <a:schemeClr val="accent4"/>
                </a:solidFill>
                <a:latin typeface="+mj-ea"/>
                <a:ea typeface="+mj-ea"/>
              </a:rPr>
              <a:t>AI</a:t>
            </a:r>
            <a:r>
              <a:rPr lang="zh-CN" altLang="en-US" sz="1200">
                <a:solidFill>
                  <a:schemeClr val="accent4"/>
                </a:solidFill>
                <a:latin typeface="+mj-ea"/>
                <a:ea typeface="+mj-ea"/>
              </a:rPr>
              <a:t>能够实时调用最新的组织知识与业务数据，保证决策依据时效性并支持在线学习与快速迭代。</a:t>
            </a:r>
          </a:p>
        </p:txBody>
      </p:sp>
      <p:sp>
        <p:nvSpPr>
          <p:cNvPr id="3" name="矩形 2"/>
          <p:cNvSpPr/>
          <p:nvPr/>
        </p:nvSpPr>
        <p:spPr bwMode="auto">
          <a:xfrm>
            <a:off x="2176351" y="1253067"/>
            <a:ext cx="2071201" cy="76200"/>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4" name="矩形 3"/>
          <p:cNvSpPr/>
          <p:nvPr/>
        </p:nvSpPr>
        <p:spPr bwMode="auto">
          <a:xfrm>
            <a:off x="4437331" y="1253067"/>
            <a:ext cx="2071201" cy="76200"/>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5" name="矩形 4"/>
          <p:cNvSpPr/>
          <p:nvPr/>
        </p:nvSpPr>
        <p:spPr bwMode="auto">
          <a:xfrm>
            <a:off x="6688030" y="1253067"/>
            <a:ext cx="2071201" cy="76200"/>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6" name="矩形 5"/>
          <p:cNvSpPr/>
          <p:nvPr/>
        </p:nvSpPr>
        <p:spPr bwMode="auto">
          <a:xfrm>
            <a:off x="283571" y="1258643"/>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7" name="矩形 6"/>
          <p:cNvSpPr/>
          <p:nvPr/>
        </p:nvSpPr>
        <p:spPr bwMode="auto">
          <a:xfrm>
            <a:off x="283571" y="18894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8" name="矩形 7"/>
          <p:cNvSpPr/>
          <p:nvPr/>
        </p:nvSpPr>
        <p:spPr bwMode="auto">
          <a:xfrm>
            <a:off x="283571" y="252538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9" name="矩形 8"/>
          <p:cNvSpPr/>
          <p:nvPr/>
        </p:nvSpPr>
        <p:spPr bwMode="auto">
          <a:xfrm>
            <a:off x="283571" y="3165048"/>
            <a:ext cx="1729675" cy="522854"/>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0" name="矩形 9"/>
          <p:cNvSpPr/>
          <p:nvPr/>
        </p:nvSpPr>
        <p:spPr bwMode="auto">
          <a:xfrm>
            <a:off x="283571" y="3786679"/>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2" name="TextBox 22"/>
          <p:cNvSpPr txBox="1"/>
          <p:nvPr/>
        </p:nvSpPr>
        <p:spPr>
          <a:xfrm>
            <a:off x="632879" y="3944472"/>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算力层</a:t>
            </a:r>
            <a:endParaRPr lang="en-US" sz="600">
              <a:solidFill>
                <a:schemeClr val="bg1"/>
              </a:solidFill>
              <a:latin typeface="+mj-ea"/>
              <a:ea typeface="+mj-ea"/>
            </a:endParaRPr>
          </a:p>
        </p:txBody>
      </p:sp>
      <p:sp>
        <p:nvSpPr>
          <p:cNvPr id="14" name="TextBox 22"/>
          <p:cNvSpPr txBox="1"/>
          <p:nvPr/>
        </p:nvSpPr>
        <p:spPr>
          <a:xfrm>
            <a:off x="634402" y="2043401"/>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架构层</a:t>
            </a:r>
            <a:endParaRPr lang="en-US" sz="600">
              <a:solidFill>
                <a:schemeClr val="bg1"/>
              </a:solidFill>
              <a:latin typeface="+mj-ea"/>
              <a:ea typeface="+mj-ea"/>
            </a:endParaRPr>
          </a:p>
        </p:txBody>
      </p:sp>
      <p:sp>
        <p:nvSpPr>
          <p:cNvPr id="16" name="TextBox 22"/>
          <p:cNvSpPr txBox="1"/>
          <p:nvPr/>
        </p:nvSpPr>
        <p:spPr>
          <a:xfrm>
            <a:off x="634402" y="2680165"/>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模型层</a:t>
            </a:r>
            <a:endParaRPr lang="en-US" sz="600">
              <a:solidFill>
                <a:schemeClr val="bg1"/>
              </a:solidFill>
              <a:latin typeface="+mj-ea"/>
              <a:ea typeface="+mj-ea"/>
            </a:endParaRPr>
          </a:p>
        </p:txBody>
      </p:sp>
      <p:sp>
        <p:nvSpPr>
          <p:cNvPr id="17" name="TextBox 22"/>
          <p:cNvSpPr txBox="1"/>
          <p:nvPr/>
        </p:nvSpPr>
        <p:spPr>
          <a:xfrm>
            <a:off x="634402" y="1412447"/>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技能层</a:t>
            </a:r>
            <a:endParaRPr lang="en-US" sz="600">
              <a:solidFill>
                <a:schemeClr val="bg1"/>
              </a:solidFill>
              <a:latin typeface="+mj-ea"/>
              <a:ea typeface="+mj-ea"/>
            </a:endParaRPr>
          </a:p>
        </p:txBody>
      </p:sp>
      <p:sp>
        <p:nvSpPr>
          <p:cNvPr id="18" name="TextBox 22"/>
          <p:cNvSpPr txBox="1"/>
          <p:nvPr/>
        </p:nvSpPr>
        <p:spPr>
          <a:xfrm>
            <a:off x="632878" y="3319001"/>
            <a:ext cx="1031063" cy="214947"/>
          </a:xfrm>
          <a:prstGeom prst="rect">
            <a:avLst/>
          </a:prstGeom>
          <a:solidFill>
            <a:schemeClr val="accent1">
              <a:lumMod val="60000"/>
              <a:lumOff val="40000"/>
              <a:alpha val="0"/>
            </a:schemeClr>
          </a:solidFill>
        </p:spPr>
        <p:txBody>
          <a:bodyPr lIns="0" tIns="0" rIns="0" bIns="0" rtlCol="0" anchor="t"/>
          <a:lstStyle>
            <a:defPPr>
              <a:defRPr lang="en-US"/>
            </a:defPPr>
            <a:lvl1pPr indent="0" algn="ctr">
              <a:lnSpc>
                <a:spcPct val="120000"/>
              </a:lnSpc>
              <a:defRPr sz="1100">
                <a:solidFill>
                  <a:schemeClr val="bg1"/>
                </a:solidFill>
                <a:latin typeface="+mj-ea"/>
                <a:ea typeface="+mj-ea"/>
              </a:defRPr>
            </a:lvl1pPr>
          </a:lstStyle>
          <a:p>
            <a:r>
              <a:rPr lang="en-US">
                <a:solidFill>
                  <a:schemeClr val="bg2"/>
                </a:solidFill>
              </a:rPr>
              <a:t>数据层</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497"/>
            <a:ext cx="6719574" cy="267876"/>
          </a:xfrm>
        </p:spPr>
        <p:txBody>
          <a:bodyPr/>
          <a:lstStyle/>
          <a:p>
            <a:r>
              <a:rPr lang="zh-CN" altLang="en-US" dirty="0"/>
              <a:t>以数据治理为例：</a:t>
            </a:r>
            <a:r>
              <a:rPr lang="en-US" altLang="zh-CN" dirty="0"/>
              <a:t>AI</a:t>
            </a:r>
            <a:r>
              <a:rPr lang="zh-CN" altLang="en-US" dirty="0"/>
              <a:t>数据移民，把数据变成</a:t>
            </a:r>
            <a:r>
              <a:rPr lang="en" altLang="zh-CN" dirty="0"/>
              <a:t>AI</a:t>
            </a:r>
            <a:r>
              <a:rPr lang="zh-CN" altLang="en-US" dirty="0"/>
              <a:t>可用</a:t>
            </a:r>
          </a:p>
        </p:txBody>
      </p:sp>
      <p:sp>
        <p:nvSpPr>
          <p:cNvPr id="22" name="文本框 21">
            <a:extLst>
              <a:ext uri="{FF2B5EF4-FFF2-40B4-BE49-F238E27FC236}">
                <a16:creationId xmlns:a16="http://schemas.microsoft.com/office/drawing/2014/main" id="{DD9B04BF-CFB2-0EA3-0105-DBE1C9823AF6}"/>
              </a:ext>
            </a:extLst>
          </p:cNvPr>
          <p:cNvSpPr txBox="1"/>
          <p:nvPr/>
        </p:nvSpPr>
        <p:spPr>
          <a:xfrm>
            <a:off x="331706" y="943144"/>
            <a:ext cx="8522579" cy="397673"/>
          </a:xfrm>
          <a:prstGeom prst="rect">
            <a:avLst/>
          </a:prstGeom>
          <a:noFill/>
        </p:spPr>
        <p:txBody>
          <a:bodyPr wrap="square" rtlCol="0">
            <a:spAutoFit/>
          </a:bodyPr>
          <a:lstStyle/>
          <a:p>
            <a:pPr defTabSz="685183" fontAlgn="auto">
              <a:lnSpc>
                <a:spcPct val="150000"/>
              </a:lnSpc>
              <a:spcBef>
                <a:spcPts val="0"/>
              </a:spcBef>
              <a:spcAft>
                <a:spcPts val="0"/>
              </a:spcAft>
              <a:defRPr/>
            </a:pPr>
            <a:r>
              <a:rPr lang="en" altLang="zh-CN" sz="1499" dirty="0">
                <a:solidFill>
                  <a:schemeClr val="accent1"/>
                </a:solidFill>
                <a:latin typeface="+mj-ea"/>
                <a:ea typeface="+mj-ea"/>
              </a:rPr>
              <a:t>AI</a:t>
            </a:r>
            <a:r>
              <a:rPr lang="zh-CN" altLang="en-US" sz="1499" dirty="0">
                <a:solidFill>
                  <a:schemeClr val="accent1"/>
                </a:solidFill>
                <a:latin typeface="+mj-ea"/>
                <a:ea typeface="+mj-ea"/>
              </a:rPr>
              <a:t>数据治理的目标，不是把更多数据搬进平台，而是让数据具备业务语义、权限边界和可调用接口</a:t>
            </a:r>
            <a:endParaRPr lang="en-US" altLang="zh-CN" sz="1499" dirty="0">
              <a:solidFill>
                <a:schemeClr val="accent1"/>
              </a:solidFill>
              <a:latin typeface="+mj-ea"/>
              <a:ea typeface="+mj-ea"/>
            </a:endParaRPr>
          </a:p>
        </p:txBody>
      </p:sp>
      <p:sp>
        <p:nvSpPr>
          <p:cNvPr id="26" name="文本框 25">
            <a:extLst>
              <a:ext uri="{FF2B5EF4-FFF2-40B4-BE49-F238E27FC236}">
                <a16:creationId xmlns:a16="http://schemas.microsoft.com/office/drawing/2014/main" id="{7684408A-6748-CEC4-27DE-1E1167E52A98}"/>
              </a:ext>
            </a:extLst>
          </p:cNvPr>
          <p:cNvSpPr txBox="1"/>
          <p:nvPr/>
        </p:nvSpPr>
        <p:spPr>
          <a:xfrm>
            <a:off x="350648" y="1396071"/>
            <a:ext cx="8503637" cy="570284"/>
          </a:xfrm>
          <a:prstGeom prst="rect">
            <a:avLst/>
          </a:prstGeom>
          <a:noFill/>
        </p:spPr>
        <p:txBody>
          <a:bodyPr wrap="square" rtlCol="0">
            <a:spAutoFit/>
          </a:bodyPr>
          <a:lstStyle/>
          <a:p>
            <a:pPr>
              <a:lnSpc>
                <a:spcPct val="150000"/>
              </a:lnSpc>
            </a:pPr>
            <a:r>
              <a:rPr lang="zh-CN" altLang="en-US" sz="1100">
                <a:solidFill>
                  <a:schemeClr val="accent4"/>
                </a:solidFill>
                <a:latin typeface="+mj-ea"/>
                <a:ea typeface="+mj-ea"/>
              </a:rPr>
              <a:t>在</a:t>
            </a:r>
            <a:r>
              <a:rPr lang="en" altLang="zh-CN" sz="1100">
                <a:solidFill>
                  <a:schemeClr val="accent4"/>
                </a:solidFill>
                <a:latin typeface="+mj-ea"/>
                <a:ea typeface="+mj-ea"/>
              </a:rPr>
              <a:t>EWork</a:t>
            </a:r>
            <a:r>
              <a:rPr lang="zh-CN" altLang="en-US" sz="1100">
                <a:solidFill>
                  <a:schemeClr val="accent4"/>
                </a:solidFill>
                <a:latin typeface="+mj-ea"/>
                <a:ea typeface="+mj-ea"/>
              </a:rPr>
              <a:t>的数据层，我们将公司数据资产分为三类：全公司数据集、</a:t>
            </a:r>
            <a:r>
              <a:rPr lang="en" altLang="zh-CN" sz="1100">
                <a:solidFill>
                  <a:schemeClr val="accent4"/>
                </a:solidFill>
                <a:latin typeface="+mj-ea"/>
                <a:ea typeface="+mj-ea"/>
              </a:rPr>
              <a:t>AI</a:t>
            </a:r>
            <a:r>
              <a:rPr lang="zh-CN" altLang="en-US" sz="1100">
                <a:solidFill>
                  <a:schemeClr val="accent4"/>
                </a:solidFill>
                <a:latin typeface="+mj-ea"/>
                <a:ea typeface="+mj-ea"/>
              </a:rPr>
              <a:t>潜在可用数据集、</a:t>
            </a:r>
            <a:r>
              <a:rPr lang="en" altLang="zh-CN" sz="1100">
                <a:solidFill>
                  <a:schemeClr val="accent4"/>
                </a:solidFill>
                <a:latin typeface="+mj-ea"/>
                <a:ea typeface="+mj-ea"/>
              </a:rPr>
              <a:t>AI</a:t>
            </a:r>
            <a:r>
              <a:rPr lang="zh-CN" altLang="en-US" sz="1100">
                <a:solidFill>
                  <a:schemeClr val="accent4"/>
                </a:solidFill>
                <a:latin typeface="+mj-ea"/>
                <a:ea typeface="+mj-ea"/>
              </a:rPr>
              <a:t>就绪数据集。治理过程就是把</a:t>
            </a:r>
            <a:r>
              <a:rPr lang="en" altLang="zh-CN" sz="1100">
                <a:solidFill>
                  <a:schemeClr val="accent4"/>
                </a:solidFill>
                <a:latin typeface="+mj-ea"/>
                <a:ea typeface="+mj-ea"/>
              </a:rPr>
              <a:t>AI</a:t>
            </a:r>
            <a:r>
              <a:rPr lang="zh-CN" altLang="en-US" sz="1100">
                <a:solidFill>
                  <a:schemeClr val="accent4"/>
                </a:solidFill>
                <a:latin typeface="+mj-ea"/>
                <a:ea typeface="+mj-ea"/>
              </a:rPr>
              <a:t>潜在可用数据，通过通用治理和定制化治理，逐步升级为可以直接支撑</a:t>
            </a:r>
            <a:r>
              <a:rPr lang="en" altLang="zh-CN" sz="1100">
                <a:solidFill>
                  <a:schemeClr val="accent4"/>
                </a:solidFill>
                <a:latin typeface="+mj-ea"/>
                <a:ea typeface="+mj-ea"/>
              </a:rPr>
              <a:t>AI</a:t>
            </a:r>
            <a:r>
              <a:rPr lang="zh-CN" altLang="en-US" sz="1100">
                <a:solidFill>
                  <a:schemeClr val="accent4"/>
                </a:solidFill>
                <a:latin typeface="+mj-ea"/>
                <a:ea typeface="+mj-ea"/>
              </a:rPr>
              <a:t>应用的数据资产。</a:t>
            </a:r>
          </a:p>
        </p:txBody>
      </p:sp>
      <p:sp>
        <p:nvSpPr>
          <p:cNvPr id="28" name="文本框 27">
            <a:extLst>
              <a:ext uri="{FF2B5EF4-FFF2-40B4-BE49-F238E27FC236}">
                <a16:creationId xmlns:a16="http://schemas.microsoft.com/office/drawing/2014/main" id="{BE30EA11-9F22-C97C-FC55-1396FF5778B3}"/>
              </a:ext>
            </a:extLst>
          </p:cNvPr>
          <p:cNvSpPr txBox="1"/>
          <p:nvPr/>
        </p:nvSpPr>
        <p:spPr>
          <a:xfrm>
            <a:off x="350648" y="3853147"/>
            <a:ext cx="8503637" cy="700576"/>
          </a:xfrm>
          <a:prstGeom prst="rect">
            <a:avLst/>
          </a:prstGeom>
          <a:noFill/>
        </p:spPr>
        <p:txBody>
          <a:bodyPr wrap="square" rtlCol="0">
            <a:spAutoFit/>
          </a:bodyPr>
          <a:lstStyle/>
          <a:p>
            <a:pPr>
              <a:lnSpc>
                <a:spcPct val="150000"/>
              </a:lnSpc>
            </a:pPr>
            <a:r>
              <a:rPr lang="en" altLang="zh-CN" sz="1400" b="1">
                <a:solidFill>
                  <a:schemeClr val="accent1"/>
                </a:solidFill>
                <a:latin typeface="+mj-ea"/>
                <a:ea typeface="+mj-ea"/>
              </a:rPr>
              <a:t>AI</a:t>
            </a:r>
            <a:r>
              <a:rPr lang="zh-CN" altLang="en-US" sz="1400" b="1">
                <a:solidFill>
                  <a:schemeClr val="accent1"/>
                </a:solidFill>
                <a:latin typeface="+mj-ea"/>
                <a:ea typeface="+mj-ea"/>
              </a:rPr>
              <a:t>数据治理不是后台工程，而是企业级</a:t>
            </a:r>
            <a:r>
              <a:rPr lang="en" altLang="zh-CN" sz="1400" b="1">
                <a:solidFill>
                  <a:schemeClr val="accent1"/>
                </a:solidFill>
                <a:latin typeface="+mj-ea"/>
                <a:ea typeface="+mj-ea"/>
              </a:rPr>
              <a:t>AI</a:t>
            </a:r>
            <a:r>
              <a:rPr lang="zh-CN" altLang="en-US" sz="1400" b="1">
                <a:solidFill>
                  <a:schemeClr val="accent1"/>
                </a:solidFill>
                <a:latin typeface="+mj-ea"/>
                <a:ea typeface="+mj-ea"/>
              </a:rPr>
              <a:t>操作系统的数据入口工程。</a:t>
            </a:r>
            <a:endParaRPr lang="en-US" altLang="zh-CN" sz="1400" b="1">
              <a:solidFill>
                <a:schemeClr val="accent1"/>
              </a:solidFill>
              <a:latin typeface="+mj-ea"/>
              <a:ea typeface="+mj-ea"/>
            </a:endParaRPr>
          </a:p>
          <a:p>
            <a:pPr>
              <a:lnSpc>
                <a:spcPct val="150000"/>
              </a:lnSpc>
            </a:pPr>
            <a:r>
              <a:rPr lang="zh-CN" altLang="en-US" sz="1400" b="1">
                <a:solidFill>
                  <a:schemeClr val="accent1"/>
                </a:solidFill>
                <a:latin typeface="+mj-ea"/>
                <a:ea typeface="+mj-ea"/>
              </a:rPr>
              <a:t>数据能否被</a:t>
            </a:r>
            <a:r>
              <a:rPr lang="en" altLang="zh-CN" sz="1400" b="1">
                <a:solidFill>
                  <a:schemeClr val="accent1"/>
                </a:solidFill>
                <a:latin typeface="+mj-ea"/>
                <a:ea typeface="+mj-ea"/>
              </a:rPr>
              <a:t>AI</a:t>
            </a:r>
            <a:r>
              <a:rPr lang="zh-CN" altLang="en-US" sz="1400" b="1">
                <a:solidFill>
                  <a:schemeClr val="accent1"/>
                </a:solidFill>
                <a:latin typeface="+mj-ea"/>
                <a:ea typeface="+mj-ea"/>
              </a:rPr>
              <a:t>稳定理解和调用，决定了</a:t>
            </a:r>
            <a:r>
              <a:rPr lang="en" altLang="zh-CN" sz="1400" b="1">
                <a:solidFill>
                  <a:schemeClr val="accent1"/>
                </a:solidFill>
                <a:latin typeface="+mj-ea"/>
                <a:ea typeface="+mj-ea"/>
              </a:rPr>
              <a:t>Agent</a:t>
            </a:r>
            <a:r>
              <a:rPr lang="zh-CN" altLang="en-US" sz="1400" b="1">
                <a:solidFill>
                  <a:schemeClr val="accent1"/>
                </a:solidFill>
                <a:latin typeface="+mj-ea"/>
                <a:ea typeface="+mj-ea"/>
              </a:rPr>
              <a:t>能走多深、走多远</a:t>
            </a:r>
          </a:p>
        </p:txBody>
      </p:sp>
      <p:grpSp>
        <p:nvGrpSpPr>
          <p:cNvPr id="11" name="组合 10">
            <a:extLst>
              <a:ext uri="{FF2B5EF4-FFF2-40B4-BE49-F238E27FC236}">
                <a16:creationId xmlns:a16="http://schemas.microsoft.com/office/drawing/2014/main" id="{B64BDC27-B7EA-A857-D119-0AAFBC782749}"/>
              </a:ext>
            </a:extLst>
          </p:cNvPr>
          <p:cNvGrpSpPr/>
          <p:nvPr/>
        </p:nvGrpSpPr>
        <p:grpSpPr>
          <a:xfrm>
            <a:off x="411480" y="2021609"/>
            <a:ext cx="8078724" cy="886968"/>
            <a:chOff x="541020" y="2173274"/>
            <a:chExt cx="8078724" cy="886968"/>
          </a:xfrm>
        </p:grpSpPr>
        <p:sp>
          <p:nvSpPr>
            <p:cNvPr id="3" name="TextBox 4">
              <a:extLst>
                <a:ext uri="{FF2B5EF4-FFF2-40B4-BE49-F238E27FC236}">
                  <a16:creationId xmlns:a16="http://schemas.microsoft.com/office/drawing/2014/main" id="{32E2EBD6-1B47-F337-B7BB-46A044491616}"/>
                </a:ext>
              </a:extLst>
            </p:cNvPr>
            <p:cNvSpPr txBox="1"/>
            <p:nvPr/>
          </p:nvSpPr>
          <p:spPr>
            <a:xfrm>
              <a:off x="541020" y="2173274"/>
              <a:ext cx="502920" cy="420624"/>
            </a:xfrm>
            <a:prstGeom prst="rect">
              <a:avLst/>
            </a:prstGeom>
            <a:noFill/>
          </p:spPr>
          <p:txBody>
            <a:bodyPr wrap="none" lIns="18288" tIns="18288" rIns="18288" bIns="18288" anchor="t">
              <a:spAutoFit/>
            </a:bodyPr>
            <a:lstStyle/>
            <a:p>
              <a:pPr algn="ctr"/>
              <a:r>
                <a:rPr sz="3000" b="1">
                  <a:solidFill>
                    <a:srgbClr val="BEEBF4"/>
                  </a:solidFill>
                  <a:latin typeface="华文黑体"/>
                </a:rPr>
                <a:t>1</a:t>
              </a:r>
            </a:p>
          </p:txBody>
        </p:sp>
        <p:sp>
          <p:nvSpPr>
            <p:cNvPr id="4" name="Rectangle 5">
              <a:extLst>
                <a:ext uri="{FF2B5EF4-FFF2-40B4-BE49-F238E27FC236}">
                  <a16:creationId xmlns:a16="http://schemas.microsoft.com/office/drawing/2014/main" id="{F12E035B-9A7A-F415-6EDD-BAAE46696A6A}"/>
                </a:ext>
              </a:extLst>
            </p:cNvPr>
            <p:cNvSpPr/>
            <p:nvPr/>
          </p:nvSpPr>
          <p:spPr>
            <a:xfrm>
              <a:off x="947928" y="2218994"/>
              <a:ext cx="2148840" cy="841248"/>
            </a:xfrm>
            <a:prstGeom prst="rect">
              <a:avLst/>
            </a:prstGeom>
            <a:solidFill>
              <a:srgbClr val="F2F9FD"/>
            </a:solidFill>
            <a:ln>
              <a:noFill/>
            </a:ln>
          </p:spPr>
          <p:style>
            <a:lnRef idx="1">
              <a:schemeClr val="accent1"/>
            </a:lnRef>
            <a:fillRef idx="3">
              <a:schemeClr val="accent1"/>
            </a:fillRef>
            <a:effectRef idx="2">
              <a:schemeClr val="accent1"/>
            </a:effectRef>
            <a:fontRef idx="minor">
              <a:schemeClr val="lt1"/>
            </a:fontRef>
          </p:style>
          <p:txBody>
            <a:bodyPr lIns="36576" tIns="18288" rIns="36576" bIns="18288" rtlCol="0" anchor="ctr"/>
            <a:lstStyle/>
            <a:p>
              <a:pPr algn="ctr">
                <a:lnSpc>
                  <a:spcPct val="150000"/>
                </a:lnSpc>
              </a:pPr>
              <a:r>
                <a:rPr sz="1200" b="1">
                  <a:solidFill>
                    <a:srgbClr val="005096"/>
                  </a:solidFill>
                  <a:latin typeface="华文黑体"/>
                </a:rPr>
                <a:t>全公司数据集</a:t>
              </a:r>
            </a:p>
            <a:p>
              <a:pPr algn="ctr">
                <a:lnSpc>
                  <a:spcPct val="150000"/>
                </a:lnSpc>
              </a:pPr>
              <a:r>
                <a:rPr sz="1050">
                  <a:solidFill>
                    <a:srgbClr val="005096"/>
                  </a:solidFill>
                  <a:latin typeface="华文黑体"/>
                </a:rPr>
                <a:t>资产摸底</a:t>
              </a:r>
              <a:r>
                <a:rPr lang="zh-CN" altLang="en-US" sz="1050">
                  <a:solidFill>
                    <a:srgbClr val="005096"/>
                  </a:solidFill>
                  <a:latin typeface="华文黑体"/>
                </a:rPr>
                <a:t>  </a:t>
              </a:r>
              <a:r>
                <a:rPr sz="1050">
                  <a:solidFill>
                    <a:srgbClr val="005096"/>
                  </a:solidFill>
                  <a:latin typeface="华文黑体"/>
                </a:rPr>
                <a:t>统一目录</a:t>
              </a:r>
            </a:p>
          </p:txBody>
        </p:sp>
        <p:sp>
          <p:nvSpPr>
            <p:cNvPr id="5" name="TextBox 6">
              <a:extLst>
                <a:ext uri="{FF2B5EF4-FFF2-40B4-BE49-F238E27FC236}">
                  <a16:creationId xmlns:a16="http://schemas.microsoft.com/office/drawing/2014/main" id="{12EB22A0-7C07-9C57-FD5A-6AA5FC329314}"/>
                </a:ext>
              </a:extLst>
            </p:cNvPr>
            <p:cNvSpPr txBox="1"/>
            <p:nvPr/>
          </p:nvSpPr>
          <p:spPr>
            <a:xfrm>
              <a:off x="3197352" y="2484170"/>
              <a:ext cx="201168" cy="201168"/>
            </a:xfrm>
            <a:prstGeom prst="rect">
              <a:avLst/>
            </a:prstGeom>
            <a:noFill/>
          </p:spPr>
          <p:txBody>
            <a:bodyPr wrap="none" lIns="18288" tIns="18288" rIns="18288" bIns="18288" anchor="t">
              <a:spAutoFit/>
            </a:bodyPr>
            <a:lstStyle/>
            <a:p>
              <a:pPr algn="ctr"/>
              <a:r>
                <a:rPr sz="1500" b="1">
                  <a:solidFill>
                    <a:srgbClr val="005096"/>
                  </a:solidFill>
                  <a:latin typeface="华文黑体"/>
                </a:rPr>
                <a:t>→</a:t>
              </a:r>
            </a:p>
          </p:txBody>
        </p:sp>
        <p:sp>
          <p:nvSpPr>
            <p:cNvPr id="6" name="TextBox 7">
              <a:extLst>
                <a:ext uri="{FF2B5EF4-FFF2-40B4-BE49-F238E27FC236}">
                  <a16:creationId xmlns:a16="http://schemas.microsoft.com/office/drawing/2014/main" id="{B4DBF354-4BA0-A04D-066A-2545B7E23E55}"/>
                </a:ext>
              </a:extLst>
            </p:cNvPr>
            <p:cNvSpPr txBox="1"/>
            <p:nvPr/>
          </p:nvSpPr>
          <p:spPr>
            <a:xfrm>
              <a:off x="3307080" y="2173274"/>
              <a:ext cx="502920" cy="420624"/>
            </a:xfrm>
            <a:prstGeom prst="rect">
              <a:avLst/>
            </a:prstGeom>
            <a:noFill/>
          </p:spPr>
          <p:txBody>
            <a:bodyPr wrap="none" lIns="18288" tIns="18288" rIns="18288" bIns="18288" anchor="t">
              <a:spAutoFit/>
            </a:bodyPr>
            <a:lstStyle/>
            <a:p>
              <a:pPr algn="ctr"/>
              <a:r>
                <a:rPr sz="3000" b="1">
                  <a:solidFill>
                    <a:srgbClr val="BEEBF4"/>
                  </a:solidFill>
                  <a:latin typeface="华文黑体"/>
                </a:rPr>
                <a:t>2</a:t>
              </a:r>
            </a:p>
          </p:txBody>
        </p:sp>
        <p:sp>
          <p:nvSpPr>
            <p:cNvPr id="7" name="Rectangle 8">
              <a:extLst>
                <a:ext uri="{FF2B5EF4-FFF2-40B4-BE49-F238E27FC236}">
                  <a16:creationId xmlns:a16="http://schemas.microsoft.com/office/drawing/2014/main" id="{2E50FFF2-CE56-0321-2B34-2E4047D621C4}"/>
                </a:ext>
              </a:extLst>
            </p:cNvPr>
            <p:cNvSpPr/>
            <p:nvPr/>
          </p:nvSpPr>
          <p:spPr>
            <a:xfrm>
              <a:off x="3709416" y="2218994"/>
              <a:ext cx="2148840" cy="841248"/>
            </a:xfrm>
            <a:prstGeom prst="rect">
              <a:avLst/>
            </a:prstGeom>
            <a:solidFill>
              <a:srgbClr val="E8F5FC"/>
            </a:solidFill>
            <a:ln>
              <a:noFill/>
            </a:ln>
          </p:spPr>
          <p:style>
            <a:lnRef idx="1">
              <a:schemeClr val="accent1"/>
            </a:lnRef>
            <a:fillRef idx="3">
              <a:schemeClr val="accent1"/>
            </a:fillRef>
            <a:effectRef idx="2">
              <a:schemeClr val="accent1"/>
            </a:effectRef>
            <a:fontRef idx="minor">
              <a:schemeClr val="lt1"/>
            </a:fontRef>
          </p:style>
          <p:txBody>
            <a:bodyPr lIns="36576" tIns="18288" rIns="36576" bIns="18288" rtlCol="0" anchor="ctr"/>
            <a:lstStyle/>
            <a:p>
              <a:pPr algn="ctr">
                <a:lnSpc>
                  <a:spcPct val="150000"/>
                </a:lnSpc>
              </a:pPr>
              <a:r>
                <a:rPr sz="1200" b="1">
                  <a:solidFill>
                    <a:srgbClr val="005096"/>
                  </a:solidFill>
                  <a:latin typeface="华文黑体"/>
                </a:rPr>
                <a:t>AI潜在可用数据集</a:t>
              </a:r>
            </a:p>
            <a:p>
              <a:pPr algn="ctr">
                <a:lnSpc>
                  <a:spcPct val="150000"/>
                </a:lnSpc>
              </a:pPr>
              <a:r>
                <a:rPr sz="1050">
                  <a:solidFill>
                    <a:srgbClr val="005096"/>
                  </a:solidFill>
                  <a:latin typeface="华文黑体"/>
                </a:rPr>
                <a:t>完成准入</a:t>
              </a:r>
              <a:r>
                <a:rPr lang="zh-CN" altLang="en-US" sz="1050">
                  <a:solidFill>
                    <a:srgbClr val="005096"/>
                  </a:solidFill>
                  <a:latin typeface="华文黑体"/>
                </a:rPr>
                <a:t>  </a:t>
              </a:r>
              <a:r>
                <a:rPr sz="1050">
                  <a:solidFill>
                    <a:srgbClr val="005096"/>
                  </a:solidFill>
                  <a:latin typeface="华文黑体"/>
                </a:rPr>
                <a:t>具备治理价值</a:t>
              </a:r>
            </a:p>
          </p:txBody>
        </p:sp>
        <p:sp>
          <p:nvSpPr>
            <p:cNvPr id="8" name="TextBox 9">
              <a:extLst>
                <a:ext uri="{FF2B5EF4-FFF2-40B4-BE49-F238E27FC236}">
                  <a16:creationId xmlns:a16="http://schemas.microsoft.com/office/drawing/2014/main" id="{345A013C-40C8-753A-B4C9-00C23514246F}"/>
                </a:ext>
              </a:extLst>
            </p:cNvPr>
            <p:cNvSpPr txBox="1"/>
            <p:nvPr/>
          </p:nvSpPr>
          <p:spPr>
            <a:xfrm>
              <a:off x="5958840" y="2484170"/>
              <a:ext cx="201168" cy="201168"/>
            </a:xfrm>
            <a:prstGeom prst="rect">
              <a:avLst/>
            </a:prstGeom>
            <a:noFill/>
          </p:spPr>
          <p:txBody>
            <a:bodyPr wrap="none" lIns="18288" tIns="18288" rIns="18288" bIns="18288" anchor="t">
              <a:spAutoFit/>
            </a:bodyPr>
            <a:lstStyle/>
            <a:p>
              <a:pPr algn="ctr"/>
              <a:r>
                <a:rPr sz="1500" b="1">
                  <a:solidFill>
                    <a:srgbClr val="005096"/>
                  </a:solidFill>
                  <a:latin typeface="华文黑体"/>
                </a:rPr>
                <a:t>→</a:t>
              </a:r>
            </a:p>
          </p:txBody>
        </p:sp>
        <p:sp>
          <p:nvSpPr>
            <p:cNvPr id="9" name="TextBox 10">
              <a:extLst>
                <a:ext uri="{FF2B5EF4-FFF2-40B4-BE49-F238E27FC236}">
                  <a16:creationId xmlns:a16="http://schemas.microsoft.com/office/drawing/2014/main" id="{3EAA1108-DFAF-E46F-C02E-570473518BE7}"/>
                </a:ext>
              </a:extLst>
            </p:cNvPr>
            <p:cNvSpPr txBox="1"/>
            <p:nvPr/>
          </p:nvSpPr>
          <p:spPr>
            <a:xfrm>
              <a:off x="6059424" y="2173274"/>
              <a:ext cx="502920" cy="420624"/>
            </a:xfrm>
            <a:prstGeom prst="rect">
              <a:avLst/>
            </a:prstGeom>
            <a:noFill/>
          </p:spPr>
          <p:txBody>
            <a:bodyPr wrap="none" lIns="18288" tIns="18288" rIns="18288" bIns="18288" anchor="t">
              <a:spAutoFit/>
            </a:bodyPr>
            <a:lstStyle/>
            <a:p>
              <a:pPr algn="ctr"/>
              <a:r>
                <a:rPr sz="3000" b="1">
                  <a:solidFill>
                    <a:srgbClr val="BEEBF4"/>
                  </a:solidFill>
                  <a:latin typeface="华文黑体"/>
                </a:rPr>
                <a:t>3</a:t>
              </a:r>
            </a:p>
          </p:txBody>
        </p:sp>
        <p:sp>
          <p:nvSpPr>
            <p:cNvPr id="10" name="Rectangle 11">
              <a:extLst>
                <a:ext uri="{FF2B5EF4-FFF2-40B4-BE49-F238E27FC236}">
                  <a16:creationId xmlns:a16="http://schemas.microsoft.com/office/drawing/2014/main" id="{056992E5-7366-35BF-706B-32D88E6355DB}"/>
                </a:ext>
              </a:extLst>
            </p:cNvPr>
            <p:cNvSpPr/>
            <p:nvPr/>
          </p:nvSpPr>
          <p:spPr>
            <a:xfrm>
              <a:off x="6470904" y="2218994"/>
              <a:ext cx="2148840" cy="841248"/>
            </a:xfrm>
            <a:prstGeom prst="rect">
              <a:avLst/>
            </a:prstGeom>
            <a:solidFill>
              <a:srgbClr val="E7F7EF"/>
            </a:solidFill>
            <a:ln>
              <a:noFill/>
            </a:ln>
          </p:spPr>
          <p:style>
            <a:lnRef idx="1">
              <a:schemeClr val="accent1"/>
            </a:lnRef>
            <a:fillRef idx="3">
              <a:schemeClr val="accent1"/>
            </a:fillRef>
            <a:effectRef idx="2">
              <a:schemeClr val="accent1"/>
            </a:effectRef>
            <a:fontRef idx="minor">
              <a:schemeClr val="lt1"/>
            </a:fontRef>
          </p:style>
          <p:txBody>
            <a:bodyPr lIns="36576" tIns="18288" rIns="36576" bIns="18288" rtlCol="0" anchor="ctr"/>
            <a:lstStyle/>
            <a:p>
              <a:pPr algn="ctr">
                <a:lnSpc>
                  <a:spcPct val="150000"/>
                </a:lnSpc>
              </a:pPr>
              <a:r>
                <a:rPr sz="1200" b="1">
                  <a:solidFill>
                    <a:srgbClr val="369152"/>
                  </a:solidFill>
                  <a:latin typeface="+mj-ea"/>
                </a:rPr>
                <a:t>AI就绪数据集</a:t>
              </a:r>
            </a:p>
            <a:p>
              <a:pPr algn="ctr">
                <a:lnSpc>
                  <a:spcPct val="150000"/>
                </a:lnSpc>
              </a:pPr>
              <a:r>
                <a:rPr sz="1050">
                  <a:solidFill>
                    <a:srgbClr val="369152"/>
                  </a:solidFill>
                  <a:latin typeface="+mj-ea"/>
                </a:rPr>
                <a:t>可检索</a:t>
              </a:r>
              <a:r>
                <a:rPr lang="zh-CN" altLang="en-US" sz="1050">
                  <a:solidFill>
                    <a:srgbClr val="369152"/>
                  </a:solidFill>
                  <a:latin typeface="+mj-ea"/>
                </a:rPr>
                <a:t>  </a:t>
              </a:r>
              <a:r>
                <a:rPr sz="1050">
                  <a:solidFill>
                    <a:srgbClr val="369152"/>
                  </a:solidFill>
                  <a:latin typeface="+mj-ea"/>
                </a:rPr>
                <a:t>可引用</a:t>
              </a:r>
              <a:r>
                <a:rPr lang="zh-CN" altLang="en-US" sz="1050">
                  <a:solidFill>
                    <a:srgbClr val="369152"/>
                  </a:solidFill>
                  <a:latin typeface="+mj-ea"/>
                </a:rPr>
                <a:t>  </a:t>
              </a:r>
              <a:r>
                <a:rPr sz="1050">
                  <a:solidFill>
                    <a:srgbClr val="369152"/>
                  </a:solidFill>
                  <a:latin typeface="+mj-ea"/>
                </a:rPr>
                <a:t>可调用</a:t>
              </a:r>
            </a:p>
          </p:txBody>
        </p:sp>
      </p:grpSp>
      <p:sp>
        <p:nvSpPr>
          <p:cNvPr id="12" name="文本框 11">
            <a:extLst>
              <a:ext uri="{FF2B5EF4-FFF2-40B4-BE49-F238E27FC236}">
                <a16:creationId xmlns:a16="http://schemas.microsoft.com/office/drawing/2014/main" id="{B01116D9-0E2E-7229-60C6-9E326A52E383}"/>
              </a:ext>
            </a:extLst>
          </p:cNvPr>
          <p:cNvSpPr txBox="1"/>
          <p:nvPr/>
        </p:nvSpPr>
        <p:spPr>
          <a:xfrm>
            <a:off x="350648" y="2990498"/>
            <a:ext cx="8503637" cy="824200"/>
          </a:xfrm>
          <a:prstGeom prst="rect">
            <a:avLst/>
          </a:prstGeom>
          <a:noFill/>
        </p:spPr>
        <p:txBody>
          <a:bodyPr wrap="square" rtlCol="0">
            <a:spAutoFit/>
          </a:bodyPr>
          <a:lstStyle/>
          <a:p>
            <a:pPr>
              <a:lnSpc>
                <a:spcPct val="150000"/>
              </a:lnSpc>
            </a:pPr>
            <a:r>
              <a:rPr lang="zh-CN" altLang="en-US" sz="1100">
                <a:solidFill>
                  <a:schemeClr val="accent4"/>
                </a:solidFill>
                <a:latin typeface="+mj-ea"/>
                <a:ea typeface="+mj-ea"/>
              </a:rPr>
              <a:t>通用治理负责元数据采集、</a:t>
            </a:r>
            <a:r>
              <a:rPr lang="en" altLang="zh-CN" sz="1100">
                <a:solidFill>
                  <a:schemeClr val="accent4"/>
                </a:solidFill>
                <a:latin typeface="+mj-ea"/>
                <a:ea typeface="+mj-ea"/>
              </a:rPr>
              <a:t>Schema</a:t>
            </a:r>
            <a:r>
              <a:rPr lang="zh-CN" altLang="en-US" sz="1100">
                <a:solidFill>
                  <a:schemeClr val="accent4"/>
                </a:solidFill>
                <a:latin typeface="+mj-ea"/>
                <a:ea typeface="+mj-ea"/>
              </a:rPr>
              <a:t>语义标注、数据目录、质量检查、敏感信息处理和权限识别；定制治理围绕具体业务场景补充业务口径、评测集、工具链和应用验证。</a:t>
            </a:r>
            <a:endParaRPr lang="en-US" altLang="zh-CN" sz="1100">
              <a:solidFill>
                <a:schemeClr val="accent4"/>
              </a:solidFill>
              <a:latin typeface="+mj-ea"/>
              <a:ea typeface="+mj-ea"/>
            </a:endParaRPr>
          </a:p>
          <a:p>
            <a:pPr>
              <a:lnSpc>
                <a:spcPct val="150000"/>
              </a:lnSpc>
            </a:pPr>
            <a:r>
              <a:rPr lang="zh-CN" altLang="en-US" sz="1100">
                <a:solidFill>
                  <a:schemeClr val="accent4"/>
                </a:solidFill>
                <a:latin typeface="+mj-ea"/>
                <a:ea typeface="+mj-ea"/>
              </a:rPr>
              <a:t>最终，治理好的数据通过</a:t>
            </a:r>
            <a:r>
              <a:rPr lang="en" altLang="zh-CN" sz="1100">
                <a:solidFill>
                  <a:schemeClr val="accent4"/>
                </a:solidFill>
                <a:latin typeface="+mj-ea"/>
                <a:ea typeface="+mj-ea"/>
              </a:rPr>
              <a:t>API</a:t>
            </a:r>
            <a:r>
              <a:rPr lang="zh-CN" altLang="en" sz="1100">
                <a:solidFill>
                  <a:schemeClr val="accent4"/>
                </a:solidFill>
                <a:latin typeface="+mj-ea"/>
                <a:ea typeface="+mj-ea"/>
              </a:rPr>
              <a:t>、</a:t>
            </a:r>
            <a:r>
              <a:rPr lang="en" altLang="zh-CN" sz="1100">
                <a:solidFill>
                  <a:schemeClr val="accent4"/>
                </a:solidFill>
                <a:latin typeface="+mj-ea"/>
                <a:ea typeface="+mj-ea"/>
              </a:rPr>
              <a:t>MCP</a:t>
            </a:r>
            <a:r>
              <a:rPr lang="zh-CN" altLang="en" sz="1100">
                <a:solidFill>
                  <a:schemeClr val="accent4"/>
                </a:solidFill>
                <a:latin typeface="+mj-ea"/>
                <a:ea typeface="+mj-ea"/>
              </a:rPr>
              <a:t>、</a:t>
            </a:r>
            <a:r>
              <a:rPr lang="en" altLang="zh-CN" sz="1100">
                <a:solidFill>
                  <a:schemeClr val="accent4"/>
                </a:solidFill>
                <a:latin typeface="+mj-ea"/>
                <a:ea typeface="+mj-ea"/>
              </a:rPr>
              <a:t>Skill</a:t>
            </a:r>
            <a:r>
              <a:rPr lang="zh-CN" altLang="en" sz="1100">
                <a:solidFill>
                  <a:schemeClr val="accent4"/>
                </a:solidFill>
                <a:latin typeface="+mj-ea"/>
                <a:ea typeface="+mj-ea"/>
              </a:rPr>
              <a:t>、</a:t>
            </a:r>
            <a:r>
              <a:rPr lang="en" altLang="zh-CN" sz="1100">
                <a:solidFill>
                  <a:schemeClr val="accent4"/>
                </a:solidFill>
                <a:latin typeface="+mj-ea"/>
                <a:ea typeface="+mj-ea"/>
              </a:rPr>
              <a:t>RAG</a:t>
            </a:r>
            <a:r>
              <a:rPr lang="zh-CN" altLang="en-US" sz="1100">
                <a:solidFill>
                  <a:schemeClr val="accent4"/>
                </a:solidFill>
                <a:latin typeface="+mj-ea"/>
                <a:ea typeface="+mj-ea"/>
              </a:rPr>
              <a:t>和渐进式数据目录等方式，服务于</a:t>
            </a:r>
            <a:r>
              <a:rPr lang="en" altLang="zh-CN" sz="1100">
                <a:solidFill>
                  <a:schemeClr val="accent4"/>
                </a:solidFill>
                <a:latin typeface="+mj-ea"/>
                <a:ea typeface="+mj-ea"/>
              </a:rPr>
              <a:t>EWork</a:t>
            </a:r>
            <a:r>
              <a:rPr lang="zh-CN" altLang="en-US" sz="1100">
                <a:solidFill>
                  <a:schemeClr val="accent4"/>
                </a:solidFill>
                <a:latin typeface="+mj-ea"/>
                <a:ea typeface="+mj-ea"/>
              </a:rPr>
              <a:t>和各类</a:t>
            </a:r>
            <a:r>
              <a:rPr lang="en" altLang="zh-CN" sz="1100">
                <a:solidFill>
                  <a:schemeClr val="accent4"/>
                </a:solidFill>
                <a:latin typeface="+mj-ea"/>
                <a:ea typeface="+mj-ea"/>
              </a:rPr>
              <a:t>AI</a:t>
            </a:r>
            <a:r>
              <a:rPr lang="zh-CN" altLang="en-US" sz="1100">
                <a:solidFill>
                  <a:schemeClr val="accent4"/>
                </a:solidFill>
                <a:latin typeface="+mj-ea"/>
                <a:ea typeface="+mj-ea"/>
              </a:rPr>
              <a:t>应用。</a:t>
            </a:r>
          </a:p>
        </p:txBody>
      </p:sp>
    </p:spTree>
    <p:extLst>
      <p:ext uri="{BB962C8B-B14F-4D97-AF65-F5344CB8AC3E}">
        <p14:creationId xmlns:p14="http://schemas.microsoft.com/office/powerpoint/2010/main" val="432234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txBox="1"/>
          <p:nvPr/>
        </p:nvSpPr>
        <p:spPr>
          <a:xfrm>
            <a:off x="333874" y="167581"/>
            <a:ext cx="8008107" cy="328308"/>
          </a:xfrm>
          <a:prstGeom prst="rect">
            <a:avLst/>
          </a:prstGeom>
          <a:noFill/>
          <a:ln>
            <a:noFill/>
          </a:ln>
        </p:spPr>
        <p:txBody>
          <a:bodyPr vert="horz" wrap="square" lIns="0" tIns="54813" rIns="0" numCol="1" anchor="t" anchorCtr="0" compatLnSpc="1"/>
          <a:lstStyle>
            <a:lvl1pPr algn="l" rtl="0" eaLnBrk="1" fontAlgn="base" hangingPunct="1">
              <a:spcBef>
                <a:spcPct val="0"/>
              </a:spcBef>
              <a:spcAft>
                <a:spcPct val="0"/>
              </a:spcAft>
              <a:defRPr sz="900" b="0" i="0" baseline="0">
                <a:solidFill>
                  <a:schemeClr val="bg1"/>
                </a:solidFill>
                <a:latin typeface="Arial" charset="0"/>
                <a:ea typeface="华文黑体"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122"/>
                <a:cs typeface="MS PGothic" charset="0"/>
              </a:defRPr>
            </a:lvl2pPr>
            <a:lvl3pPr algn="l" rtl="0" eaLnBrk="1" fontAlgn="base" hangingPunct="1">
              <a:spcBef>
                <a:spcPct val="0"/>
              </a:spcBef>
              <a:spcAft>
                <a:spcPct val="0"/>
              </a:spcAft>
              <a:defRPr sz="3600">
                <a:solidFill>
                  <a:schemeClr val="tx1"/>
                </a:solidFill>
                <a:latin typeface="黑体" charset="-122"/>
                <a:ea typeface="黑体" charset="-122"/>
                <a:cs typeface="MS PGothic" charset="0"/>
              </a:defRPr>
            </a:lvl3pPr>
            <a:lvl4pPr algn="l" rtl="0" eaLnBrk="1" fontAlgn="base" hangingPunct="1">
              <a:spcBef>
                <a:spcPct val="0"/>
              </a:spcBef>
              <a:spcAft>
                <a:spcPct val="0"/>
              </a:spcAft>
              <a:defRPr sz="3600">
                <a:solidFill>
                  <a:schemeClr val="tx1"/>
                </a:solidFill>
                <a:latin typeface="黑体" charset="-122"/>
                <a:ea typeface="黑体" charset="-122"/>
                <a:cs typeface="MS PGothic" charset="0"/>
              </a:defRPr>
            </a:lvl4pPr>
            <a:lvl5pPr algn="l" rtl="0" eaLnBrk="1" fontAlgn="base" hangingPunct="1">
              <a:spcBef>
                <a:spcPct val="0"/>
              </a:spcBef>
              <a:spcAft>
                <a:spcPct val="0"/>
              </a:spcAft>
              <a:defRPr sz="3600">
                <a:solidFill>
                  <a:schemeClr val="tx1"/>
                </a:solidFill>
                <a:latin typeface="黑体" charset="-122"/>
                <a:ea typeface="黑体" charset="-122"/>
                <a:cs typeface="MS PGothic" charset="0"/>
              </a:defRPr>
            </a:lvl5pPr>
            <a:lvl6pPr marL="457200" algn="l" rtl="0" eaLnBrk="1" fontAlgn="base" hangingPunct="1">
              <a:spcBef>
                <a:spcPct val="0"/>
              </a:spcBef>
              <a:spcAft>
                <a:spcPct val="0"/>
              </a:spcAft>
              <a:defRPr sz="3600">
                <a:solidFill>
                  <a:srgbClr val="5F294F"/>
                </a:solidFill>
                <a:latin typeface="Arial Narrow" charset="0"/>
                <a:ea typeface="MS PGothic" charset="0"/>
                <a:cs typeface="MS PGothic" charset="0"/>
              </a:defRPr>
            </a:lvl6pPr>
            <a:lvl7pPr marL="914400" algn="l" rtl="0" eaLnBrk="1" fontAlgn="base" hangingPunct="1">
              <a:spcBef>
                <a:spcPct val="0"/>
              </a:spcBef>
              <a:spcAft>
                <a:spcPct val="0"/>
              </a:spcAft>
              <a:defRPr sz="3600">
                <a:solidFill>
                  <a:srgbClr val="5F294F"/>
                </a:solidFill>
                <a:latin typeface="Arial Narrow" charset="0"/>
                <a:ea typeface="MS PGothic" charset="0"/>
                <a:cs typeface="MS PGothic" charset="0"/>
              </a:defRPr>
            </a:lvl7pPr>
            <a:lvl8pPr marL="1371600" algn="l" rtl="0" eaLnBrk="1" fontAlgn="base" hangingPunct="1">
              <a:spcBef>
                <a:spcPct val="0"/>
              </a:spcBef>
              <a:spcAft>
                <a:spcPct val="0"/>
              </a:spcAft>
              <a:defRPr sz="3600">
                <a:solidFill>
                  <a:srgbClr val="5F294F"/>
                </a:solidFill>
                <a:latin typeface="Arial Narrow" charset="0"/>
                <a:ea typeface="MS PGothic" charset="0"/>
                <a:cs typeface="MS PGothic" charset="0"/>
              </a:defRPr>
            </a:lvl8pPr>
            <a:lvl9pPr marL="1828800" algn="l" rtl="0" eaLnBrk="1" fontAlgn="base" hangingPunct="1">
              <a:spcBef>
                <a:spcPct val="0"/>
              </a:spcBef>
              <a:spcAft>
                <a:spcPct val="0"/>
              </a:spcAft>
              <a:defRPr sz="3600">
                <a:solidFill>
                  <a:srgbClr val="5F294F"/>
                </a:solidFill>
                <a:latin typeface="Arial Narrow" charset="0"/>
                <a:ea typeface="MS PGothic" charset="0"/>
                <a:cs typeface="MS PGothic" charset="0"/>
              </a:defRPr>
            </a:lvl9pPr>
          </a:lstStyle>
          <a:p>
            <a:r>
              <a:rPr lang="zh-CN" altLang="en-US" sz="2300" b="1" dirty="0">
                <a:solidFill>
                  <a:srgbClr val="FFFFFF"/>
                </a:solidFill>
                <a:latin typeface="+mn-ea"/>
                <a:ea typeface="+mn-ea"/>
              </a:rPr>
              <a:t>在主动权益试点</a:t>
            </a:r>
            <a:r>
              <a:rPr lang="en-US" altLang="zh-CN" sz="2300" b="1" dirty="0">
                <a:solidFill>
                  <a:srgbClr val="FFFFFF"/>
                </a:solidFill>
                <a:latin typeface="+mn-ea"/>
                <a:ea typeface="+mn-ea"/>
              </a:rPr>
              <a:t>AI</a:t>
            </a:r>
            <a:r>
              <a:rPr lang="zh-CN" altLang="en-US" sz="2300" b="1" dirty="0">
                <a:solidFill>
                  <a:srgbClr val="FFFFFF"/>
                </a:solidFill>
                <a:latin typeface="+mn-ea"/>
                <a:ea typeface="+mn-ea"/>
              </a:rPr>
              <a:t>非结构化数据治理</a:t>
            </a:r>
            <a:endParaRPr sz="2300" b="1" dirty="0">
              <a:solidFill>
                <a:srgbClr val="FFFFFF"/>
              </a:solidFill>
              <a:latin typeface="+mn-ea"/>
              <a:ea typeface="+mn-ea"/>
            </a:endParaRPr>
          </a:p>
        </p:txBody>
      </p:sp>
      <p:sp>
        <p:nvSpPr>
          <p:cNvPr id="5" name="Rounded Rectangle 4"/>
          <p:cNvSpPr/>
          <p:nvPr/>
        </p:nvSpPr>
        <p:spPr>
          <a:xfrm>
            <a:off x="442735" y="1163824"/>
            <a:ext cx="8313342" cy="383693"/>
          </a:xfrm>
          <a:prstGeom prst="roundRect">
            <a:avLst>
              <a:gd name="adj" fmla="val 0"/>
            </a:avLst>
          </a:prstGeom>
          <a:solidFill>
            <a:srgbClr val="B7DDFF">
              <a:alpha val="23137"/>
            </a:srgbClr>
          </a:solidFill>
          <a:ln>
            <a:noFill/>
          </a:ln>
        </p:spPr>
        <p:txBody>
          <a:bodyPr anchor="ctr"/>
          <a:lstStyle/>
          <a:p>
            <a:r>
              <a:rPr sz="1050" dirty="0" err="1">
                <a:solidFill>
                  <a:schemeClr val="accent1"/>
                </a:solidFill>
                <a:latin typeface="+mj-ea"/>
                <a:ea typeface="+mj-ea"/>
              </a:rPr>
              <a:t>试点聚焦主动权益高价值资产，以</a:t>
            </a:r>
            <a:r>
              <a:rPr sz="1050" dirty="0">
                <a:solidFill>
                  <a:schemeClr val="accent1"/>
                </a:solidFill>
                <a:latin typeface="+mj-ea"/>
                <a:ea typeface="+mj-ea"/>
              </a:rPr>
              <a:t> </a:t>
            </a:r>
            <a:r>
              <a:rPr sz="1050" b="1" dirty="0">
                <a:solidFill>
                  <a:schemeClr val="accent3"/>
                </a:solidFill>
                <a:latin typeface="+mj-ea"/>
                <a:ea typeface="+mj-ea"/>
              </a:rPr>
              <a:t>海量研报 / 大规模数据</a:t>
            </a:r>
            <a:r>
              <a:rPr sz="1050" dirty="0">
                <a:solidFill>
                  <a:schemeClr val="accent1"/>
                </a:solidFill>
                <a:latin typeface="+mj-ea"/>
                <a:ea typeface="+mj-ea"/>
              </a:rPr>
              <a:t> </a:t>
            </a:r>
            <a:r>
              <a:rPr sz="1050" dirty="0" err="1">
                <a:solidFill>
                  <a:schemeClr val="accent1"/>
                </a:solidFill>
                <a:latin typeface="+mj-ea"/>
                <a:ea typeface="+mj-ea"/>
              </a:rPr>
              <a:t>数据底座为起点，围绕业务可用性、数字移民率与可复用能力沉淀三条主线推进</a:t>
            </a:r>
            <a:r>
              <a:rPr sz="1050" dirty="0">
                <a:solidFill>
                  <a:schemeClr val="accent1"/>
                </a:solidFill>
                <a:latin typeface="+mj-ea"/>
                <a:ea typeface="+mj-ea"/>
              </a:rPr>
              <a:t>。</a:t>
            </a:r>
          </a:p>
        </p:txBody>
      </p:sp>
      <p:sp>
        <p:nvSpPr>
          <p:cNvPr id="6" name="Rounded Rectangle 5"/>
          <p:cNvSpPr/>
          <p:nvPr/>
        </p:nvSpPr>
        <p:spPr>
          <a:xfrm>
            <a:off x="442735" y="1785195"/>
            <a:ext cx="2758933" cy="1205891"/>
          </a:xfrm>
          <a:prstGeom prst="roundRect">
            <a:avLst>
              <a:gd name="adj" fmla="val 0"/>
            </a:avLst>
          </a:prstGeom>
          <a:solidFill>
            <a:srgbClr val="B7DDFF">
              <a:alpha val="23137"/>
            </a:srgbClr>
          </a:solidFill>
          <a:ln>
            <a:noFill/>
          </a:ln>
        </p:spPr>
        <p:txBody>
          <a:bodyPr anchor="ctr"/>
          <a:lstStyle/>
          <a:p>
            <a:pPr algn="r">
              <a:lnSpc>
                <a:spcPct val="150000"/>
              </a:lnSpc>
            </a:pPr>
            <a:r>
              <a:rPr sz="1050" b="1" dirty="0" err="1">
                <a:solidFill>
                  <a:schemeClr val="accent1"/>
                </a:solidFill>
                <a:latin typeface="+mj-ea"/>
                <a:ea typeface="+mj-ea"/>
              </a:rPr>
              <a:t>深度报告</a:t>
            </a:r>
            <a:r>
              <a:rPr sz="1050" b="1" dirty="0">
                <a:solidFill>
                  <a:schemeClr val="accent1"/>
                </a:solidFill>
                <a:latin typeface="+mj-ea"/>
                <a:ea typeface="+mj-ea"/>
              </a:rPr>
              <a:t> / </a:t>
            </a:r>
            <a:r>
              <a:rPr sz="1050" b="1" dirty="0" err="1">
                <a:solidFill>
                  <a:schemeClr val="accent1"/>
                </a:solidFill>
                <a:latin typeface="+mj-ea"/>
                <a:ea typeface="+mj-ea"/>
              </a:rPr>
              <a:t>定期报告</a:t>
            </a:r>
            <a:endParaRPr sz="1050" b="1" dirty="0">
              <a:solidFill>
                <a:schemeClr val="accent1"/>
              </a:solidFill>
              <a:latin typeface="+mj-ea"/>
              <a:ea typeface="+mj-ea"/>
            </a:endParaRPr>
          </a:p>
          <a:p>
            <a:pPr algn="r">
              <a:lnSpc>
                <a:spcPct val="150000"/>
              </a:lnSpc>
            </a:pPr>
            <a:r>
              <a:rPr sz="1050" b="1" dirty="0" err="1">
                <a:solidFill>
                  <a:schemeClr val="accent1"/>
                </a:solidFill>
                <a:latin typeface="+mj-ea"/>
                <a:ea typeface="+mj-ea"/>
              </a:rPr>
              <a:t>调研反馈</a:t>
            </a:r>
            <a:r>
              <a:rPr sz="1050" b="1" dirty="0">
                <a:solidFill>
                  <a:schemeClr val="accent1"/>
                </a:solidFill>
                <a:latin typeface="+mj-ea"/>
                <a:ea typeface="+mj-ea"/>
              </a:rPr>
              <a:t> / </a:t>
            </a:r>
            <a:r>
              <a:rPr sz="1050" b="1" dirty="0" err="1">
                <a:solidFill>
                  <a:schemeClr val="accent1"/>
                </a:solidFill>
                <a:latin typeface="+mj-ea"/>
                <a:ea typeface="+mj-ea"/>
              </a:rPr>
              <a:t>会议纪要</a:t>
            </a:r>
            <a:endParaRPr sz="1050" b="1" dirty="0">
              <a:solidFill>
                <a:schemeClr val="accent1"/>
              </a:solidFill>
              <a:latin typeface="+mj-ea"/>
              <a:ea typeface="+mj-ea"/>
            </a:endParaRPr>
          </a:p>
          <a:p>
            <a:pPr algn="r">
              <a:lnSpc>
                <a:spcPct val="150000"/>
              </a:lnSpc>
            </a:pPr>
            <a:r>
              <a:rPr sz="1050" b="1" dirty="0" err="1">
                <a:solidFill>
                  <a:schemeClr val="accent1"/>
                </a:solidFill>
                <a:latin typeface="+mj-ea"/>
                <a:ea typeface="+mj-ea"/>
              </a:rPr>
              <a:t>卖方微信群观点</a:t>
            </a:r>
            <a:endParaRPr sz="1050" b="1" dirty="0">
              <a:solidFill>
                <a:schemeClr val="accent1"/>
              </a:solidFill>
              <a:latin typeface="+mj-ea"/>
              <a:ea typeface="+mj-ea"/>
            </a:endParaRPr>
          </a:p>
          <a:p>
            <a:pPr algn="r">
              <a:lnSpc>
                <a:spcPct val="150000"/>
              </a:lnSpc>
            </a:pPr>
            <a:r>
              <a:rPr sz="1050" b="1" dirty="0" err="1">
                <a:solidFill>
                  <a:schemeClr val="accent1"/>
                </a:solidFill>
                <a:latin typeface="+mj-ea"/>
                <a:ea typeface="+mj-ea"/>
              </a:rPr>
              <a:t>图表</a:t>
            </a:r>
            <a:r>
              <a:rPr sz="1050" b="1" dirty="0">
                <a:solidFill>
                  <a:schemeClr val="accent1"/>
                </a:solidFill>
                <a:latin typeface="+mj-ea"/>
                <a:ea typeface="+mj-ea"/>
              </a:rPr>
              <a:t> / </a:t>
            </a:r>
            <a:r>
              <a:rPr sz="1050" b="1" dirty="0" err="1">
                <a:solidFill>
                  <a:schemeClr val="accent1"/>
                </a:solidFill>
                <a:latin typeface="+mj-ea"/>
                <a:ea typeface="+mj-ea"/>
              </a:rPr>
              <a:t>表格图片</a:t>
            </a:r>
            <a:r>
              <a:rPr sz="1050" b="1" dirty="0">
                <a:solidFill>
                  <a:schemeClr val="accent1"/>
                </a:solidFill>
                <a:latin typeface="+mj-ea"/>
                <a:ea typeface="+mj-ea"/>
              </a:rPr>
              <a:t> / </a:t>
            </a:r>
            <a:r>
              <a:rPr sz="1050" b="1" dirty="0" err="1">
                <a:solidFill>
                  <a:schemeClr val="accent1"/>
                </a:solidFill>
                <a:latin typeface="+mj-ea"/>
                <a:ea typeface="+mj-ea"/>
              </a:rPr>
              <a:t>PPT截图</a:t>
            </a:r>
            <a:endParaRPr sz="1050" b="1" dirty="0">
              <a:solidFill>
                <a:schemeClr val="accent1"/>
              </a:solidFill>
              <a:latin typeface="+mj-ea"/>
              <a:ea typeface="+mj-ea"/>
            </a:endParaRPr>
          </a:p>
        </p:txBody>
      </p:sp>
      <p:sp>
        <p:nvSpPr>
          <p:cNvPr id="7" name="Rounded Rectangle 6"/>
          <p:cNvSpPr/>
          <p:nvPr/>
        </p:nvSpPr>
        <p:spPr>
          <a:xfrm>
            <a:off x="570633" y="1885686"/>
            <a:ext cx="1041451" cy="283909"/>
          </a:xfrm>
          <a:prstGeom prst="roundRect">
            <a:avLst>
              <a:gd name="adj" fmla="val 0"/>
            </a:avLst>
          </a:prstGeom>
          <a:solidFill>
            <a:srgbClr val="1EB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570635" y="1895726"/>
            <a:ext cx="1041451" cy="258165"/>
          </a:xfrm>
          <a:prstGeom prst="rect">
            <a:avLst/>
          </a:prstGeom>
          <a:noFill/>
        </p:spPr>
        <p:txBody>
          <a:bodyPr wrap="square" lIns="18271" tIns="54813" rIns="18271" anchor="ctr">
            <a:spAutoFit/>
          </a:bodyPr>
          <a:lstStyle/>
          <a:p>
            <a:pPr algn="ctr">
              <a:spcAft>
                <a:spcPts val="0"/>
              </a:spcAft>
            </a:pPr>
            <a:r>
              <a:rPr sz="1020" dirty="0" err="1">
                <a:solidFill>
                  <a:srgbClr val="FFFFFF"/>
                </a:solidFill>
                <a:latin typeface="+mj-ea"/>
                <a:ea typeface="+mj-ea"/>
              </a:rPr>
              <a:t>重点建设对象</a:t>
            </a:r>
            <a:endParaRPr sz="1020" dirty="0">
              <a:solidFill>
                <a:srgbClr val="FFFFFF"/>
              </a:solidFill>
              <a:latin typeface="+mj-ea"/>
              <a:ea typeface="+mj-ea"/>
            </a:endParaRPr>
          </a:p>
        </p:txBody>
      </p:sp>
      <p:sp>
        <p:nvSpPr>
          <p:cNvPr id="9" name="Rounded Rectangle 8"/>
          <p:cNvSpPr/>
          <p:nvPr/>
        </p:nvSpPr>
        <p:spPr>
          <a:xfrm>
            <a:off x="3402651" y="1785195"/>
            <a:ext cx="1662668" cy="785657"/>
          </a:xfrm>
          <a:prstGeom prst="roundRect">
            <a:avLst>
              <a:gd name="adj" fmla="val 0"/>
            </a:avLst>
          </a:prstGeom>
          <a:solidFill>
            <a:srgbClr val="EAF8FD"/>
          </a:solidFill>
          <a:ln w="12700">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100"/>
              </a:spcAft>
            </a:pPr>
            <a:r>
              <a:rPr lang="zh-CN" altLang="en-US" sz="920" b="1">
                <a:solidFill>
                  <a:srgbClr val="005096"/>
                </a:solidFill>
                <a:latin typeface="华文黑体_易方达" pitchFamily="2" charset="-122"/>
              </a:rPr>
              <a:t>知识</a:t>
            </a:r>
            <a:r>
              <a:rPr sz="920" b="1">
                <a:solidFill>
                  <a:srgbClr val="005096"/>
                </a:solidFill>
                <a:latin typeface="华文黑体_易方达" pitchFamily="2" charset="-122"/>
              </a:rPr>
              <a:t>问答</a:t>
            </a:r>
          </a:p>
          <a:p>
            <a:pPr algn="ctr">
              <a:spcAft>
                <a:spcPts val="0"/>
              </a:spcAft>
            </a:pPr>
            <a:r>
              <a:rPr sz="1750" b="1">
                <a:solidFill>
                  <a:srgbClr val="005096"/>
                </a:solidFill>
                <a:latin typeface="华文黑体_易方达" pitchFamily="2" charset="-122"/>
              </a:rPr>
              <a:t>多数达到可用</a:t>
            </a:r>
          </a:p>
          <a:p>
            <a:pPr algn="ctr">
              <a:spcAft>
                <a:spcPts val="0"/>
              </a:spcAft>
            </a:pPr>
            <a:r>
              <a:rPr sz="860">
                <a:solidFill>
                  <a:srgbClr val="464646"/>
                </a:solidFill>
                <a:latin typeface="华文黑体_易方达" pitchFamily="2" charset="-122"/>
              </a:rPr>
              <a:t/>
            </a:r>
          </a:p>
        </p:txBody>
      </p:sp>
      <p:sp>
        <p:nvSpPr>
          <p:cNvPr id="10" name="Rounded Rectangle 9"/>
          <p:cNvSpPr/>
          <p:nvPr/>
        </p:nvSpPr>
        <p:spPr>
          <a:xfrm>
            <a:off x="5252598" y="1773966"/>
            <a:ext cx="1662668" cy="785657"/>
          </a:xfrm>
          <a:prstGeom prst="roundRect">
            <a:avLst>
              <a:gd name="adj" fmla="val 0"/>
            </a:avLst>
          </a:prstGeom>
          <a:solidFill>
            <a:srgbClr val="FFF4E9"/>
          </a:solidFill>
          <a:ln w="12700">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100"/>
              </a:spcAft>
            </a:pPr>
            <a:r>
              <a:rPr sz="920" b="1">
                <a:solidFill>
                  <a:srgbClr val="005096"/>
                </a:solidFill>
                <a:latin typeface="华文黑体_易方达" pitchFamily="2" charset="-122"/>
              </a:rPr>
              <a:t>业务评分</a:t>
            </a:r>
          </a:p>
          <a:p>
            <a:pPr algn="ctr">
              <a:spcAft>
                <a:spcPts val="0"/>
              </a:spcAft>
            </a:pPr>
            <a:r>
              <a:rPr sz="1750" b="1">
                <a:solidFill>
                  <a:srgbClr val="005096"/>
                </a:solidFill>
                <a:latin typeface="华文黑体_易方达" pitchFamily="2" charset="-122"/>
              </a:rPr>
              <a:t>多数达到良好</a:t>
            </a:r>
          </a:p>
          <a:p>
            <a:pPr algn="ctr">
              <a:spcAft>
                <a:spcPts val="0"/>
              </a:spcAft>
            </a:pPr>
            <a:r>
              <a:rPr sz="860">
                <a:solidFill>
                  <a:srgbClr val="464646"/>
                </a:solidFill>
                <a:latin typeface="华文黑体_易方达" pitchFamily="2" charset="-122"/>
              </a:rPr>
              <a:t/>
            </a:r>
          </a:p>
        </p:txBody>
      </p:sp>
      <p:sp>
        <p:nvSpPr>
          <p:cNvPr id="11" name="Rounded Rectangle 10"/>
          <p:cNvSpPr/>
          <p:nvPr/>
        </p:nvSpPr>
        <p:spPr>
          <a:xfrm>
            <a:off x="7093409" y="1778343"/>
            <a:ext cx="1662668" cy="785657"/>
          </a:xfrm>
          <a:prstGeom prst="roundRect">
            <a:avLst>
              <a:gd name="adj" fmla="val 0"/>
            </a:avLst>
          </a:prstGeom>
          <a:solidFill>
            <a:srgbClr val="EDF8EF"/>
          </a:solidFill>
          <a:ln w="12700">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100"/>
              </a:spcAft>
            </a:pPr>
            <a:r>
              <a:rPr sz="920" b="1" dirty="0" err="1">
                <a:solidFill>
                  <a:srgbClr val="005096"/>
                </a:solidFill>
                <a:latin typeface="华文黑体_易方达" pitchFamily="2" charset="-122"/>
              </a:rPr>
              <a:t>治理成功率</a:t>
            </a:r>
            <a:endParaRPr sz="920" b="1" dirty="0">
              <a:solidFill>
                <a:srgbClr val="005096"/>
              </a:solidFill>
              <a:latin typeface="华文黑体_易方达" pitchFamily="2" charset="-122"/>
            </a:endParaRPr>
          </a:p>
          <a:p>
            <a:pPr algn="ctr">
              <a:spcAft>
                <a:spcPts val="0"/>
              </a:spcAft>
            </a:pPr>
            <a:r>
              <a:rPr sz="1750" b="1" dirty="0">
                <a:solidFill>
                  <a:srgbClr val="005096"/>
                </a:solidFill>
                <a:latin typeface="华文黑体_易方达" pitchFamily="2" charset="-122"/>
              </a:rPr>
              <a:t>较高</a:t>
            </a:r>
            <a:endParaRPr lang="zh-CN" altLang="en-US" sz="1750" b="1" dirty="0">
              <a:solidFill>
                <a:srgbClr val="005096"/>
              </a:solidFill>
              <a:latin typeface="华文黑体_易方达" pitchFamily="2" charset="-122"/>
            </a:endParaRPr>
          </a:p>
          <a:p>
            <a:pPr algn="ctr">
              <a:spcAft>
                <a:spcPts val="0"/>
              </a:spcAft>
            </a:pPr>
            <a:r>
              <a:rPr lang="zh-CN" altLang="en-US" sz="860" dirty="0">
                <a:solidFill>
                  <a:srgbClr val="464646"/>
                </a:solidFill>
                <a:latin typeface="华文黑体_易方达" pitchFamily="2" charset="-122"/>
              </a:rPr>
              <a:t>数据治理层</a:t>
            </a:r>
          </a:p>
        </p:txBody>
      </p:sp>
      <p:sp>
        <p:nvSpPr>
          <p:cNvPr id="12" name="Rounded Rectangle 11"/>
          <p:cNvSpPr/>
          <p:nvPr/>
        </p:nvSpPr>
        <p:spPr>
          <a:xfrm>
            <a:off x="3402650" y="2662207"/>
            <a:ext cx="5353427" cy="315504"/>
          </a:xfrm>
          <a:prstGeom prst="roundRect">
            <a:avLst>
              <a:gd name="adj" fmla="val 0"/>
            </a:avLst>
          </a:prstGeom>
          <a:solidFill>
            <a:schemeClr val="accent6">
              <a:alpha val="23137"/>
            </a:schemeClr>
          </a:solidFill>
          <a:ln>
            <a:noFill/>
          </a:ln>
        </p:spPr>
        <p:txBody>
          <a:bodyPr anchor="ctr"/>
          <a:lstStyle/>
          <a:p>
            <a:pPr algn="ctr"/>
            <a:r>
              <a:rPr sz="1100" dirty="0">
                <a:solidFill>
                  <a:schemeClr val="accent1"/>
                </a:solidFill>
                <a:latin typeface="+mj-ea"/>
                <a:ea typeface="+mj-ea"/>
              </a:rPr>
              <a:t>沉淀产出：若干内部研报问答智能体 + 多项通用治理技能</a:t>
            </a:r>
          </a:p>
        </p:txBody>
      </p:sp>
      <p:sp>
        <p:nvSpPr>
          <p:cNvPr id="13" name="Rounded Rectangle 12"/>
          <p:cNvSpPr/>
          <p:nvPr/>
        </p:nvSpPr>
        <p:spPr>
          <a:xfrm>
            <a:off x="415329" y="3147004"/>
            <a:ext cx="8313342" cy="1324255"/>
          </a:xfrm>
          <a:prstGeom prst="roundRect">
            <a:avLst>
              <a:gd name="adj" fmla="val 0"/>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14" name="Rounded Rectangle 13"/>
          <p:cNvSpPr/>
          <p:nvPr/>
        </p:nvSpPr>
        <p:spPr>
          <a:xfrm>
            <a:off x="598039" y="3283329"/>
            <a:ext cx="1352060" cy="283909"/>
          </a:xfrm>
          <a:prstGeom prst="roundRect">
            <a:avLst>
              <a:gd name="adj" fmla="val 0"/>
            </a:avLst>
          </a:prstGeom>
          <a:solidFill>
            <a:srgbClr val="00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598041" y="3293369"/>
            <a:ext cx="1352060" cy="258165"/>
          </a:xfrm>
          <a:prstGeom prst="rect">
            <a:avLst/>
          </a:prstGeom>
          <a:noFill/>
        </p:spPr>
        <p:txBody>
          <a:bodyPr wrap="square" lIns="18271" tIns="54813" rIns="18271" anchor="ctr">
            <a:spAutoFit/>
          </a:bodyPr>
          <a:lstStyle/>
          <a:p>
            <a:pPr algn="ctr">
              <a:spcAft>
                <a:spcPts val="0"/>
              </a:spcAft>
            </a:pPr>
            <a:r>
              <a:rPr sz="1020" b="1" dirty="0" err="1">
                <a:solidFill>
                  <a:srgbClr val="FFFFFF"/>
                </a:solidFill>
                <a:latin typeface="华文黑体_易方达" pitchFamily="2" charset="-122"/>
              </a:rPr>
              <a:t>EWork全链路治理</a:t>
            </a:r>
            <a:endParaRPr sz="1020" b="1" dirty="0">
              <a:solidFill>
                <a:srgbClr val="FFFFFF"/>
              </a:solidFill>
              <a:latin typeface="华文黑体_易方达" pitchFamily="2" charset="-122"/>
            </a:endParaRPr>
          </a:p>
        </p:txBody>
      </p:sp>
      <p:sp>
        <p:nvSpPr>
          <p:cNvPr id="16" name="TextBox 15"/>
          <p:cNvSpPr txBox="1"/>
          <p:nvPr/>
        </p:nvSpPr>
        <p:spPr>
          <a:xfrm>
            <a:off x="2205894" y="3265255"/>
            <a:ext cx="6440557" cy="255403"/>
          </a:xfrm>
          <a:prstGeom prst="rect">
            <a:avLst/>
          </a:prstGeom>
          <a:noFill/>
        </p:spPr>
        <p:txBody>
          <a:bodyPr wrap="square" lIns="9136" tIns="54813" rIns="9136" anchor="ctr">
            <a:spAutoFit/>
          </a:bodyPr>
          <a:lstStyle/>
          <a:p>
            <a:pPr>
              <a:spcAft>
                <a:spcPts val="0"/>
              </a:spcAft>
            </a:pPr>
            <a:r>
              <a:rPr sz="1000" dirty="0" err="1">
                <a:solidFill>
                  <a:srgbClr val="464646"/>
                </a:solidFill>
                <a:latin typeface="华文黑体_易方达" pitchFamily="2" charset="-122"/>
                <a:ea typeface="华文黑体_易方达" pitchFamily="2" charset="-122"/>
              </a:rPr>
              <a:t>围绕治理前置、Skill引擎、闭环分发形成“准入把关</a:t>
            </a:r>
            <a:r>
              <a:rPr sz="1000" dirty="0">
                <a:solidFill>
                  <a:srgbClr val="464646"/>
                </a:solidFill>
                <a:latin typeface="华文黑体_易方达" pitchFamily="2" charset="-122"/>
                <a:ea typeface="华文黑体_易方达" pitchFamily="2" charset="-122"/>
              </a:rPr>
              <a:t> - </a:t>
            </a:r>
            <a:r>
              <a:rPr sz="1000" dirty="0" err="1">
                <a:solidFill>
                  <a:srgbClr val="464646"/>
                </a:solidFill>
                <a:latin typeface="华文黑体_易方达" pitchFamily="2" charset="-122"/>
                <a:ea typeface="华文黑体_易方达" pitchFamily="2" charset="-122"/>
              </a:rPr>
              <a:t>多维解析</a:t>
            </a:r>
            <a:r>
              <a:rPr sz="1000" dirty="0">
                <a:solidFill>
                  <a:srgbClr val="464646"/>
                </a:solidFill>
                <a:latin typeface="华文黑体_易方达" pitchFamily="2" charset="-122"/>
                <a:ea typeface="华文黑体_易方达" pitchFamily="2" charset="-122"/>
              </a:rPr>
              <a:t> - </a:t>
            </a:r>
            <a:r>
              <a:rPr sz="1000" dirty="0" err="1">
                <a:solidFill>
                  <a:srgbClr val="464646"/>
                </a:solidFill>
                <a:latin typeface="华文黑体_易方达" pitchFamily="2" charset="-122"/>
                <a:ea typeface="华文黑体_易方达" pitchFamily="2" charset="-122"/>
              </a:rPr>
              <a:t>底座调阅</a:t>
            </a:r>
            <a:r>
              <a:rPr sz="1000" dirty="0">
                <a:solidFill>
                  <a:srgbClr val="464646"/>
                </a:solidFill>
                <a:latin typeface="华文黑体_易方达" pitchFamily="2" charset="-122"/>
                <a:ea typeface="华文黑体_易方达" pitchFamily="2" charset="-122"/>
              </a:rPr>
              <a:t> - </a:t>
            </a:r>
            <a:r>
              <a:rPr sz="1000" dirty="0" err="1">
                <a:solidFill>
                  <a:srgbClr val="464646"/>
                </a:solidFill>
                <a:latin typeface="华文黑体_易方达" pitchFamily="2" charset="-122"/>
                <a:ea typeface="华文黑体_易方达" pitchFamily="2" charset="-122"/>
              </a:rPr>
              <a:t>研报智答</a:t>
            </a:r>
            <a:r>
              <a:rPr sz="1000" dirty="0">
                <a:solidFill>
                  <a:srgbClr val="464646"/>
                </a:solidFill>
                <a:latin typeface="华文黑体_易方达" pitchFamily="2" charset="-122"/>
                <a:ea typeface="华文黑体_易方达" pitchFamily="2" charset="-122"/>
              </a:rPr>
              <a:t> - </a:t>
            </a:r>
            <a:r>
              <a:rPr sz="1000" dirty="0" err="1">
                <a:solidFill>
                  <a:srgbClr val="464646"/>
                </a:solidFill>
                <a:latin typeface="华文黑体_易方达" pitchFamily="2" charset="-122"/>
                <a:ea typeface="华文黑体_易方达" pitchFamily="2" charset="-122"/>
              </a:rPr>
              <a:t>信息分发”闭环</a:t>
            </a:r>
            <a:r>
              <a:rPr sz="1000" dirty="0">
                <a:solidFill>
                  <a:srgbClr val="464646"/>
                </a:solidFill>
                <a:latin typeface="华文黑体_易方达" pitchFamily="2" charset="-122"/>
                <a:ea typeface="华文黑体_易方达" pitchFamily="2" charset="-122"/>
              </a:rPr>
              <a:t>。</a:t>
            </a:r>
          </a:p>
        </p:txBody>
      </p:sp>
      <p:sp>
        <p:nvSpPr>
          <p:cNvPr id="17" name="Rounded Rectangle 16"/>
          <p:cNvSpPr/>
          <p:nvPr/>
        </p:nvSpPr>
        <p:spPr>
          <a:xfrm>
            <a:off x="1401966" y="3808202"/>
            <a:ext cx="1096265" cy="328879"/>
          </a:xfrm>
          <a:prstGeom prst="roundRect">
            <a:avLst>
              <a:gd name="adj" fmla="val 0"/>
            </a:avLst>
          </a:prstGeom>
          <a:solidFill>
            <a:srgbClr val="1EB9E1"/>
          </a:solidFill>
          <a:ln>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0"/>
              </a:spcAft>
            </a:pPr>
            <a:r>
              <a:rPr sz="980" b="1">
                <a:solidFill>
                  <a:srgbClr val="FFFFFF"/>
                </a:solidFill>
                <a:latin typeface="华文黑体_易方达" pitchFamily="2" charset="-122"/>
              </a:rPr>
              <a:t>准入检察官</a:t>
            </a:r>
          </a:p>
        </p:txBody>
      </p:sp>
      <p:sp>
        <p:nvSpPr>
          <p:cNvPr id="18" name="Rounded Rectangle 17"/>
          <p:cNvSpPr/>
          <p:nvPr/>
        </p:nvSpPr>
        <p:spPr>
          <a:xfrm>
            <a:off x="2754027" y="3808202"/>
            <a:ext cx="1096265" cy="328879"/>
          </a:xfrm>
          <a:prstGeom prst="roundRect">
            <a:avLst>
              <a:gd name="adj" fmla="val 0"/>
            </a:avLst>
          </a:prstGeom>
          <a:solidFill>
            <a:srgbClr val="1EB9E1"/>
          </a:solidFill>
          <a:ln>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0"/>
              </a:spcAft>
            </a:pPr>
            <a:r>
              <a:rPr sz="980" b="1">
                <a:solidFill>
                  <a:srgbClr val="FFFFFF"/>
                </a:solidFill>
                <a:latin typeface="华文黑体_易方达" pitchFamily="2" charset="-122"/>
              </a:rPr>
              <a:t>多维解析</a:t>
            </a:r>
          </a:p>
        </p:txBody>
      </p:sp>
      <p:sp>
        <p:nvSpPr>
          <p:cNvPr id="19" name="Rounded Rectangle 18"/>
          <p:cNvSpPr/>
          <p:nvPr/>
        </p:nvSpPr>
        <p:spPr>
          <a:xfrm>
            <a:off x="4106087" y="3808202"/>
            <a:ext cx="1096265" cy="328879"/>
          </a:xfrm>
          <a:prstGeom prst="roundRect">
            <a:avLst>
              <a:gd name="adj" fmla="val 0"/>
            </a:avLst>
          </a:prstGeom>
          <a:solidFill>
            <a:srgbClr val="005096"/>
          </a:solidFill>
          <a:ln>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0"/>
              </a:spcAft>
            </a:pPr>
            <a:r>
              <a:rPr sz="980" b="1">
                <a:solidFill>
                  <a:srgbClr val="FFFFFF"/>
                </a:solidFill>
                <a:latin typeface="华文黑体_易方达" pitchFamily="2" charset="-122"/>
              </a:rPr>
              <a:t>底座调阅</a:t>
            </a:r>
          </a:p>
        </p:txBody>
      </p:sp>
      <p:sp>
        <p:nvSpPr>
          <p:cNvPr id="20" name="Rounded Rectangle 19"/>
          <p:cNvSpPr/>
          <p:nvPr/>
        </p:nvSpPr>
        <p:spPr>
          <a:xfrm>
            <a:off x="5458147" y="3808202"/>
            <a:ext cx="1096265" cy="328879"/>
          </a:xfrm>
          <a:prstGeom prst="roundRect">
            <a:avLst>
              <a:gd name="adj" fmla="val 0"/>
            </a:avLst>
          </a:prstGeom>
          <a:solidFill>
            <a:srgbClr val="E8834E"/>
          </a:solidFill>
          <a:ln>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0"/>
              </a:spcAft>
            </a:pPr>
            <a:r>
              <a:rPr sz="980" b="1">
                <a:solidFill>
                  <a:srgbClr val="FFFFFF"/>
                </a:solidFill>
                <a:latin typeface="华文黑体_易方达" pitchFamily="2" charset="-122"/>
              </a:rPr>
              <a:t>研报智答</a:t>
            </a:r>
          </a:p>
        </p:txBody>
      </p:sp>
      <p:sp>
        <p:nvSpPr>
          <p:cNvPr id="21" name="Rounded Rectangle 20"/>
          <p:cNvSpPr/>
          <p:nvPr/>
        </p:nvSpPr>
        <p:spPr>
          <a:xfrm>
            <a:off x="6810207" y="3808202"/>
            <a:ext cx="1096265" cy="328879"/>
          </a:xfrm>
          <a:prstGeom prst="roundRect">
            <a:avLst>
              <a:gd name="adj" fmla="val 0"/>
            </a:avLst>
          </a:prstGeom>
          <a:solidFill>
            <a:srgbClr val="50AE5C"/>
          </a:solidFill>
          <a:ln>
            <a:noFill/>
          </a:ln>
        </p:spPr>
        <p:style>
          <a:lnRef idx="1">
            <a:schemeClr val="accent1"/>
          </a:lnRef>
          <a:fillRef idx="3">
            <a:schemeClr val="accent1"/>
          </a:fillRef>
          <a:effectRef idx="2">
            <a:schemeClr val="accent1"/>
          </a:effectRef>
          <a:fontRef idx="minor">
            <a:schemeClr val="lt1"/>
          </a:fontRef>
        </p:style>
        <p:txBody>
          <a:bodyPr wrap="square" lIns="9136" tIns="54813" rIns="9136" rtlCol="0" anchor="ctr"/>
          <a:lstStyle/>
          <a:p>
            <a:pPr algn="ctr">
              <a:spcAft>
                <a:spcPts val="0"/>
              </a:spcAft>
            </a:pPr>
            <a:r>
              <a:rPr sz="980" b="1">
                <a:solidFill>
                  <a:srgbClr val="FFFFFF"/>
                </a:solidFill>
                <a:latin typeface="华文黑体_易方达" pitchFamily="2" charset="-122"/>
              </a:rPr>
              <a:t>信息分发</a:t>
            </a:r>
          </a:p>
        </p:txBody>
      </p:sp>
      <p:sp>
        <p:nvSpPr>
          <p:cNvPr id="22" name="TextBox 21"/>
          <p:cNvSpPr txBox="1"/>
          <p:nvPr/>
        </p:nvSpPr>
        <p:spPr>
          <a:xfrm>
            <a:off x="2532000" y="3816612"/>
            <a:ext cx="164440" cy="331963"/>
          </a:xfrm>
          <a:prstGeom prst="rect">
            <a:avLst/>
          </a:prstGeom>
          <a:noFill/>
        </p:spPr>
        <p:txBody>
          <a:bodyPr wrap="square" lIns="0" tIns="54813" rIns="0" anchor="ctr">
            <a:spAutoFit/>
          </a:bodyPr>
          <a:lstStyle/>
          <a:p>
            <a:pPr algn="ctr">
              <a:spcAft>
                <a:spcPts val="0"/>
              </a:spcAft>
            </a:pPr>
            <a:r>
              <a:rPr sz="1500" b="1">
                <a:solidFill>
                  <a:srgbClr val="005096"/>
                </a:solidFill>
                <a:latin typeface="华文黑体_易方达" pitchFamily="2" charset="-122"/>
              </a:rPr>
              <a:t>→</a:t>
            </a:r>
          </a:p>
        </p:txBody>
      </p:sp>
      <p:sp>
        <p:nvSpPr>
          <p:cNvPr id="23" name="TextBox 22"/>
          <p:cNvSpPr txBox="1"/>
          <p:nvPr/>
        </p:nvSpPr>
        <p:spPr>
          <a:xfrm>
            <a:off x="3884060" y="3816612"/>
            <a:ext cx="164440" cy="331963"/>
          </a:xfrm>
          <a:prstGeom prst="rect">
            <a:avLst/>
          </a:prstGeom>
          <a:noFill/>
        </p:spPr>
        <p:txBody>
          <a:bodyPr wrap="square" lIns="0" tIns="54813" rIns="0" anchor="ctr">
            <a:spAutoFit/>
          </a:bodyPr>
          <a:lstStyle/>
          <a:p>
            <a:pPr algn="ctr">
              <a:spcAft>
                <a:spcPts val="0"/>
              </a:spcAft>
            </a:pPr>
            <a:r>
              <a:rPr sz="1500" b="1">
                <a:solidFill>
                  <a:srgbClr val="005096"/>
                </a:solidFill>
                <a:latin typeface="华文黑体_易方达" pitchFamily="2" charset="-122"/>
              </a:rPr>
              <a:t>→</a:t>
            </a:r>
          </a:p>
        </p:txBody>
      </p:sp>
      <p:sp>
        <p:nvSpPr>
          <p:cNvPr id="24" name="TextBox 23"/>
          <p:cNvSpPr txBox="1"/>
          <p:nvPr/>
        </p:nvSpPr>
        <p:spPr>
          <a:xfrm>
            <a:off x="5236121" y="3816612"/>
            <a:ext cx="164440" cy="331963"/>
          </a:xfrm>
          <a:prstGeom prst="rect">
            <a:avLst/>
          </a:prstGeom>
          <a:noFill/>
        </p:spPr>
        <p:txBody>
          <a:bodyPr wrap="square" lIns="0" tIns="54813" rIns="0" anchor="ctr">
            <a:spAutoFit/>
          </a:bodyPr>
          <a:lstStyle/>
          <a:p>
            <a:pPr algn="ctr">
              <a:spcAft>
                <a:spcPts val="0"/>
              </a:spcAft>
            </a:pPr>
            <a:r>
              <a:rPr sz="1500" b="1">
                <a:solidFill>
                  <a:srgbClr val="005096"/>
                </a:solidFill>
                <a:latin typeface="华文黑体_易方达" pitchFamily="2" charset="-122"/>
              </a:rPr>
              <a:t>→</a:t>
            </a:r>
          </a:p>
        </p:txBody>
      </p:sp>
      <p:sp>
        <p:nvSpPr>
          <p:cNvPr id="25" name="TextBox 24"/>
          <p:cNvSpPr txBox="1"/>
          <p:nvPr/>
        </p:nvSpPr>
        <p:spPr>
          <a:xfrm>
            <a:off x="6588181" y="3816612"/>
            <a:ext cx="164440" cy="331963"/>
          </a:xfrm>
          <a:prstGeom prst="rect">
            <a:avLst/>
          </a:prstGeom>
          <a:noFill/>
        </p:spPr>
        <p:txBody>
          <a:bodyPr wrap="square" lIns="0" tIns="54813" rIns="0" anchor="ctr">
            <a:spAutoFit/>
          </a:bodyPr>
          <a:lstStyle/>
          <a:p>
            <a:pPr algn="ctr">
              <a:spcAft>
                <a:spcPts val="0"/>
              </a:spcAft>
            </a:pPr>
            <a:r>
              <a:rPr sz="1500" b="1">
                <a:solidFill>
                  <a:srgbClr val="005096"/>
                </a:solidFill>
                <a:latin typeface="华文黑体_易方达" pitchFamily="2" charset="-122"/>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模型层：整合大小模型，实现推理与场景匹配</a:t>
            </a:r>
          </a:p>
        </p:txBody>
      </p:sp>
      <p:sp>
        <p:nvSpPr>
          <p:cNvPr id="11" name="AutoShape 5"/>
          <p:cNvSpPr/>
          <p:nvPr/>
        </p:nvSpPr>
        <p:spPr>
          <a:xfrm>
            <a:off x="2188381" y="1267160"/>
            <a:ext cx="1544270" cy="3042373"/>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3" name="AutoShape 7"/>
          <p:cNvSpPr/>
          <p:nvPr/>
        </p:nvSpPr>
        <p:spPr>
          <a:xfrm>
            <a:off x="3839955" y="1267160"/>
            <a:ext cx="1544270" cy="3042373"/>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AutoShape 9"/>
          <p:cNvSpPr/>
          <p:nvPr/>
        </p:nvSpPr>
        <p:spPr>
          <a:xfrm>
            <a:off x="5487747" y="1267160"/>
            <a:ext cx="1544270" cy="3042373"/>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7" name="AutoShape 11"/>
          <p:cNvSpPr/>
          <p:nvPr/>
        </p:nvSpPr>
        <p:spPr>
          <a:xfrm>
            <a:off x="7128377" y="1267160"/>
            <a:ext cx="1544270" cy="3042373"/>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2322445" y="1496701"/>
            <a:ext cx="1629478" cy="247964"/>
          </a:xfrm>
          <a:prstGeom prst="rect">
            <a:avLst/>
          </a:prstGeom>
          <a:solidFill>
            <a:srgbClr val="000000">
              <a:alpha val="0"/>
            </a:srgbClr>
          </a:solidFill>
        </p:spPr>
        <p:txBody>
          <a:bodyPr lIns="0" tIns="0" rIns="0" bIns="0" rtlCol="0" anchor="ctr"/>
          <a:lstStyle/>
          <a:p>
            <a:pPr indent="0" algn="l">
              <a:lnSpc>
                <a:spcPct val="120000"/>
              </a:lnSpc>
              <a:defRPr/>
            </a:pPr>
            <a:r>
              <a:rPr lang="en-US" sz="1400" b="1">
                <a:solidFill>
                  <a:schemeClr val="accent1"/>
                </a:solidFill>
                <a:latin typeface="+mj-ea"/>
                <a:ea typeface="+mj-ea"/>
              </a:rPr>
              <a:t>通用基础大模型</a:t>
            </a:r>
            <a:endParaRPr lang="en-US" sz="1400">
              <a:solidFill>
                <a:schemeClr val="accent1"/>
              </a:solidFill>
              <a:latin typeface="+mj-ea"/>
              <a:ea typeface="+mj-ea"/>
            </a:endParaRPr>
          </a:p>
        </p:txBody>
      </p:sp>
      <p:sp>
        <p:nvSpPr>
          <p:cNvPr id="20" name="TextBox 15"/>
          <p:cNvSpPr txBox="1"/>
          <p:nvPr/>
        </p:nvSpPr>
        <p:spPr>
          <a:xfrm>
            <a:off x="4007403" y="1496701"/>
            <a:ext cx="1629478" cy="247964"/>
          </a:xfrm>
          <a:prstGeom prst="rect">
            <a:avLst/>
          </a:prstGeom>
          <a:solidFill>
            <a:srgbClr val="000000">
              <a:alpha val="0"/>
            </a:srgbClr>
          </a:solidFill>
        </p:spPr>
        <p:txBody>
          <a:bodyPr lIns="0" tIns="0" rIns="0" bIns="0" rtlCol="0" anchor="ctr"/>
          <a:lstStyle/>
          <a:p>
            <a:pPr indent="0" algn="l">
              <a:lnSpc>
                <a:spcPct val="120000"/>
              </a:lnSpc>
              <a:defRPr/>
            </a:pPr>
            <a:r>
              <a:rPr lang="en-US" sz="1400" b="1">
                <a:solidFill>
                  <a:schemeClr val="accent1"/>
                </a:solidFill>
                <a:latin typeface="+mj-ea"/>
                <a:ea typeface="+mj-ea"/>
              </a:rPr>
              <a:t>金融垂直小模型</a:t>
            </a:r>
            <a:endParaRPr lang="en-US" sz="1400">
              <a:solidFill>
                <a:schemeClr val="accent1"/>
              </a:solidFill>
              <a:latin typeface="+mj-ea"/>
              <a:ea typeface="+mj-ea"/>
            </a:endParaRPr>
          </a:p>
        </p:txBody>
      </p:sp>
      <p:sp>
        <p:nvSpPr>
          <p:cNvPr id="21" name="TextBox 16"/>
          <p:cNvSpPr txBox="1"/>
          <p:nvPr/>
        </p:nvSpPr>
        <p:spPr>
          <a:xfrm>
            <a:off x="5740065" y="1496701"/>
            <a:ext cx="1629478" cy="247964"/>
          </a:xfrm>
          <a:prstGeom prst="rect">
            <a:avLst/>
          </a:prstGeom>
          <a:solidFill>
            <a:srgbClr val="000000">
              <a:alpha val="0"/>
            </a:srgbClr>
          </a:solidFill>
        </p:spPr>
        <p:txBody>
          <a:bodyPr lIns="0" tIns="0" rIns="0" bIns="0" rtlCol="0" anchor="ctr"/>
          <a:lstStyle/>
          <a:p>
            <a:pPr indent="0" algn="l">
              <a:lnSpc>
                <a:spcPct val="120000"/>
              </a:lnSpc>
              <a:defRPr/>
            </a:pPr>
            <a:r>
              <a:rPr lang="en-US" sz="1400" b="1">
                <a:solidFill>
                  <a:schemeClr val="accent1"/>
                </a:solidFill>
                <a:latin typeface="+mj-ea"/>
                <a:ea typeface="+mj-ea"/>
              </a:rPr>
              <a:t>模型协同机制</a:t>
            </a:r>
            <a:endParaRPr lang="en-US" sz="1400">
              <a:solidFill>
                <a:schemeClr val="accent1"/>
              </a:solidFill>
              <a:latin typeface="+mj-ea"/>
              <a:ea typeface="+mj-ea"/>
            </a:endParaRPr>
          </a:p>
        </p:txBody>
      </p:sp>
      <p:sp>
        <p:nvSpPr>
          <p:cNvPr id="22" name="TextBox 17"/>
          <p:cNvSpPr txBox="1"/>
          <p:nvPr/>
        </p:nvSpPr>
        <p:spPr>
          <a:xfrm>
            <a:off x="7369543" y="1496701"/>
            <a:ext cx="1629478" cy="247964"/>
          </a:xfrm>
          <a:prstGeom prst="rect">
            <a:avLst/>
          </a:prstGeom>
          <a:solidFill>
            <a:srgbClr val="000000">
              <a:alpha val="0"/>
            </a:srgbClr>
          </a:solidFill>
        </p:spPr>
        <p:txBody>
          <a:bodyPr lIns="0" tIns="0" rIns="0" bIns="0" rtlCol="0" anchor="ctr"/>
          <a:lstStyle/>
          <a:p>
            <a:pPr indent="0" algn="l">
              <a:lnSpc>
                <a:spcPct val="120000"/>
              </a:lnSpc>
              <a:defRPr/>
            </a:pPr>
            <a:r>
              <a:rPr lang="en-US" sz="1400" b="1">
                <a:solidFill>
                  <a:schemeClr val="accent1"/>
                </a:solidFill>
                <a:latin typeface="+mj-ea"/>
                <a:ea typeface="+mj-ea"/>
              </a:rPr>
              <a:t>持续迭代优化</a:t>
            </a:r>
            <a:endParaRPr lang="en-US" sz="1400">
              <a:solidFill>
                <a:schemeClr val="accent1"/>
              </a:solidFill>
              <a:latin typeface="+mj-ea"/>
              <a:ea typeface="+mj-ea"/>
            </a:endParaRPr>
          </a:p>
        </p:txBody>
      </p:sp>
      <p:sp>
        <p:nvSpPr>
          <p:cNvPr id="23" name="TextBox 18"/>
          <p:cNvSpPr txBox="1"/>
          <p:nvPr/>
        </p:nvSpPr>
        <p:spPr>
          <a:xfrm>
            <a:off x="2353430" y="2207487"/>
            <a:ext cx="1160151" cy="1261074"/>
          </a:xfrm>
          <a:prstGeom prst="rect">
            <a:avLst/>
          </a:prstGeom>
          <a:solidFill>
            <a:srgbClr val="000000">
              <a:alpha val="0"/>
            </a:srgbClr>
          </a:solidFill>
        </p:spPr>
        <p:txBody>
          <a:bodyPr lIns="0" tIns="0" rIns="0" bIns="0" rtlCol="0" anchor="ctr"/>
          <a:lstStyle/>
          <a:p>
            <a:pPr indent="0" algn="just">
              <a:lnSpc>
                <a:spcPct val="150000"/>
              </a:lnSpc>
              <a:defRPr/>
            </a:pPr>
            <a:r>
              <a:rPr lang="en-US" sz="1000">
                <a:solidFill>
                  <a:schemeClr val="accent4"/>
                </a:solidFill>
                <a:latin typeface="+mj-ea"/>
                <a:ea typeface="+mj-ea"/>
              </a:rPr>
              <a:t>引入GLM等通用大模型作为核心推理引擎，提供强大的语言理解、任务规划与代码生成能力，支持复杂场景下的高质量推理与决策。</a:t>
            </a:r>
            <a:endParaRPr lang="en-US" sz="500">
              <a:solidFill>
                <a:schemeClr val="accent4"/>
              </a:solidFill>
              <a:latin typeface="+mj-ea"/>
              <a:ea typeface="+mj-ea"/>
            </a:endParaRPr>
          </a:p>
        </p:txBody>
      </p:sp>
      <p:sp>
        <p:nvSpPr>
          <p:cNvPr id="24" name="TextBox 19"/>
          <p:cNvSpPr txBox="1"/>
          <p:nvPr/>
        </p:nvSpPr>
        <p:spPr>
          <a:xfrm>
            <a:off x="4007403" y="2207487"/>
            <a:ext cx="1235127" cy="1261074"/>
          </a:xfrm>
          <a:prstGeom prst="rect">
            <a:avLst/>
          </a:prstGeom>
          <a:solidFill>
            <a:srgbClr val="000000">
              <a:alpha val="0"/>
            </a:srgbClr>
          </a:solidFill>
        </p:spPr>
        <p:txBody>
          <a:bodyPr lIns="0" tIns="0" rIns="0" bIns="0" rtlCol="0" anchor="ctr"/>
          <a:lstStyle/>
          <a:p>
            <a:pPr indent="0" algn="just">
              <a:lnSpc>
                <a:spcPct val="150000"/>
              </a:lnSpc>
              <a:defRPr/>
            </a:pPr>
            <a:r>
              <a:rPr lang="en-US" sz="1000">
                <a:solidFill>
                  <a:schemeClr val="accent4"/>
                </a:solidFill>
                <a:latin typeface="+mj-ea"/>
                <a:ea typeface="+mj-ea"/>
              </a:rPr>
              <a:t>针对投资分析、风险评估、合规审查等场景训练专业小模型，提升领域任务的准确性与效率，降低通用模型在专业任务上的盲区。</a:t>
            </a:r>
            <a:endParaRPr lang="en-US" sz="500">
              <a:solidFill>
                <a:schemeClr val="accent4"/>
              </a:solidFill>
              <a:latin typeface="+mj-ea"/>
              <a:ea typeface="+mj-ea"/>
            </a:endParaRPr>
          </a:p>
        </p:txBody>
      </p:sp>
      <p:sp>
        <p:nvSpPr>
          <p:cNvPr id="25" name="TextBox 20"/>
          <p:cNvSpPr txBox="1"/>
          <p:nvPr/>
        </p:nvSpPr>
        <p:spPr>
          <a:xfrm>
            <a:off x="5750319" y="2312382"/>
            <a:ext cx="1140003" cy="1048533"/>
          </a:xfrm>
          <a:prstGeom prst="rect">
            <a:avLst/>
          </a:prstGeom>
          <a:solidFill>
            <a:srgbClr val="000000">
              <a:alpha val="0"/>
            </a:srgbClr>
          </a:solidFill>
        </p:spPr>
        <p:txBody>
          <a:bodyPr lIns="0" tIns="0" rIns="0" bIns="0" rtlCol="0" anchor="ctr"/>
          <a:lstStyle/>
          <a:p>
            <a:pPr indent="0" algn="just">
              <a:lnSpc>
                <a:spcPct val="150000"/>
              </a:lnSpc>
              <a:defRPr/>
            </a:pPr>
            <a:r>
              <a:rPr lang="en-US" sz="1000">
                <a:solidFill>
                  <a:schemeClr val="accent4"/>
                </a:solidFill>
                <a:latin typeface="+mj-ea"/>
                <a:ea typeface="+mj-ea"/>
              </a:rPr>
              <a:t>建立大小模型协同工作的智能路由机制，根据任务复杂度与成本动态选择最优模型组合，实现效能与成本的平衡与最大化。</a:t>
            </a:r>
            <a:endParaRPr lang="en-US" sz="500">
              <a:solidFill>
                <a:schemeClr val="accent4"/>
              </a:solidFill>
              <a:latin typeface="+mj-ea"/>
              <a:ea typeface="+mj-ea"/>
            </a:endParaRPr>
          </a:p>
        </p:txBody>
      </p:sp>
      <p:sp>
        <p:nvSpPr>
          <p:cNvPr id="26" name="TextBox 21"/>
          <p:cNvSpPr txBox="1"/>
          <p:nvPr/>
        </p:nvSpPr>
        <p:spPr>
          <a:xfrm>
            <a:off x="7383082" y="2305086"/>
            <a:ext cx="1131910" cy="1048533"/>
          </a:xfrm>
          <a:prstGeom prst="rect">
            <a:avLst/>
          </a:prstGeom>
          <a:solidFill>
            <a:srgbClr val="000000">
              <a:alpha val="0"/>
            </a:srgbClr>
          </a:solidFill>
        </p:spPr>
        <p:txBody>
          <a:bodyPr lIns="0" tIns="0" rIns="0" bIns="0" rtlCol="0" anchor="ctr"/>
          <a:lstStyle/>
          <a:p>
            <a:pPr indent="0" algn="just">
              <a:lnSpc>
                <a:spcPct val="150000"/>
              </a:lnSpc>
              <a:defRPr/>
            </a:pPr>
            <a:r>
              <a:rPr lang="en-US" sz="1000">
                <a:solidFill>
                  <a:schemeClr val="accent4"/>
                </a:solidFill>
                <a:latin typeface="+mj-ea"/>
                <a:ea typeface="+mj-ea"/>
              </a:rPr>
              <a:t>建立模型性能监控与反馈机制，通过真实业务数据持续fine-tuning，不断提升模型的业务适配度与稳定性，保障长期效果。</a:t>
            </a:r>
            <a:endParaRPr lang="en-US" sz="500">
              <a:solidFill>
                <a:schemeClr val="accent4"/>
              </a:solidFill>
              <a:latin typeface="+mj-ea"/>
              <a:ea typeface="+mj-ea"/>
            </a:endParaRPr>
          </a:p>
        </p:txBody>
      </p:sp>
      <p:sp>
        <p:nvSpPr>
          <p:cNvPr id="34" name="矩形 33"/>
          <p:cNvSpPr/>
          <p:nvPr/>
        </p:nvSpPr>
        <p:spPr bwMode="auto">
          <a:xfrm>
            <a:off x="3839954" y="1267159"/>
            <a:ext cx="1544271" cy="62867"/>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6" name="矩形 35"/>
          <p:cNvSpPr/>
          <p:nvPr/>
        </p:nvSpPr>
        <p:spPr bwMode="auto">
          <a:xfrm>
            <a:off x="2194006" y="1267159"/>
            <a:ext cx="1544271" cy="62867"/>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7" name="矩形 36"/>
          <p:cNvSpPr/>
          <p:nvPr/>
        </p:nvSpPr>
        <p:spPr bwMode="auto">
          <a:xfrm>
            <a:off x="5482121" y="1267159"/>
            <a:ext cx="1544271" cy="62867"/>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8" name="矩形 37"/>
          <p:cNvSpPr/>
          <p:nvPr/>
        </p:nvSpPr>
        <p:spPr bwMode="auto">
          <a:xfrm>
            <a:off x="7135441" y="1267159"/>
            <a:ext cx="1544271" cy="62867"/>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8" name="矩形 17"/>
          <p:cNvSpPr/>
          <p:nvPr/>
        </p:nvSpPr>
        <p:spPr bwMode="auto">
          <a:xfrm>
            <a:off x="283571" y="1258643"/>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7" name="矩形 26"/>
          <p:cNvSpPr/>
          <p:nvPr/>
        </p:nvSpPr>
        <p:spPr bwMode="auto">
          <a:xfrm>
            <a:off x="283571" y="18894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8" name="矩形 27"/>
          <p:cNvSpPr/>
          <p:nvPr/>
        </p:nvSpPr>
        <p:spPr bwMode="auto">
          <a:xfrm>
            <a:off x="283571" y="2525388"/>
            <a:ext cx="1729675" cy="522854"/>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29" name="矩形 28"/>
          <p:cNvSpPr/>
          <p:nvPr/>
        </p:nvSpPr>
        <p:spPr bwMode="auto">
          <a:xfrm>
            <a:off x="283571" y="31650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0" name="矩形 29"/>
          <p:cNvSpPr/>
          <p:nvPr/>
        </p:nvSpPr>
        <p:spPr bwMode="auto">
          <a:xfrm>
            <a:off x="283571" y="3786679"/>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1" name="TextBox 22"/>
          <p:cNvSpPr txBox="1"/>
          <p:nvPr/>
        </p:nvSpPr>
        <p:spPr>
          <a:xfrm>
            <a:off x="632879" y="3944472"/>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算力层</a:t>
            </a:r>
            <a:endParaRPr lang="en-US" sz="600">
              <a:solidFill>
                <a:schemeClr val="bg1"/>
              </a:solidFill>
              <a:latin typeface="+mj-ea"/>
              <a:ea typeface="+mj-ea"/>
            </a:endParaRPr>
          </a:p>
        </p:txBody>
      </p:sp>
      <p:sp>
        <p:nvSpPr>
          <p:cNvPr id="32" name="TextBox 22"/>
          <p:cNvSpPr txBox="1"/>
          <p:nvPr/>
        </p:nvSpPr>
        <p:spPr>
          <a:xfrm>
            <a:off x="634402" y="2043401"/>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架构层</a:t>
            </a:r>
            <a:endParaRPr lang="en-US" sz="600">
              <a:solidFill>
                <a:schemeClr val="bg1"/>
              </a:solidFill>
              <a:latin typeface="+mj-ea"/>
              <a:ea typeface="+mj-ea"/>
            </a:endParaRPr>
          </a:p>
        </p:txBody>
      </p:sp>
      <p:sp>
        <p:nvSpPr>
          <p:cNvPr id="33" name="TextBox 22"/>
          <p:cNvSpPr txBox="1"/>
          <p:nvPr/>
        </p:nvSpPr>
        <p:spPr>
          <a:xfrm>
            <a:off x="634402" y="2680165"/>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模型层</a:t>
            </a:r>
            <a:endParaRPr lang="en-US" sz="600">
              <a:solidFill>
                <a:schemeClr val="bg1"/>
              </a:solidFill>
              <a:latin typeface="+mj-ea"/>
              <a:ea typeface="+mj-ea"/>
            </a:endParaRPr>
          </a:p>
        </p:txBody>
      </p:sp>
      <p:sp>
        <p:nvSpPr>
          <p:cNvPr id="35" name="TextBox 22"/>
          <p:cNvSpPr txBox="1"/>
          <p:nvPr/>
        </p:nvSpPr>
        <p:spPr>
          <a:xfrm>
            <a:off x="634402" y="1412447"/>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技能层</a:t>
            </a:r>
            <a:endParaRPr lang="en-US" sz="600">
              <a:solidFill>
                <a:schemeClr val="bg1"/>
              </a:solidFill>
              <a:latin typeface="+mj-ea"/>
              <a:ea typeface="+mj-ea"/>
            </a:endParaRPr>
          </a:p>
        </p:txBody>
      </p:sp>
      <p:sp>
        <p:nvSpPr>
          <p:cNvPr id="39" name="TextBox 22"/>
          <p:cNvSpPr txBox="1"/>
          <p:nvPr/>
        </p:nvSpPr>
        <p:spPr>
          <a:xfrm>
            <a:off x="632878" y="3319001"/>
            <a:ext cx="1031063" cy="214947"/>
          </a:xfrm>
          <a:prstGeom prst="rect">
            <a:avLst/>
          </a:prstGeom>
          <a:solidFill>
            <a:schemeClr val="accent1">
              <a:lumMod val="60000"/>
              <a:lumOff val="40000"/>
              <a:alpha val="0"/>
            </a:schemeClr>
          </a:solidFill>
        </p:spPr>
        <p:txBody>
          <a:bodyPr lIns="0" tIns="0" rIns="0" bIns="0" rtlCol="0" anchor="t"/>
          <a:lstStyle>
            <a:defPPr>
              <a:defRPr lang="en-US"/>
            </a:defPPr>
            <a:lvl1pPr indent="0" algn="ctr">
              <a:lnSpc>
                <a:spcPct val="120000"/>
              </a:lnSpc>
              <a:defRPr sz="1100">
                <a:solidFill>
                  <a:schemeClr val="bg1"/>
                </a:solidFill>
                <a:latin typeface="+mj-ea"/>
                <a:ea typeface="+mj-ea"/>
              </a:defRPr>
            </a:lvl1pPr>
          </a:lstStyle>
          <a:p>
            <a:r>
              <a:rPr lang="en-US">
                <a:solidFill>
                  <a:schemeClr val="bg2"/>
                </a:solidFill>
              </a:rPr>
              <a:t>数据层</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31706" y="909088"/>
            <a:ext cx="8522579" cy="396920"/>
          </a:xfrm>
          <a:prstGeom prst="rect">
            <a:avLst/>
          </a:prstGeom>
          <a:noFill/>
        </p:spPr>
        <p:txBody>
          <a:bodyPr wrap="square" rtlCol="0">
            <a:spAutoFit/>
          </a:bodyPr>
          <a:lstStyle/>
          <a:p>
            <a:pPr defTabSz="685165" fontAlgn="auto">
              <a:lnSpc>
                <a:spcPct val="150000"/>
              </a:lnSpc>
              <a:spcBef>
                <a:spcPts val="0"/>
              </a:spcBef>
              <a:spcAft>
                <a:spcPts val="0"/>
              </a:spcAft>
              <a:defRPr/>
            </a:pPr>
            <a:r>
              <a:rPr lang="zh-CN" altLang="en-US" sz="1500" dirty="0">
                <a:solidFill>
                  <a:schemeClr val="accent1"/>
                </a:solidFill>
                <a:latin typeface="Arial" charset="0"/>
                <a:ea typeface="华文黑体_易方达" pitchFamily="2" charset="-122"/>
              </a:rPr>
              <a:t>金融场景非结构化数据治理的几大挑战：</a:t>
            </a:r>
            <a:endParaRPr lang="en-US" altLang="zh-CN" sz="1500" dirty="0">
              <a:solidFill>
                <a:schemeClr val="accent1"/>
              </a:solidFill>
              <a:latin typeface="Arial" charset="0"/>
              <a:ea typeface="华文黑体_易方达" pitchFamily="2" charset="-122"/>
            </a:endParaRPr>
          </a:p>
        </p:txBody>
      </p:sp>
      <p:sp>
        <p:nvSpPr>
          <p:cNvPr id="34" name="文本框 33"/>
          <p:cNvSpPr txBox="1"/>
          <p:nvPr/>
        </p:nvSpPr>
        <p:spPr>
          <a:xfrm>
            <a:off x="350648" y="1346459"/>
            <a:ext cx="2601052" cy="824200"/>
          </a:xfrm>
          <a:prstGeom prst="rect">
            <a:avLst/>
          </a:prstGeom>
          <a:noFill/>
        </p:spPr>
        <p:txBody>
          <a:bodyPr wrap="square" rtlCol="0">
            <a:spAutoFit/>
          </a:bodyPr>
          <a:lstStyle/>
          <a:p>
            <a:pPr marL="213995" indent="-213995" defTabSz="685165" fontAlgn="auto">
              <a:lnSpc>
                <a:spcPct val="150000"/>
              </a:lnSpc>
              <a:spcBef>
                <a:spcPts val="0"/>
              </a:spcBef>
              <a:spcAft>
                <a:spcPts val="0"/>
              </a:spcAft>
              <a:buFont typeface="Arial" charset="0"/>
              <a:buChar char="•"/>
              <a:defRPr/>
            </a:pPr>
            <a:r>
              <a:rPr lang="zh-CN" altLang="en-US" sz="1100" dirty="0">
                <a:solidFill>
                  <a:srgbClr val="3C3C3C"/>
                </a:solidFill>
                <a:latin typeface="+mj-ea"/>
                <a:ea typeface="+mj-ea"/>
              </a:rPr>
              <a:t>金融语料中蕴含着丰富的金融实体间的事理与逻辑关系，如何从非结构化文本中挖掘出结构化的图谱？</a:t>
            </a:r>
          </a:p>
        </p:txBody>
      </p:sp>
      <p:pic>
        <p:nvPicPr>
          <p:cNvPr id="1025" name="Picture 1" descr="?code=NThlOTYxMDIwZTRmZmQ4MzI1NGFmODhjNTY0NmM2ZWFfY2o2andDY3NkWEZEMzFIR1NKczR6VXRCSVhDUzIzMEVfVG9rZW46WkJCdWI2UHNWb0tBWmx4NDZ5QWMxSVJsblVoXzE3Njk2MDM3MTY6MTc2OTYwNzMxNl9WN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679" y="2417152"/>
            <a:ext cx="1758399" cy="1082456"/>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
          <p:cNvSpPr/>
          <p:nvPr/>
        </p:nvSpPr>
        <p:spPr bwMode="auto">
          <a:xfrm>
            <a:off x="6384338" y="2338524"/>
            <a:ext cx="2601052" cy="276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17" tIns="34258" rIns="68517" bIns="34258" numCol="1" anchor="ctr" anchorCtr="0" compatLnSpc="1">
            <a:spAutoFit/>
          </a:bodyPr>
          <a:lstStyle/>
          <a:p>
            <a:pPr defTabSz="685165" fontAlgn="auto">
              <a:spcBef>
                <a:spcPts val="0"/>
              </a:spcBef>
              <a:spcAft>
                <a:spcPts val="0"/>
              </a:spcAft>
              <a:defRPr/>
            </a:pPr>
            <a:endParaRPr lang="zh-CN" altLang="en-US" sz="1350">
              <a:solidFill>
                <a:srgbClr val="3C3C3C"/>
              </a:solidFill>
              <a:latin typeface="Arial" charset="0"/>
              <a:ea typeface="华文黑体_易方达" pitchFamily="2" charset="-122"/>
            </a:endParaRPr>
          </a:p>
        </p:txBody>
      </p:sp>
      <p:sp>
        <p:nvSpPr>
          <p:cNvPr id="37" name="文本框 36"/>
          <p:cNvSpPr txBox="1"/>
          <p:nvPr/>
        </p:nvSpPr>
        <p:spPr>
          <a:xfrm>
            <a:off x="785321" y="3676060"/>
            <a:ext cx="1939677" cy="322866"/>
          </a:xfrm>
          <a:prstGeom prst="rect">
            <a:avLst/>
          </a:prstGeom>
          <a:noFill/>
        </p:spPr>
        <p:txBody>
          <a:bodyPr wrap="square" rtlCol="0">
            <a:spAutoFit/>
          </a:bodyPr>
          <a:lstStyle/>
          <a:p>
            <a:pPr defTabSz="685165" fontAlgn="auto">
              <a:spcBef>
                <a:spcPts val="0"/>
              </a:spcBef>
              <a:spcAft>
                <a:spcPts val="0"/>
              </a:spcAft>
              <a:defRPr/>
            </a:pPr>
            <a:r>
              <a:rPr lang="zh-CN" altLang="en-US" sz="1500" b="1" dirty="0">
                <a:solidFill>
                  <a:srgbClr val="3C3C3C"/>
                </a:solidFill>
                <a:latin typeface="华文黑体_易方达" pitchFamily="2" charset="-122"/>
                <a:ea typeface="华文黑体_易方达" pitchFamily="2" charset="-122"/>
              </a:rPr>
              <a:t>语义图谱抽取（</a:t>
            </a:r>
            <a:r>
              <a:rPr lang="en-US" altLang="zh-CN" sz="1500" b="1" dirty="0">
                <a:solidFill>
                  <a:srgbClr val="3C3C3C"/>
                </a:solidFill>
                <a:latin typeface="华文黑体_易方达" pitchFamily="2" charset="-122"/>
                <a:ea typeface="华文黑体_易方达" pitchFamily="2" charset="-122"/>
              </a:rPr>
              <a:t>SGE</a:t>
            </a:r>
            <a:r>
              <a:rPr lang="zh-CN" altLang="en-US" sz="1500" b="1" dirty="0">
                <a:solidFill>
                  <a:srgbClr val="3C3C3C"/>
                </a:solidFill>
                <a:latin typeface="华文黑体_易方达" pitchFamily="2" charset="-122"/>
                <a:ea typeface="华文黑体_易方达" pitchFamily="2" charset="-122"/>
              </a:rPr>
              <a:t>）</a:t>
            </a:r>
          </a:p>
        </p:txBody>
      </p:sp>
      <p:pic>
        <p:nvPicPr>
          <p:cNvPr id="38" name="图片 37"/>
          <p:cNvPicPr>
            <a:picLocks noChangeAspect="1"/>
          </p:cNvPicPr>
          <p:nvPr/>
        </p:nvPicPr>
        <p:blipFill rotWithShape="1">
          <a:blip r:embed="rId4" cstate="print">
            <a:extLst>
              <a:ext uri="{28A0092B-C50C-407E-A947-70E740481C1C}">
                <a14:useLocalDpi xmlns:a14="http://schemas.microsoft.com/office/drawing/2010/main" val="0"/>
              </a:ext>
            </a:extLst>
          </a:blip>
          <a:srcRect l="4718" t="28305" r="3146" b="10412"/>
          <a:stretch>
            <a:fillRect/>
          </a:stretch>
        </p:blipFill>
        <p:spPr>
          <a:xfrm>
            <a:off x="3110809" y="2540811"/>
            <a:ext cx="2679905" cy="972279"/>
          </a:xfrm>
          <a:prstGeom prst="rect">
            <a:avLst/>
          </a:prstGeom>
        </p:spPr>
      </p:pic>
      <p:sp>
        <p:nvSpPr>
          <p:cNvPr id="39" name="文本框 38"/>
          <p:cNvSpPr txBox="1"/>
          <p:nvPr/>
        </p:nvSpPr>
        <p:spPr>
          <a:xfrm>
            <a:off x="3010433" y="1359000"/>
            <a:ext cx="2847305" cy="1078116"/>
          </a:xfrm>
          <a:prstGeom prst="rect">
            <a:avLst/>
          </a:prstGeom>
          <a:noFill/>
        </p:spPr>
        <p:txBody>
          <a:bodyPr wrap="square" rtlCol="0">
            <a:spAutoFit/>
          </a:bodyPr>
          <a:lstStyle/>
          <a:p>
            <a:pPr marL="213995" indent="-213995" defTabSz="685165" fontAlgn="auto">
              <a:lnSpc>
                <a:spcPct val="150000"/>
              </a:lnSpc>
              <a:spcBef>
                <a:spcPts val="0"/>
              </a:spcBef>
              <a:spcAft>
                <a:spcPts val="0"/>
              </a:spcAft>
              <a:buFont typeface="Arial" charset="0"/>
              <a:buChar char="•"/>
              <a:defRPr/>
            </a:pPr>
            <a:r>
              <a:rPr lang="zh-CN" altLang="en-US" sz="1100" dirty="0">
                <a:solidFill>
                  <a:srgbClr val="3C3C3C"/>
                </a:solidFill>
                <a:latin typeface="+mj-ea"/>
                <a:ea typeface="+mj-ea"/>
              </a:rPr>
              <a:t>金融语料中的金融实体，是金融信息检索和数据治理中的重要锚点，如何从金融文本中准确高效地抽取出指定类型的金融实体？</a:t>
            </a:r>
          </a:p>
        </p:txBody>
      </p:sp>
      <p:sp>
        <p:nvSpPr>
          <p:cNvPr id="40" name="文本框 39"/>
          <p:cNvSpPr txBox="1"/>
          <p:nvPr/>
        </p:nvSpPr>
        <p:spPr>
          <a:xfrm>
            <a:off x="3499835" y="3676060"/>
            <a:ext cx="1995374" cy="322866"/>
          </a:xfrm>
          <a:prstGeom prst="rect">
            <a:avLst/>
          </a:prstGeom>
          <a:noFill/>
        </p:spPr>
        <p:txBody>
          <a:bodyPr wrap="square" rtlCol="0">
            <a:spAutoFit/>
          </a:bodyPr>
          <a:lstStyle/>
          <a:p>
            <a:pPr defTabSz="685165" fontAlgn="auto">
              <a:spcBef>
                <a:spcPts val="0"/>
              </a:spcBef>
              <a:spcAft>
                <a:spcPts val="0"/>
              </a:spcAft>
              <a:defRPr/>
            </a:pPr>
            <a:r>
              <a:rPr lang="zh-CN" altLang="en-US" sz="1500" b="1" dirty="0">
                <a:solidFill>
                  <a:srgbClr val="3C3C3C"/>
                </a:solidFill>
                <a:latin typeface="华文黑体_易方达" pitchFamily="2" charset="-122"/>
                <a:ea typeface="华文黑体_易方达" pitchFamily="2" charset="-122"/>
              </a:rPr>
              <a:t>命名实体识别（</a:t>
            </a:r>
            <a:r>
              <a:rPr lang="en-US" altLang="zh-CN" sz="1500" b="1" dirty="0">
                <a:solidFill>
                  <a:srgbClr val="3C3C3C"/>
                </a:solidFill>
                <a:latin typeface="华文黑体_易方达" pitchFamily="2" charset="-122"/>
                <a:ea typeface="华文黑体_易方达" pitchFamily="2" charset="-122"/>
              </a:rPr>
              <a:t>NER</a:t>
            </a:r>
            <a:r>
              <a:rPr lang="zh-CN" altLang="en-US" sz="1500" b="1" dirty="0">
                <a:solidFill>
                  <a:srgbClr val="3C3C3C"/>
                </a:solidFill>
                <a:latin typeface="华文黑体_易方达" pitchFamily="2" charset="-122"/>
                <a:ea typeface="华文黑体_易方达" pitchFamily="2" charset="-122"/>
              </a:rPr>
              <a:t>）</a:t>
            </a:r>
          </a:p>
        </p:txBody>
      </p:sp>
      <p:sp>
        <p:nvSpPr>
          <p:cNvPr id="41" name="文本框 40"/>
          <p:cNvSpPr txBox="1"/>
          <p:nvPr/>
        </p:nvSpPr>
        <p:spPr>
          <a:xfrm>
            <a:off x="5935825" y="1346459"/>
            <a:ext cx="2601052" cy="824200"/>
          </a:xfrm>
          <a:prstGeom prst="rect">
            <a:avLst/>
          </a:prstGeom>
          <a:noFill/>
        </p:spPr>
        <p:txBody>
          <a:bodyPr wrap="square" rtlCol="0">
            <a:spAutoFit/>
          </a:bodyPr>
          <a:lstStyle/>
          <a:p>
            <a:pPr marL="213995" indent="-213995" defTabSz="685165" fontAlgn="auto">
              <a:lnSpc>
                <a:spcPct val="150000"/>
              </a:lnSpc>
              <a:spcBef>
                <a:spcPts val="0"/>
              </a:spcBef>
              <a:spcAft>
                <a:spcPts val="0"/>
              </a:spcAft>
              <a:buFont typeface="Arial" charset="0"/>
              <a:buChar char="•"/>
              <a:defRPr/>
            </a:pPr>
            <a:r>
              <a:rPr lang="zh-CN" altLang="en-US" sz="1100" dirty="0">
                <a:solidFill>
                  <a:srgbClr val="3C3C3C"/>
                </a:solidFill>
                <a:latin typeface="+mj-ea"/>
                <a:ea typeface="+mj-ea"/>
              </a:rPr>
              <a:t>金融语料中多样化的实体术语对齐到标准化的实体名称，即如何实现金融实体的</a:t>
            </a:r>
            <a:r>
              <a:rPr lang="en-US" altLang="zh-CN" sz="1100" b="1" dirty="0" err="1">
                <a:solidFill>
                  <a:srgbClr val="3C3C3C"/>
                </a:solidFill>
                <a:latin typeface="+mj-ea"/>
                <a:ea typeface="+mj-ea"/>
              </a:rPr>
              <a:t>OneID</a:t>
            </a:r>
            <a:r>
              <a:rPr lang="zh-CN" altLang="en-US" sz="1100" dirty="0">
                <a:solidFill>
                  <a:srgbClr val="3C3C3C"/>
                </a:solidFill>
                <a:latin typeface="+mj-ea"/>
                <a:ea typeface="+mj-ea"/>
              </a:rPr>
              <a:t>治理？</a:t>
            </a:r>
          </a:p>
        </p:txBody>
      </p:sp>
      <p:pic>
        <p:nvPicPr>
          <p:cNvPr id="42" name="图片 41"/>
          <p:cNvPicPr>
            <a:picLocks noChangeAspect="1"/>
          </p:cNvPicPr>
          <p:nvPr/>
        </p:nvPicPr>
        <p:blipFill rotWithShape="1">
          <a:blip r:embed="rId5" cstate="print">
            <a:extLst>
              <a:ext uri="{28A0092B-C50C-407E-A947-70E740481C1C}">
                <a14:useLocalDpi xmlns:a14="http://schemas.microsoft.com/office/drawing/2010/main" val="0"/>
              </a:ext>
            </a:extLst>
          </a:blip>
          <a:srcRect l="7563" t="15002" r="7859" b="13739"/>
          <a:stretch>
            <a:fillRect/>
          </a:stretch>
        </p:blipFill>
        <p:spPr>
          <a:xfrm>
            <a:off x="6202108" y="2453926"/>
            <a:ext cx="2131485" cy="979539"/>
          </a:xfrm>
          <a:prstGeom prst="rect">
            <a:avLst/>
          </a:prstGeom>
        </p:spPr>
      </p:pic>
      <p:sp>
        <p:nvSpPr>
          <p:cNvPr id="43" name="文本框 42"/>
          <p:cNvSpPr txBox="1"/>
          <p:nvPr/>
        </p:nvSpPr>
        <p:spPr>
          <a:xfrm>
            <a:off x="6518855" y="3676060"/>
            <a:ext cx="1497992" cy="322866"/>
          </a:xfrm>
          <a:prstGeom prst="rect">
            <a:avLst/>
          </a:prstGeom>
          <a:noFill/>
        </p:spPr>
        <p:txBody>
          <a:bodyPr wrap="square" rtlCol="0">
            <a:spAutoFit/>
          </a:bodyPr>
          <a:lstStyle/>
          <a:p>
            <a:pPr defTabSz="685165" fontAlgn="auto">
              <a:spcBef>
                <a:spcPts val="0"/>
              </a:spcBef>
              <a:spcAft>
                <a:spcPts val="0"/>
              </a:spcAft>
              <a:defRPr/>
            </a:pPr>
            <a:r>
              <a:rPr lang="zh-CN" altLang="en-US" sz="1500" b="1" dirty="0">
                <a:solidFill>
                  <a:srgbClr val="3C3C3C"/>
                </a:solidFill>
                <a:latin typeface="华文黑体_易方达" pitchFamily="2" charset="-122"/>
                <a:ea typeface="华文黑体_易方达" pitchFamily="2" charset="-122"/>
              </a:rPr>
              <a:t>实体对齐（</a:t>
            </a:r>
            <a:r>
              <a:rPr lang="en-US" altLang="zh-CN" sz="1500" b="1" dirty="0">
                <a:solidFill>
                  <a:srgbClr val="3C3C3C"/>
                </a:solidFill>
                <a:latin typeface="华文黑体_易方达" pitchFamily="2" charset="-122"/>
                <a:ea typeface="华文黑体_易方达" pitchFamily="2" charset="-122"/>
              </a:rPr>
              <a:t>EA</a:t>
            </a:r>
            <a:r>
              <a:rPr lang="zh-CN" altLang="en-US" sz="1500" b="1" dirty="0">
                <a:solidFill>
                  <a:srgbClr val="3C3C3C"/>
                </a:solidFill>
                <a:latin typeface="华文黑体_易方达" pitchFamily="2" charset="-122"/>
                <a:ea typeface="华文黑体_易方达" pitchFamily="2" charset="-122"/>
              </a:rPr>
              <a:t>）</a:t>
            </a:r>
          </a:p>
        </p:txBody>
      </p:sp>
      <p:sp>
        <p:nvSpPr>
          <p:cNvPr id="15" name="文本框 14"/>
          <p:cNvSpPr txBox="1"/>
          <p:nvPr/>
        </p:nvSpPr>
        <p:spPr>
          <a:xfrm>
            <a:off x="839192" y="4158457"/>
            <a:ext cx="2335381" cy="322866"/>
          </a:xfrm>
          <a:prstGeom prst="rect">
            <a:avLst/>
          </a:prstGeom>
          <a:noFill/>
        </p:spPr>
        <p:txBody>
          <a:bodyPr wrap="square" rtlCol="0">
            <a:spAutoFit/>
          </a:bodyPr>
          <a:lstStyle/>
          <a:p>
            <a:pPr defTabSz="685165" fontAlgn="auto">
              <a:spcBef>
                <a:spcPts val="0"/>
              </a:spcBef>
              <a:spcAft>
                <a:spcPts val="0"/>
              </a:spcAft>
              <a:defRPr/>
            </a:pPr>
            <a:r>
              <a:rPr lang="en-US" altLang="zh-CN" sz="1500" b="1" dirty="0">
                <a:solidFill>
                  <a:srgbClr val="005096">
                    <a:lumMod val="75000"/>
                  </a:srgbClr>
                </a:solidFill>
                <a:latin typeface="Arial" charset="0"/>
                <a:ea typeface="华文黑体_易方达" pitchFamily="2" charset="-122"/>
              </a:rPr>
              <a:t>Knowledge Graph(KG)</a:t>
            </a:r>
            <a:endParaRPr lang="zh-CN" altLang="en-US" sz="1500" b="1" dirty="0">
              <a:solidFill>
                <a:srgbClr val="005096">
                  <a:lumMod val="75000"/>
                </a:srgbClr>
              </a:solidFill>
              <a:latin typeface="Arial" charset="0"/>
              <a:ea typeface="华文黑体_易方达" pitchFamily="2" charset="-122"/>
            </a:endParaRPr>
          </a:p>
        </p:txBody>
      </p:sp>
      <p:sp>
        <p:nvSpPr>
          <p:cNvPr id="45" name="文本框 44"/>
          <p:cNvSpPr txBox="1"/>
          <p:nvPr/>
        </p:nvSpPr>
        <p:spPr>
          <a:xfrm>
            <a:off x="3286123" y="4158457"/>
            <a:ext cx="3816036" cy="322866"/>
          </a:xfrm>
          <a:prstGeom prst="rect">
            <a:avLst/>
          </a:prstGeom>
          <a:noFill/>
        </p:spPr>
        <p:txBody>
          <a:bodyPr wrap="square" rtlCol="0">
            <a:spAutoFit/>
          </a:bodyPr>
          <a:lstStyle/>
          <a:p>
            <a:pPr defTabSz="685165" fontAlgn="auto">
              <a:spcBef>
                <a:spcPts val="0"/>
              </a:spcBef>
              <a:spcAft>
                <a:spcPts val="0"/>
              </a:spcAft>
              <a:defRPr/>
            </a:pPr>
            <a:r>
              <a:rPr lang="en-US" altLang="zh-CN" sz="1500" b="1" dirty="0">
                <a:solidFill>
                  <a:srgbClr val="005096">
                    <a:lumMod val="75000"/>
                  </a:srgbClr>
                </a:solidFill>
                <a:latin typeface="Arial" charset="0"/>
                <a:ea typeface="华文黑体_易方达" pitchFamily="2" charset="-122"/>
              </a:rPr>
              <a:t>Natural Language Understanding(NLU)</a:t>
            </a:r>
            <a:endParaRPr lang="zh-CN" altLang="en-US" sz="1500" b="1" dirty="0">
              <a:solidFill>
                <a:srgbClr val="005096">
                  <a:lumMod val="75000"/>
                </a:srgbClr>
              </a:solidFill>
              <a:latin typeface="Arial" charset="0"/>
              <a:ea typeface="华文黑体_易方达" pitchFamily="2" charset="-122"/>
            </a:endParaRPr>
          </a:p>
        </p:txBody>
      </p:sp>
      <p:sp>
        <p:nvSpPr>
          <p:cNvPr id="46" name="文本框 45"/>
          <p:cNvSpPr txBox="1"/>
          <p:nvPr/>
        </p:nvSpPr>
        <p:spPr>
          <a:xfrm>
            <a:off x="3021822" y="4170998"/>
            <a:ext cx="264300" cy="322866"/>
          </a:xfrm>
          <a:prstGeom prst="rect">
            <a:avLst/>
          </a:prstGeom>
          <a:noFill/>
        </p:spPr>
        <p:txBody>
          <a:bodyPr wrap="square" rtlCol="0">
            <a:spAutoFit/>
          </a:bodyPr>
          <a:lstStyle/>
          <a:p>
            <a:pPr defTabSz="685165" fontAlgn="auto">
              <a:spcBef>
                <a:spcPts val="0"/>
              </a:spcBef>
              <a:spcAft>
                <a:spcPts val="0"/>
              </a:spcAft>
              <a:defRPr/>
            </a:pPr>
            <a:r>
              <a:rPr lang="en-US" altLang="zh-CN" sz="1500" b="1" dirty="0">
                <a:solidFill>
                  <a:srgbClr val="005096">
                    <a:lumMod val="75000"/>
                  </a:srgbClr>
                </a:solidFill>
                <a:latin typeface="Arial" charset="0"/>
                <a:ea typeface="华文黑体_易方达" pitchFamily="2" charset="-122"/>
              </a:rPr>
              <a:t>+</a:t>
            </a:r>
            <a:endParaRPr lang="zh-CN" altLang="en-US" sz="1500" b="1" dirty="0">
              <a:solidFill>
                <a:srgbClr val="005096">
                  <a:lumMod val="75000"/>
                </a:srgbClr>
              </a:solidFill>
              <a:latin typeface="Arial" charset="0"/>
              <a:ea typeface="华文黑体_易方达" pitchFamily="2" charset="-122"/>
            </a:endParaRPr>
          </a:p>
        </p:txBody>
      </p:sp>
      <p:cxnSp>
        <p:nvCxnSpPr>
          <p:cNvPr id="17" name="直接箭头连接符 16"/>
          <p:cNvCxnSpPr/>
          <p:nvPr/>
        </p:nvCxnSpPr>
        <p:spPr bwMode="auto">
          <a:xfrm flipV="1">
            <a:off x="7021972" y="4325456"/>
            <a:ext cx="383473" cy="2734"/>
          </a:xfrm>
          <a:prstGeom prst="straightConnector1">
            <a:avLst/>
          </a:prstGeom>
          <a:solidFill>
            <a:schemeClr val="accent1"/>
          </a:solidFill>
          <a:ln w="19050" cap="flat" cmpd="sng" algn="ctr">
            <a:solidFill>
              <a:schemeClr val="accent1"/>
            </a:solidFill>
            <a:prstDash val="solid"/>
            <a:round/>
            <a:headEnd type="none" w="med" len="med"/>
            <a:tailEnd type="triangle"/>
          </a:ln>
        </p:spPr>
      </p:cxnSp>
      <p:sp>
        <p:nvSpPr>
          <p:cNvPr id="50" name="文本框 49"/>
          <p:cNvSpPr txBox="1"/>
          <p:nvPr/>
        </p:nvSpPr>
        <p:spPr>
          <a:xfrm>
            <a:off x="7437976" y="4158457"/>
            <a:ext cx="895618" cy="322866"/>
          </a:xfrm>
          <a:prstGeom prst="rect">
            <a:avLst/>
          </a:prstGeom>
          <a:noFill/>
        </p:spPr>
        <p:txBody>
          <a:bodyPr wrap="square" rtlCol="0">
            <a:spAutoFit/>
          </a:bodyPr>
          <a:lstStyle/>
          <a:p>
            <a:pPr defTabSz="685165" fontAlgn="auto">
              <a:spcBef>
                <a:spcPts val="0"/>
              </a:spcBef>
              <a:spcAft>
                <a:spcPts val="0"/>
              </a:spcAft>
              <a:defRPr/>
            </a:pPr>
            <a:r>
              <a:rPr lang="en-US" altLang="zh-CN" sz="1500" b="1" dirty="0">
                <a:solidFill>
                  <a:srgbClr val="005096">
                    <a:lumMod val="75000"/>
                  </a:srgbClr>
                </a:solidFill>
                <a:latin typeface="Arial" charset="0"/>
                <a:ea typeface="华文黑体_易方达" pitchFamily="2" charset="-122"/>
              </a:rPr>
              <a:t>KGNLU</a:t>
            </a:r>
            <a:endParaRPr lang="zh-CN" altLang="en-US" sz="1500" b="1" dirty="0">
              <a:solidFill>
                <a:srgbClr val="005096">
                  <a:lumMod val="75000"/>
                </a:srgbClr>
              </a:solidFill>
              <a:latin typeface="Arial" charset="0"/>
              <a:ea typeface="华文黑体_易方达" pitchFamily="2" charset="-122"/>
            </a:endParaRPr>
          </a:p>
        </p:txBody>
      </p:sp>
      <p:cxnSp>
        <p:nvCxnSpPr>
          <p:cNvPr id="32" name="肘形连接符 31"/>
          <p:cNvCxnSpPr>
            <a:stCxn id="37" idx="2"/>
            <a:endCxn id="15" idx="0"/>
          </p:cNvCxnSpPr>
          <p:nvPr/>
        </p:nvCxnSpPr>
        <p:spPr bwMode="auto">
          <a:xfrm rot="16200000" flipH="1">
            <a:off x="1801256" y="3952829"/>
            <a:ext cx="159531" cy="251723"/>
          </a:xfrm>
          <a:prstGeom prst="bentConnector3">
            <a:avLst/>
          </a:prstGeom>
          <a:solidFill>
            <a:schemeClr val="accent1"/>
          </a:solidFill>
          <a:ln w="19050" cap="flat" cmpd="sng" algn="ctr">
            <a:solidFill>
              <a:srgbClr val="C00000"/>
            </a:solidFill>
            <a:prstDash val="solid"/>
            <a:round/>
            <a:headEnd type="none" w="med" len="med"/>
            <a:tailEnd type="diamond"/>
          </a:ln>
        </p:spPr>
      </p:cxnSp>
      <p:cxnSp>
        <p:nvCxnSpPr>
          <p:cNvPr id="36" name="肘形连接符 35"/>
          <p:cNvCxnSpPr>
            <a:stCxn id="40" idx="2"/>
            <a:endCxn id="45" idx="0"/>
          </p:cNvCxnSpPr>
          <p:nvPr/>
        </p:nvCxnSpPr>
        <p:spPr bwMode="auto">
          <a:xfrm rot="16200000" flipH="1">
            <a:off x="4754535" y="3718851"/>
            <a:ext cx="182593" cy="696618"/>
          </a:xfrm>
          <a:prstGeom prst="bentConnector3">
            <a:avLst/>
          </a:prstGeom>
          <a:solidFill>
            <a:schemeClr val="accent1"/>
          </a:solidFill>
          <a:ln w="19050" cap="flat" cmpd="sng" algn="ctr">
            <a:solidFill>
              <a:srgbClr val="C00000"/>
            </a:solidFill>
            <a:prstDash val="solid"/>
            <a:round/>
            <a:headEnd type="none" w="med" len="med"/>
            <a:tailEnd type="diamond"/>
          </a:ln>
        </p:spPr>
      </p:cxnSp>
      <p:cxnSp>
        <p:nvCxnSpPr>
          <p:cNvPr id="47" name="肘形连接符 46"/>
          <p:cNvCxnSpPr>
            <a:stCxn id="43" idx="2"/>
            <a:endCxn id="45" idx="0"/>
          </p:cNvCxnSpPr>
          <p:nvPr/>
        </p:nvCxnSpPr>
        <p:spPr bwMode="auto">
          <a:xfrm rot="5400000">
            <a:off x="6139699" y="3030305"/>
            <a:ext cx="182593" cy="2073710"/>
          </a:xfrm>
          <a:prstGeom prst="bentConnector3">
            <a:avLst/>
          </a:prstGeom>
          <a:solidFill>
            <a:schemeClr val="accent1"/>
          </a:solidFill>
          <a:ln w="19050" cap="flat" cmpd="sng" algn="ctr">
            <a:solidFill>
              <a:srgbClr val="C00000"/>
            </a:solidFill>
            <a:prstDash val="solid"/>
            <a:round/>
            <a:headEnd type="none" w="med" len="med"/>
            <a:tailEnd type="diamond"/>
          </a:ln>
        </p:spPr>
      </p:cxnSp>
      <p:sp>
        <p:nvSpPr>
          <p:cNvPr id="2" name="标题 3"/>
          <p:cNvSpPr txBox="1"/>
          <p:nvPr/>
        </p:nvSpPr>
        <p:spPr>
          <a:xfrm>
            <a:off x="327780" y="235816"/>
            <a:ext cx="6694192" cy="441885"/>
          </a:xfrm>
          <a:prstGeom prst="rect">
            <a:avLst/>
          </a:prstGeom>
          <a:noFill/>
          <a:ln>
            <a:noFill/>
          </a:ln>
        </p:spPr>
        <p:txBody>
          <a:bodyPr vert="horz" wrap="square" lIns="0" tIns="0" rIns="0" bIns="45678" numCol="1" anchor="t" anchorCtr="0" compatLnSpc="1"/>
          <a:lstStyle>
            <a:lvl1pPr algn="l" rtl="0" eaLnBrk="1" fontAlgn="base" hangingPunct="1">
              <a:spcBef>
                <a:spcPct val="0"/>
              </a:spcBef>
              <a:spcAft>
                <a:spcPct val="0"/>
              </a:spcAft>
              <a:defRPr sz="900" b="0" i="0" baseline="0">
                <a:solidFill>
                  <a:schemeClr val="bg1"/>
                </a:solidFill>
                <a:latin typeface="Arial" charset="0"/>
                <a:ea typeface="华文黑体"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122"/>
                <a:cs typeface="MS PGothic" charset="0"/>
              </a:defRPr>
            </a:lvl2pPr>
            <a:lvl3pPr algn="l" rtl="0" eaLnBrk="1" fontAlgn="base" hangingPunct="1">
              <a:spcBef>
                <a:spcPct val="0"/>
              </a:spcBef>
              <a:spcAft>
                <a:spcPct val="0"/>
              </a:spcAft>
              <a:defRPr sz="3600">
                <a:solidFill>
                  <a:schemeClr val="tx1"/>
                </a:solidFill>
                <a:latin typeface="黑体" charset="-122"/>
                <a:ea typeface="黑体" charset="-122"/>
                <a:cs typeface="MS PGothic" charset="0"/>
              </a:defRPr>
            </a:lvl3pPr>
            <a:lvl4pPr algn="l" rtl="0" eaLnBrk="1" fontAlgn="base" hangingPunct="1">
              <a:spcBef>
                <a:spcPct val="0"/>
              </a:spcBef>
              <a:spcAft>
                <a:spcPct val="0"/>
              </a:spcAft>
              <a:defRPr sz="3600">
                <a:solidFill>
                  <a:schemeClr val="tx1"/>
                </a:solidFill>
                <a:latin typeface="黑体" charset="-122"/>
                <a:ea typeface="黑体" charset="-122"/>
                <a:cs typeface="MS PGothic" charset="0"/>
              </a:defRPr>
            </a:lvl4pPr>
            <a:lvl5pPr algn="l" rtl="0" eaLnBrk="1" fontAlgn="base" hangingPunct="1">
              <a:spcBef>
                <a:spcPct val="0"/>
              </a:spcBef>
              <a:spcAft>
                <a:spcPct val="0"/>
              </a:spcAft>
              <a:defRPr sz="3600">
                <a:solidFill>
                  <a:schemeClr val="tx1"/>
                </a:solidFill>
                <a:latin typeface="黑体" charset="-122"/>
                <a:ea typeface="黑体" charset="-122"/>
                <a:cs typeface="MS PGothic" charset="0"/>
              </a:defRPr>
            </a:lvl5pPr>
            <a:lvl6pPr marL="457200" algn="l" rtl="0" eaLnBrk="1" fontAlgn="base" hangingPunct="1">
              <a:spcBef>
                <a:spcPct val="0"/>
              </a:spcBef>
              <a:spcAft>
                <a:spcPct val="0"/>
              </a:spcAft>
              <a:defRPr sz="3600">
                <a:solidFill>
                  <a:srgbClr val="5F294F"/>
                </a:solidFill>
                <a:latin typeface="Arial Narrow" charset="0"/>
                <a:ea typeface="MS PGothic" charset="0"/>
                <a:cs typeface="MS PGothic" charset="0"/>
              </a:defRPr>
            </a:lvl6pPr>
            <a:lvl7pPr marL="914400" algn="l" rtl="0" eaLnBrk="1" fontAlgn="base" hangingPunct="1">
              <a:spcBef>
                <a:spcPct val="0"/>
              </a:spcBef>
              <a:spcAft>
                <a:spcPct val="0"/>
              </a:spcAft>
              <a:defRPr sz="3600">
                <a:solidFill>
                  <a:srgbClr val="5F294F"/>
                </a:solidFill>
                <a:latin typeface="Arial Narrow" charset="0"/>
                <a:ea typeface="MS PGothic" charset="0"/>
                <a:cs typeface="MS PGothic" charset="0"/>
              </a:defRPr>
            </a:lvl7pPr>
            <a:lvl8pPr marL="1371600" algn="l" rtl="0" eaLnBrk="1" fontAlgn="base" hangingPunct="1">
              <a:spcBef>
                <a:spcPct val="0"/>
              </a:spcBef>
              <a:spcAft>
                <a:spcPct val="0"/>
              </a:spcAft>
              <a:defRPr sz="3600">
                <a:solidFill>
                  <a:srgbClr val="5F294F"/>
                </a:solidFill>
                <a:latin typeface="Arial Narrow" charset="0"/>
                <a:ea typeface="MS PGothic" charset="0"/>
                <a:cs typeface="MS PGothic" charset="0"/>
              </a:defRPr>
            </a:lvl8pPr>
            <a:lvl9pPr marL="1828800" algn="l" rtl="0" eaLnBrk="1" fontAlgn="base" hangingPunct="1">
              <a:spcBef>
                <a:spcPct val="0"/>
              </a:spcBef>
              <a:spcAft>
                <a:spcPct val="0"/>
              </a:spcAft>
              <a:defRPr sz="3600">
                <a:solidFill>
                  <a:srgbClr val="5F294F"/>
                </a:solidFill>
                <a:latin typeface="Arial Narrow" charset="0"/>
                <a:ea typeface="MS PGothic" charset="0"/>
                <a:cs typeface="MS PGothic" charset="0"/>
              </a:defRPr>
            </a:lvl9pPr>
          </a:lstStyle>
          <a:p>
            <a:r>
              <a:rPr lang="zh-CN" altLang="en-US" sz="2000" b="1" kern="0" dirty="0" err="1">
                <a:latin typeface="+mj-ea"/>
                <a:ea typeface="+mj-ea"/>
              </a:rPr>
              <a:t>以金融垂域小模型为例：</a:t>
            </a:r>
            <a:r>
              <a:rPr lang="en-US" altLang="zh-CN" sz="2000" b="1" kern="0" dirty="0" err="1">
                <a:latin typeface="+mj-ea"/>
                <a:ea typeface="+mj-ea"/>
              </a:rPr>
              <a:t>EFundGPT</a:t>
            </a:r>
            <a:r>
              <a:rPr lang="en-US" altLang="zh-CN" sz="2000" b="1" kern="0" dirty="0">
                <a:latin typeface="+mj-ea"/>
                <a:ea typeface="+mj-ea"/>
              </a:rPr>
              <a:t>-KGNLU</a:t>
            </a:r>
            <a:r>
              <a:rPr lang="zh-CN" altLang="en-US" sz="2000" b="1" kern="0" dirty="0">
                <a:latin typeface="+mj-ea"/>
                <a:ea typeface="+mj-ea"/>
              </a:rPr>
              <a:t>的业务价值</a:t>
            </a:r>
            <a:endParaRPr lang="en-US" sz="2000" b="1" kern="0" dirty="0">
              <a:latin typeface="+mj-ea"/>
              <a:ea typeface="+mj-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31706" y="1438844"/>
            <a:ext cx="8522579" cy="613694"/>
          </a:xfrm>
          <a:prstGeom prst="rect">
            <a:avLst/>
          </a:prstGeom>
          <a:noFill/>
        </p:spPr>
        <p:txBody>
          <a:bodyPr wrap="square" rtlCol="0">
            <a:spAutoFit/>
          </a:bodyPr>
          <a:lstStyle/>
          <a:p>
            <a:pPr marL="257175" indent="-257175" defTabSz="685165" fontAlgn="auto">
              <a:lnSpc>
                <a:spcPct val="150000"/>
              </a:lnSpc>
              <a:spcBef>
                <a:spcPts val="0"/>
              </a:spcBef>
              <a:spcAft>
                <a:spcPts val="0"/>
              </a:spcAft>
              <a:buFont typeface="Arial" charset="0"/>
              <a:buChar char="•"/>
              <a:defRPr/>
            </a:pPr>
            <a:r>
              <a:rPr lang="zh-CN" altLang="en-US" sz="1200" dirty="0">
                <a:solidFill>
                  <a:schemeClr val="accent4"/>
                </a:solidFill>
                <a:latin typeface="+mj-ea"/>
                <a:ea typeface="+mj-ea"/>
              </a:rPr>
              <a:t>提示词</a:t>
            </a:r>
            <a:r>
              <a:rPr lang="en-US" altLang="zh-CN" sz="1200" dirty="0">
                <a:solidFill>
                  <a:schemeClr val="accent4"/>
                </a:solidFill>
                <a:latin typeface="+mj-ea"/>
                <a:ea typeface="+mj-ea"/>
              </a:rPr>
              <a:t>+</a:t>
            </a:r>
            <a:r>
              <a:rPr lang="zh-CN" altLang="en-US" sz="1200" dirty="0">
                <a:solidFill>
                  <a:schemeClr val="accent4"/>
                </a:solidFill>
                <a:latin typeface="+mj-ea"/>
                <a:ea typeface="+mj-ea"/>
              </a:rPr>
              <a:t>多轮</a:t>
            </a:r>
            <a:r>
              <a:rPr lang="en-US" altLang="zh-CN" sz="1200" dirty="0" err="1">
                <a:solidFill>
                  <a:schemeClr val="accent4"/>
                </a:solidFill>
                <a:latin typeface="+mj-ea"/>
                <a:ea typeface="+mj-ea"/>
              </a:rPr>
              <a:t>fewshots</a:t>
            </a:r>
            <a:r>
              <a:rPr lang="zh-CN" altLang="en-US" sz="1200" dirty="0">
                <a:solidFill>
                  <a:schemeClr val="accent4"/>
                </a:solidFill>
                <a:latin typeface="+mj-ea"/>
                <a:ea typeface="+mj-ea"/>
              </a:rPr>
              <a:t>优化提升外部大模型能力</a:t>
            </a:r>
            <a:endParaRPr lang="en-US" altLang="zh-CN" sz="1200" dirty="0">
              <a:solidFill>
                <a:schemeClr val="accent4"/>
              </a:solidFill>
              <a:latin typeface="+mj-ea"/>
              <a:ea typeface="+mj-ea"/>
            </a:endParaRPr>
          </a:p>
          <a:p>
            <a:pPr marL="257175" indent="-257175" defTabSz="685165" fontAlgn="auto">
              <a:lnSpc>
                <a:spcPct val="150000"/>
              </a:lnSpc>
              <a:spcBef>
                <a:spcPts val="0"/>
              </a:spcBef>
              <a:spcAft>
                <a:spcPts val="0"/>
              </a:spcAft>
              <a:buFont typeface="Arial" charset="0"/>
              <a:buChar char="•"/>
              <a:defRPr/>
            </a:pPr>
            <a:r>
              <a:rPr lang="zh-CN" altLang="en-US" sz="1200" dirty="0">
                <a:solidFill>
                  <a:schemeClr val="accent4"/>
                </a:solidFill>
                <a:latin typeface="+mj-ea"/>
                <a:ea typeface="+mj-ea"/>
              </a:rPr>
              <a:t>构建教师模型对训练语料做一轮预标注</a:t>
            </a:r>
            <a:endParaRPr lang="en-US" altLang="zh-CN" sz="1200" dirty="0">
              <a:solidFill>
                <a:schemeClr val="accent4"/>
              </a:solidFill>
              <a:latin typeface="+mj-ea"/>
              <a:ea typeface="+mj-ea"/>
            </a:endParaRPr>
          </a:p>
        </p:txBody>
      </p:sp>
      <p:pic>
        <p:nvPicPr>
          <p:cNvPr id="3" name="图片 2"/>
          <p:cNvPicPr>
            <a:picLocks noChangeAspect="1"/>
          </p:cNvPicPr>
          <p:nvPr/>
        </p:nvPicPr>
        <p:blipFill>
          <a:blip r:embed="rId3"/>
          <a:stretch>
            <a:fillRect/>
          </a:stretch>
        </p:blipFill>
        <p:spPr>
          <a:xfrm>
            <a:off x="487073" y="2185070"/>
            <a:ext cx="8135193" cy="2039281"/>
          </a:xfrm>
          <a:prstGeom prst="rect">
            <a:avLst/>
          </a:prstGeom>
        </p:spPr>
      </p:pic>
      <p:sp>
        <p:nvSpPr>
          <p:cNvPr id="2" name="标题 3"/>
          <p:cNvSpPr txBox="1"/>
          <p:nvPr/>
        </p:nvSpPr>
        <p:spPr>
          <a:xfrm>
            <a:off x="327780" y="213325"/>
            <a:ext cx="6185523" cy="441885"/>
          </a:xfrm>
          <a:prstGeom prst="rect">
            <a:avLst/>
          </a:prstGeom>
          <a:noFill/>
          <a:ln>
            <a:noFill/>
          </a:ln>
        </p:spPr>
        <p:txBody>
          <a:bodyPr vert="horz" wrap="square" lIns="0" tIns="0" rIns="0" bIns="45678" numCol="1" anchor="t" anchorCtr="0" compatLnSpc="1"/>
          <a:lstStyle>
            <a:lvl1pPr algn="l" rtl="0" eaLnBrk="1" fontAlgn="base" hangingPunct="1">
              <a:spcBef>
                <a:spcPct val="0"/>
              </a:spcBef>
              <a:spcAft>
                <a:spcPct val="0"/>
              </a:spcAft>
              <a:defRPr sz="900" b="0" i="0" baseline="0">
                <a:solidFill>
                  <a:schemeClr val="bg1"/>
                </a:solidFill>
                <a:latin typeface="Arial" charset="0"/>
                <a:ea typeface="华文黑体"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122"/>
                <a:cs typeface="MS PGothic" charset="0"/>
              </a:defRPr>
            </a:lvl2pPr>
            <a:lvl3pPr algn="l" rtl="0" eaLnBrk="1" fontAlgn="base" hangingPunct="1">
              <a:spcBef>
                <a:spcPct val="0"/>
              </a:spcBef>
              <a:spcAft>
                <a:spcPct val="0"/>
              </a:spcAft>
              <a:defRPr sz="3600">
                <a:solidFill>
                  <a:schemeClr val="tx1"/>
                </a:solidFill>
                <a:latin typeface="黑体" charset="-122"/>
                <a:ea typeface="黑体" charset="-122"/>
                <a:cs typeface="MS PGothic" charset="0"/>
              </a:defRPr>
            </a:lvl3pPr>
            <a:lvl4pPr algn="l" rtl="0" eaLnBrk="1" fontAlgn="base" hangingPunct="1">
              <a:spcBef>
                <a:spcPct val="0"/>
              </a:spcBef>
              <a:spcAft>
                <a:spcPct val="0"/>
              </a:spcAft>
              <a:defRPr sz="3600">
                <a:solidFill>
                  <a:schemeClr val="tx1"/>
                </a:solidFill>
                <a:latin typeface="黑体" charset="-122"/>
                <a:ea typeface="黑体" charset="-122"/>
                <a:cs typeface="MS PGothic" charset="0"/>
              </a:defRPr>
            </a:lvl4pPr>
            <a:lvl5pPr algn="l" rtl="0" eaLnBrk="1" fontAlgn="base" hangingPunct="1">
              <a:spcBef>
                <a:spcPct val="0"/>
              </a:spcBef>
              <a:spcAft>
                <a:spcPct val="0"/>
              </a:spcAft>
              <a:defRPr sz="3600">
                <a:solidFill>
                  <a:schemeClr val="tx1"/>
                </a:solidFill>
                <a:latin typeface="黑体" charset="-122"/>
                <a:ea typeface="黑体" charset="-122"/>
                <a:cs typeface="MS PGothic" charset="0"/>
              </a:defRPr>
            </a:lvl5pPr>
            <a:lvl6pPr marL="457200" algn="l" rtl="0" eaLnBrk="1" fontAlgn="base" hangingPunct="1">
              <a:spcBef>
                <a:spcPct val="0"/>
              </a:spcBef>
              <a:spcAft>
                <a:spcPct val="0"/>
              </a:spcAft>
              <a:defRPr sz="3600">
                <a:solidFill>
                  <a:srgbClr val="5F294F"/>
                </a:solidFill>
                <a:latin typeface="Arial Narrow" charset="0"/>
                <a:ea typeface="MS PGothic" charset="0"/>
                <a:cs typeface="MS PGothic" charset="0"/>
              </a:defRPr>
            </a:lvl6pPr>
            <a:lvl7pPr marL="914400" algn="l" rtl="0" eaLnBrk="1" fontAlgn="base" hangingPunct="1">
              <a:spcBef>
                <a:spcPct val="0"/>
              </a:spcBef>
              <a:spcAft>
                <a:spcPct val="0"/>
              </a:spcAft>
              <a:defRPr sz="3600">
                <a:solidFill>
                  <a:srgbClr val="5F294F"/>
                </a:solidFill>
                <a:latin typeface="Arial Narrow" charset="0"/>
                <a:ea typeface="MS PGothic" charset="0"/>
                <a:cs typeface="MS PGothic" charset="0"/>
              </a:defRPr>
            </a:lvl7pPr>
            <a:lvl8pPr marL="1371600" algn="l" rtl="0" eaLnBrk="1" fontAlgn="base" hangingPunct="1">
              <a:spcBef>
                <a:spcPct val="0"/>
              </a:spcBef>
              <a:spcAft>
                <a:spcPct val="0"/>
              </a:spcAft>
              <a:defRPr sz="3600">
                <a:solidFill>
                  <a:srgbClr val="5F294F"/>
                </a:solidFill>
                <a:latin typeface="Arial Narrow" charset="0"/>
                <a:ea typeface="MS PGothic" charset="0"/>
                <a:cs typeface="MS PGothic" charset="0"/>
              </a:defRPr>
            </a:lvl8pPr>
            <a:lvl9pPr marL="1828800" algn="l" rtl="0" eaLnBrk="1" fontAlgn="base" hangingPunct="1">
              <a:spcBef>
                <a:spcPct val="0"/>
              </a:spcBef>
              <a:spcAft>
                <a:spcPct val="0"/>
              </a:spcAft>
              <a:defRPr sz="3600">
                <a:solidFill>
                  <a:srgbClr val="5F294F"/>
                </a:solidFill>
                <a:latin typeface="Arial Narrow" charset="0"/>
                <a:ea typeface="MS PGothic" charset="0"/>
                <a:cs typeface="MS PGothic" charset="0"/>
              </a:defRPr>
            </a:lvl9pPr>
          </a:lstStyle>
          <a:p>
            <a:r>
              <a:rPr lang="en-US" altLang="zh-CN" sz="2300" b="1" kern="0" dirty="0" err="1">
                <a:latin typeface="+mj-ea"/>
                <a:ea typeface="+mj-ea"/>
              </a:rPr>
              <a:t>EFundGPT</a:t>
            </a:r>
            <a:r>
              <a:rPr lang="en-US" altLang="zh-CN" sz="2300" b="1" kern="0" dirty="0">
                <a:latin typeface="+mj-ea"/>
                <a:ea typeface="+mj-ea"/>
              </a:rPr>
              <a:t>-KGNLU——</a:t>
            </a:r>
            <a:r>
              <a:rPr lang="zh-CN" altLang="en-US" sz="2300" b="1" kern="0" dirty="0">
                <a:latin typeface="+mj-ea"/>
                <a:ea typeface="+mj-ea"/>
              </a:rPr>
              <a:t>大小模型协同蒸馏</a:t>
            </a:r>
            <a:endParaRPr lang="en-US" sz="2300" b="1" kern="0" dirty="0">
              <a:latin typeface="+mj-ea"/>
              <a:ea typeface="+mj-ea"/>
            </a:endParaRPr>
          </a:p>
        </p:txBody>
      </p:sp>
      <p:sp>
        <p:nvSpPr>
          <p:cNvPr id="4" name="文本框 3"/>
          <p:cNvSpPr txBox="1"/>
          <p:nvPr/>
        </p:nvSpPr>
        <p:spPr>
          <a:xfrm>
            <a:off x="331706" y="909088"/>
            <a:ext cx="8522579" cy="397225"/>
          </a:xfrm>
          <a:prstGeom prst="rect">
            <a:avLst/>
          </a:prstGeom>
          <a:noFill/>
        </p:spPr>
        <p:txBody>
          <a:bodyPr wrap="square" rtlCol="0">
            <a:spAutoFit/>
          </a:bodyPr>
          <a:lstStyle/>
          <a:p>
            <a:pPr defTabSz="685165" fontAlgn="auto">
              <a:lnSpc>
                <a:spcPct val="150000"/>
              </a:lnSpc>
              <a:spcBef>
                <a:spcPts val="0"/>
              </a:spcBef>
              <a:spcAft>
                <a:spcPts val="0"/>
              </a:spcAft>
              <a:defRPr/>
            </a:pPr>
            <a:r>
              <a:rPr lang="zh-CN" altLang="en-US" sz="1500" dirty="0">
                <a:solidFill>
                  <a:schemeClr val="accent1"/>
                </a:solidFill>
                <a:latin typeface="+mj-ea"/>
                <a:ea typeface="+mj-ea"/>
              </a:rPr>
              <a:t>目标：将外部大模型的能力迁移到垂域小模型</a:t>
            </a:r>
            <a:endParaRPr lang="en-US" altLang="zh-CN" sz="1500" dirty="0">
              <a:solidFill>
                <a:schemeClr val="accent1"/>
              </a:solidFill>
              <a:latin typeface="+mj-ea"/>
              <a:ea typeface="+mj-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84783" y="949700"/>
            <a:ext cx="8522579" cy="396920"/>
          </a:xfrm>
          <a:prstGeom prst="rect">
            <a:avLst/>
          </a:prstGeom>
          <a:noFill/>
        </p:spPr>
        <p:txBody>
          <a:bodyPr wrap="square" rtlCol="0">
            <a:spAutoFit/>
          </a:bodyPr>
          <a:lstStyle/>
          <a:p>
            <a:pPr defTabSz="685165" fontAlgn="auto">
              <a:lnSpc>
                <a:spcPct val="150000"/>
              </a:lnSpc>
              <a:spcBef>
                <a:spcPts val="0"/>
              </a:spcBef>
              <a:spcAft>
                <a:spcPts val="0"/>
              </a:spcAft>
              <a:defRPr/>
            </a:pPr>
            <a:r>
              <a:rPr lang="en-US" altLang="zh-CN" sz="1500" dirty="0" err="1">
                <a:solidFill>
                  <a:schemeClr val="accent1"/>
                </a:solidFill>
                <a:latin typeface="+mj-ea"/>
                <a:ea typeface="+mj-ea"/>
              </a:rPr>
              <a:t>EFundGPT</a:t>
            </a:r>
            <a:r>
              <a:rPr lang="en-US" altLang="zh-CN" sz="1500" dirty="0">
                <a:solidFill>
                  <a:schemeClr val="accent1"/>
                </a:solidFill>
                <a:latin typeface="+mj-ea"/>
                <a:ea typeface="+mj-ea"/>
              </a:rPr>
              <a:t>-KGNLU</a:t>
            </a:r>
            <a:r>
              <a:rPr lang="zh-CN" altLang="en-US" sz="1500" dirty="0">
                <a:solidFill>
                  <a:schemeClr val="accent1"/>
                </a:solidFill>
                <a:latin typeface="+mj-ea"/>
                <a:ea typeface="+mj-ea"/>
              </a:rPr>
              <a:t>模型效果评估：兼顾效果与效率</a:t>
            </a:r>
            <a:endParaRPr lang="en-US" altLang="zh-CN" sz="1200" dirty="0">
              <a:solidFill>
                <a:schemeClr val="accent1"/>
              </a:solidFill>
              <a:latin typeface="+mj-ea"/>
              <a:ea typeface="+mj-ea"/>
            </a:endParaRPr>
          </a:p>
        </p:txBody>
      </p:sp>
      <p:sp>
        <p:nvSpPr>
          <p:cNvPr id="2" name="Rectangle 2"/>
          <p:cNvSpPr/>
          <p:nvPr/>
        </p:nvSpPr>
        <p:spPr bwMode="auto">
          <a:xfrm>
            <a:off x="384783" y="2631450"/>
            <a:ext cx="8226459" cy="276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17" tIns="34258" rIns="68517" bIns="34258" numCol="1" anchor="ctr" anchorCtr="0" compatLnSpc="1">
            <a:spAutoFit/>
          </a:bodyPr>
          <a:lstStyle/>
          <a:p>
            <a:pPr defTabSz="685165" fontAlgn="auto">
              <a:spcBef>
                <a:spcPts val="0"/>
              </a:spcBef>
              <a:spcAft>
                <a:spcPts val="0"/>
              </a:spcAft>
              <a:defRPr/>
            </a:pPr>
            <a:endParaRPr lang="zh-CN" altLang="en-US" sz="1350">
              <a:solidFill>
                <a:srgbClr val="3C3C3C"/>
              </a:solidFill>
              <a:latin typeface="+mj-ea"/>
              <a:ea typeface="+mj-ea"/>
            </a:endParaRPr>
          </a:p>
        </p:txBody>
      </p:sp>
      <p:pic>
        <p:nvPicPr>
          <p:cNvPr id="6" name="图片 5"/>
          <p:cNvPicPr>
            <a:picLocks noChangeAspect="1"/>
          </p:cNvPicPr>
          <p:nvPr/>
        </p:nvPicPr>
        <p:blipFill>
          <a:blip r:embed="rId3"/>
          <a:stretch>
            <a:fillRect/>
          </a:stretch>
        </p:blipFill>
        <p:spPr>
          <a:xfrm>
            <a:off x="3186305" y="1415573"/>
            <a:ext cx="5204106" cy="1525701"/>
          </a:xfrm>
          <a:prstGeom prst="rect">
            <a:avLst/>
          </a:prstGeom>
        </p:spPr>
      </p:pic>
      <p:pic>
        <p:nvPicPr>
          <p:cNvPr id="7" name="图片 6"/>
          <p:cNvPicPr>
            <a:picLocks noChangeAspect="1"/>
          </p:cNvPicPr>
          <p:nvPr/>
        </p:nvPicPr>
        <p:blipFill>
          <a:blip r:embed="rId4"/>
          <a:stretch>
            <a:fillRect/>
          </a:stretch>
        </p:blipFill>
        <p:spPr>
          <a:xfrm>
            <a:off x="4239938" y="3091304"/>
            <a:ext cx="3096840" cy="1189918"/>
          </a:xfrm>
          <a:prstGeom prst="rect">
            <a:avLst/>
          </a:prstGeom>
        </p:spPr>
      </p:pic>
      <p:sp>
        <p:nvSpPr>
          <p:cNvPr id="8" name="文本框 7"/>
          <p:cNvSpPr txBox="1"/>
          <p:nvPr/>
        </p:nvSpPr>
        <p:spPr>
          <a:xfrm>
            <a:off x="525170" y="1662321"/>
            <a:ext cx="2426175" cy="1167692"/>
          </a:xfrm>
          <a:prstGeom prst="rect">
            <a:avLst/>
          </a:prstGeom>
          <a:noFill/>
        </p:spPr>
        <p:txBody>
          <a:bodyPr wrap="square" rtlCol="0">
            <a:spAutoFit/>
          </a:bodyPr>
          <a:lstStyle/>
          <a:p>
            <a:pPr marL="128270" indent="-128270" algn="just" defTabSz="685165" fontAlgn="auto">
              <a:lnSpc>
                <a:spcPct val="150000"/>
              </a:lnSpc>
              <a:spcBef>
                <a:spcPts val="0"/>
              </a:spcBef>
              <a:spcAft>
                <a:spcPts val="0"/>
              </a:spcAft>
              <a:buFont typeface="Arial" charset="0"/>
              <a:buChar char="•"/>
              <a:defRPr/>
            </a:pPr>
            <a:r>
              <a:rPr lang="en-US" altLang="zh-CN" sz="1200" dirty="0">
                <a:solidFill>
                  <a:srgbClr val="3C3C3C"/>
                </a:solidFill>
                <a:latin typeface="+mj-ea"/>
                <a:ea typeface="+mj-ea"/>
              </a:rPr>
              <a:t>4B</a:t>
            </a:r>
            <a:r>
              <a:rPr lang="zh-CN" altLang="en-US" sz="1200" dirty="0">
                <a:solidFill>
                  <a:srgbClr val="3C3C3C"/>
                </a:solidFill>
                <a:latin typeface="+mj-ea"/>
                <a:ea typeface="+mj-ea"/>
              </a:rPr>
              <a:t>的</a:t>
            </a:r>
            <a:r>
              <a:rPr lang="en-US" altLang="zh-CN" sz="1200" dirty="0" err="1">
                <a:solidFill>
                  <a:srgbClr val="3C3C3C"/>
                </a:solidFill>
                <a:latin typeface="+mj-ea"/>
                <a:ea typeface="+mj-ea"/>
              </a:rPr>
              <a:t>EFundGPT</a:t>
            </a:r>
            <a:r>
              <a:rPr lang="en-US" altLang="zh-CN" sz="1200" dirty="0">
                <a:solidFill>
                  <a:srgbClr val="3C3C3C"/>
                </a:solidFill>
                <a:latin typeface="+mj-ea"/>
                <a:ea typeface="+mj-ea"/>
              </a:rPr>
              <a:t>-KGNLU</a:t>
            </a:r>
            <a:r>
              <a:rPr lang="zh-CN" altLang="en-US" sz="1200" dirty="0">
                <a:solidFill>
                  <a:srgbClr val="3C3C3C"/>
                </a:solidFill>
                <a:latin typeface="+mj-ea"/>
                <a:ea typeface="+mj-ea"/>
              </a:rPr>
              <a:t>接近甚至超越外部主流大模型。</a:t>
            </a:r>
            <a:endParaRPr lang="en-US" altLang="zh-CN" sz="1200" dirty="0">
              <a:solidFill>
                <a:srgbClr val="3C3C3C"/>
              </a:solidFill>
              <a:latin typeface="+mj-ea"/>
              <a:ea typeface="+mj-ea"/>
            </a:endParaRPr>
          </a:p>
          <a:p>
            <a:pPr marL="128270" indent="-128270" algn="just" defTabSz="685165" fontAlgn="auto">
              <a:lnSpc>
                <a:spcPct val="150000"/>
              </a:lnSpc>
              <a:spcBef>
                <a:spcPts val="0"/>
              </a:spcBef>
              <a:spcAft>
                <a:spcPts val="0"/>
              </a:spcAft>
              <a:buFont typeface="Arial" charset="0"/>
              <a:buChar char="•"/>
              <a:defRPr/>
            </a:pPr>
            <a:r>
              <a:rPr lang="zh-CN" altLang="en-US" sz="1200" dirty="0">
                <a:solidFill>
                  <a:srgbClr val="3C3C3C"/>
                </a:solidFill>
                <a:latin typeface="+mj-ea"/>
                <a:ea typeface="+mj-ea"/>
              </a:rPr>
              <a:t>多版本多参数基模型对比实验，最终选择</a:t>
            </a:r>
            <a:r>
              <a:rPr lang="en-US" altLang="zh-CN" sz="1200" dirty="0">
                <a:solidFill>
                  <a:srgbClr val="3C3C3C"/>
                </a:solidFill>
                <a:latin typeface="+mj-ea"/>
                <a:ea typeface="+mj-ea"/>
              </a:rPr>
              <a:t>Qwen3-4B</a:t>
            </a:r>
            <a:r>
              <a:rPr lang="zh-CN" altLang="en-US" sz="1200" dirty="0">
                <a:solidFill>
                  <a:srgbClr val="3C3C3C"/>
                </a:solidFill>
                <a:latin typeface="+mj-ea"/>
                <a:ea typeface="+mj-ea"/>
              </a:rPr>
              <a:t>为基模型</a:t>
            </a:r>
          </a:p>
        </p:txBody>
      </p:sp>
      <p:sp>
        <p:nvSpPr>
          <p:cNvPr id="9" name="文本框 8"/>
          <p:cNvSpPr txBox="1"/>
          <p:nvPr/>
        </p:nvSpPr>
        <p:spPr>
          <a:xfrm>
            <a:off x="507683" y="3326522"/>
            <a:ext cx="2443662" cy="890693"/>
          </a:xfrm>
          <a:prstGeom prst="rect">
            <a:avLst/>
          </a:prstGeom>
          <a:noFill/>
        </p:spPr>
        <p:txBody>
          <a:bodyPr wrap="square" rtlCol="0">
            <a:spAutoFit/>
          </a:bodyPr>
          <a:lstStyle/>
          <a:p>
            <a:pPr marL="128270" indent="-128270" defTabSz="685165" fontAlgn="auto">
              <a:lnSpc>
                <a:spcPct val="150000"/>
              </a:lnSpc>
              <a:spcBef>
                <a:spcPts val="0"/>
              </a:spcBef>
              <a:spcAft>
                <a:spcPts val="0"/>
              </a:spcAft>
              <a:buFont typeface="Arial" charset="0"/>
              <a:buChar char="•"/>
              <a:defRPr/>
            </a:pPr>
            <a:r>
              <a:rPr lang="zh-CN" altLang="en-US" sz="1200" dirty="0">
                <a:solidFill>
                  <a:srgbClr val="3C3C3C"/>
                </a:solidFill>
                <a:latin typeface="+mj-ea"/>
                <a:ea typeface="+mj-ea"/>
              </a:rPr>
              <a:t>在多卡环境和固定并发条件下进行效率对比，KGNLU的推理效率较外部模型显著提升</a:t>
            </a:r>
            <a:r>
              <a:rPr lang="en-US" altLang="zh-CN" sz="1200" dirty="0">
                <a:solidFill>
                  <a:srgbClr val="3C3C3C"/>
                </a:solidFill>
                <a:latin typeface="+mj-ea"/>
                <a:ea typeface="+mj-ea"/>
              </a:rPr>
              <a:t/>
            </a:r>
            <a:r>
              <a:rPr lang="zh-CN" altLang="en-US" sz="1200" dirty="0">
                <a:solidFill>
                  <a:srgbClr val="3C3C3C"/>
                </a:solidFill>
                <a:latin typeface="+mj-ea"/>
                <a:ea typeface="+mj-ea"/>
              </a:rPr>
              <a:t/>
            </a:r>
            <a:r>
              <a:rPr lang="en-US" altLang="zh-CN" sz="1200" dirty="0">
                <a:solidFill>
                  <a:srgbClr val="3C3C3C"/>
                </a:solidFill>
                <a:latin typeface="+mj-ea"/>
                <a:ea typeface="+mj-ea"/>
              </a:rPr>
              <a:t/>
            </a:r>
            <a:r>
              <a:rPr lang="zh-CN" altLang="en-US" sz="1200" dirty="0">
                <a:solidFill>
                  <a:srgbClr val="3C3C3C"/>
                </a:solidFill>
                <a:latin typeface="+mj-ea"/>
                <a:ea typeface="+mj-ea"/>
              </a:rPr>
              <a:t/>
            </a:r>
            <a:r>
              <a:rPr lang="en-US" altLang="zh-CN" sz="1200" dirty="0">
                <a:solidFill>
                  <a:srgbClr val="3C3C3C"/>
                </a:solidFill>
                <a:latin typeface="+mj-ea"/>
                <a:ea typeface="+mj-ea"/>
              </a:rPr>
              <a:t/>
            </a:r>
            <a:r>
              <a:rPr lang="zh-CN" altLang="en-US" sz="1200" dirty="0">
                <a:solidFill>
                  <a:srgbClr val="3C3C3C"/>
                </a:solidFill>
                <a:latin typeface="+mj-ea"/>
                <a:ea typeface="+mj-ea"/>
              </a:rPr>
              <a:t/>
            </a:r>
            <a:r>
              <a:rPr lang="en-US" altLang="zh-CN" sz="1200" dirty="0">
                <a:solidFill>
                  <a:srgbClr val="3C3C3C"/>
                </a:solidFill>
                <a:latin typeface="+mj-ea"/>
                <a:ea typeface="+mj-ea"/>
              </a:rPr>
              <a:t/>
            </a:r>
            <a:r>
              <a:rPr lang="zh-CN" altLang="en-US" sz="1200" dirty="0">
                <a:solidFill>
                  <a:srgbClr val="3C3C3C"/>
                </a:solidFill>
                <a:latin typeface="+mj-ea"/>
                <a:ea typeface="+mj-ea"/>
              </a:rPr>
              <a:t/>
            </a:r>
            <a:r>
              <a:rPr lang="en-US" altLang="zh-CN" sz="1200" dirty="0">
                <a:solidFill>
                  <a:srgbClr val="3C3C3C"/>
                </a:solidFill>
                <a:latin typeface="+mj-ea"/>
                <a:ea typeface="+mj-ea"/>
              </a:rPr>
              <a:t/>
            </a:r>
            <a:r>
              <a:rPr lang="zh-CN" altLang="en-US" sz="1200" dirty="0">
                <a:solidFill>
                  <a:srgbClr val="3C3C3C"/>
                </a:solidFill>
                <a:latin typeface="+mj-ea"/>
                <a:ea typeface="+mj-ea"/>
              </a:rPr>
              <a:t/>
            </a:r>
            <a:r>
              <a:rPr lang="en-US" altLang="zh-CN" sz="1200" b="1" dirty="0">
                <a:solidFill>
                  <a:schemeClr val="accent3"/>
                </a:solidFill>
                <a:latin typeface="+mj-ea"/>
                <a:ea typeface="+mj-ea"/>
              </a:rPr>
              <a:t/>
            </a:r>
            <a:r>
              <a:rPr lang="zh-CN" altLang="en-US" sz="1200" b="1" dirty="0">
                <a:solidFill>
                  <a:schemeClr val="accent3"/>
                </a:solidFill>
                <a:latin typeface="+mj-ea"/>
                <a:ea typeface="+mj-ea"/>
              </a:rPr>
              <a:t/>
            </a:r>
          </a:p>
        </p:txBody>
      </p:sp>
      <p:sp>
        <p:nvSpPr>
          <p:cNvPr id="10" name="文本框 9"/>
          <p:cNvSpPr txBox="1"/>
          <p:nvPr/>
        </p:nvSpPr>
        <p:spPr>
          <a:xfrm>
            <a:off x="507683" y="1415573"/>
            <a:ext cx="1312214" cy="276743"/>
          </a:xfrm>
          <a:prstGeom prst="rect">
            <a:avLst/>
          </a:prstGeom>
          <a:noFill/>
        </p:spPr>
        <p:txBody>
          <a:bodyPr wrap="square" rtlCol="0">
            <a:spAutoFit/>
          </a:bodyPr>
          <a:lstStyle/>
          <a:p>
            <a:pPr defTabSz="685165" fontAlgn="auto">
              <a:spcBef>
                <a:spcPts val="0"/>
              </a:spcBef>
              <a:spcAft>
                <a:spcPts val="0"/>
              </a:spcAft>
              <a:defRPr/>
            </a:pPr>
            <a:r>
              <a:rPr lang="zh-CN" altLang="en-US" sz="1200" b="1" dirty="0">
                <a:solidFill>
                  <a:srgbClr val="005096">
                    <a:lumMod val="75000"/>
                  </a:srgbClr>
                </a:solidFill>
                <a:latin typeface="+mj-ea"/>
                <a:ea typeface="+mj-ea"/>
              </a:rPr>
              <a:t>效果对比</a:t>
            </a:r>
          </a:p>
        </p:txBody>
      </p:sp>
      <p:sp>
        <p:nvSpPr>
          <p:cNvPr id="11" name="文本框 10"/>
          <p:cNvSpPr txBox="1"/>
          <p:nvPr/>
        </p:nvSpPr>
        <p:spPr>
          <a:xfrm>
            <a:off x="507683" y="2952933"/>
            <a:ext cx="1312214" cy="276743"/>
          </a:xfrm>
          <a:prstGeom prst="rect">
            <a:avLst/>
          </a:prstGeom>
          <a:noFill/>
        </p:spPr>
        <p:txBody>
          <a:bodyPr wrap="square" rtlCol="0">
            <a:spAutoFit/>
          </a:bodyPr>
          <a:lstStyle/>
          <a:p>
            <a:pPr defTabSz="685165" fontAlgn="auto">
              <a:spcBef>
                <a:spcPts val="0"/>
              </a:spcBef>
              <a:spcAft>
                <a:spcPts val="0"/>
              </a:spcAft>
              <a:defRPr/>
            </a:pPr>
            <a:r>
              <a:rPr lang="zh-CN" altLang="en-US" sz="1200" b="1" dirty="0">
                <a:solidFill>
                  <a:srgbClr val="005096">
                    <a:lumMod val="75000"/>
                  </a:srgbClr>
                </a:solidFill>
                <a:latin typeface="+mj-ea"/>
                <a:ea typeface="+mj-ea"/>
              </a:rPr>
              <a:t>效率对比</a:t>
            </a:r>
          </a:p>
        </p:txBody>
      </p:sp>
      <p:sp>
        <p:nvSpPr>
          <p:cNvPr id="3" name="标题 3"/>
          <p:cNvSpPr txBox="1"/>
          <p:nvPr/>
        </p:nvSpPr>
        <p:spPr>
          <a:xfrm>
            <a:off x="327780" y="213325"/>
            <a:ext cx="6185523" cy="441885"/>
          </a:xfrm>
          <a:prstGeom prst="rect">
            <a:avLst/>
          </a:prstGeom>
          <a:noFill/>
          <a:ln>
            <a:noFill/>
          </a:ln>
        </p:spPr>
        <p:txBody>
          <a:bodyPr vert="horz" wrap="square" lIns="0" tIns="0" rIns="0" bIns="45678" numCol="1" anchor="t" anchorCtr="0" compatLnSpc="1"/>
          <a:lstStyle>
            <a:lvl1pPr algn="l" rtl="0" eaLnBrk="1" fontAlgn="base" hangingPunct="1">
              <a:spcBef>
                <a:spcPct val="0"/>
              </a:spcBef>
              <a:spcAft>
                <a:spcPct val="0"/>
              </a:spcAft>
              <a:defRPr sz="900" b="0" i="0" baseline="0">
                <a:solidFill>
                  <a:schemeClr val="bg1"/>
                </a:solidFill>
                <a:latin typeface="Arial" charset="0"/>
                <a:ea typeface="华文黑体"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122"/>
                <a:cs typeface="MS PGothic" charset="0"/>
              </a:defRPr>
            </a:lvl2pPr>
            <a:lvl3pPr algn="l" rtl="0" eaLnBrk="1" fontAlgn="base" hangingPunct="1">
              <a:spcBef>
                <a:spcPct val="0"/>
              </a:spcBef>
              <a:spcAft>
                <a:spcPct val="0"/>
              </a:spcAft>
              <a:defRPr sz="3600">
                <a:solidFill>
                  <a:schemeClr val="tx1"/>
                </a:solidFill>
                <a:latin typeface="黑体" charset="-122"/>
                <a:ea typeface="黑体" charset="-122"/>
                <a:cs typeface="MS PGothic" charset="0"/>
              </a:defRPr>
            </a:lvl3pPr>
            <a:lvl4pPr algn="l" rtl="0" eaLnBrk="1" fontAlgn="base" hangingPunct="1">
              <a:spcBef>
                <a:spcPct val="0"/>
              </a:spcBef>
              <a:spcAft>
                <a:spcPct val="0"/>
              </a:spcAft>
              <a:defRPr sz="3600">
                <a:solidFill>
                  <a:schemeClr val="tx1"/>
                </a:solidFill>
                <a:latin typeface="黑体" charset="-122"/>
                <a:ea typeface="黑体" charset="-122"/>
                <a:cs typeface="MS PGothic" charset="0"/>
              </a:defRPr>
            </a:lvl4pPr>
            <a:lvl5pPr algn="l" rtl="0" eaLnBrk="1" fontAlgn="base" hangingPunct="1">
              <a:spcBef>
                <a:spcPct val="0"/>
              </a:spcBef>
              <a:spcAft>
                <a:spcPct val="0"/>
              </a:spcAft>
              <a:defRPr sz="3600">
                <a:solidFill>
                  <a:schemeClr val="tx1"/>
                </a:solidFill>
                <a:latin typeface="黑体" charset="-122"/>
                <a:ea typeface="黑体" charset="-122"/>
                <a:cs typeface="MS PGothic" charset="0"/>
              </a:defRPr>
            </a:lvl5pPr>
            <a:lvl6pPr marL="457200" algn="l" rtl="0" eaLnBrk="1" fontAlgn="base" hangingPunct="1">
              <a:spcBef>
                <a:spcPct val="0"/>
              </a:spcBef>
              <a:spcAft>
                <a:spcPct val="0"/>
              </a:spcAft>
              <a:defRPr sz="3600">
                <a:solidFill>
                  <a:srgbClr val="5F294F"/>
                </a:solidFill>
                <a:latin typeface="Arial Narrow" charset="0"/>
                <a:ea typeface="MS PGothic" charset="0"/>
                <a:cs typeface="MS PGothic" charset="0"/>
              </a:defRPr>
            </a:lvl6pPr>
            <a:lvl7pPr marL="914400" algn="l" rtl="0" eaLnBrk="1" fontAlgn="base" hangingPunct="1">
              <a:spcBef>
                <a:spcPct val="0"/>
              </a:spcBef>
              <a:spcAft>
                <a:spcPct val="0"/>
              </a:spcAft>
              <a:defRPr sz="3600">
                <a:solidFill>
                  <a:srgbClr val="5F294F"/>
                </a:solidFill>
                <a:latin typeface="Arial Narrow" charset="0"/>
                <a:ea typeface="MS PGothic" charset="0"/>
                <a:cs typeface="MS PGothic" charset="0"/>
              </a:defRPr>
            </a:lvl7pPr>
            <a:lvl8pPr marL="1371600" algn="l" rtl="0" eaLnBrk="1" fontAlgn="base" hangingPunct="1">
              <a:spcBef>
                <a:spcPct val="0"/>
              </a:spcBef>
              <a:spcAft>
                <a:spcPct val="0"/>
              </a:spcAft>
              <a:defRPr sz="3600">
                <a:solidFill>
                  <a:srgbClr val="5F294F"/>
                </a:solidFill>
                <a:latin typeface="Arial Narrow" charset="0"/>
                <a:ea typeface="MS PGothic" charset="0"/>
                <a:cs typeface="MS PGothic" charset="0"/>
              </a:defRPr>
            </a:lvl8pPr>
            <a:lvl9pPr marL="1828800" algn="l" rtl="0" eaLnBrk="1" fontAlgn="base" hangingPunct="1">
              <a:spcBef>
                <a:spcPct val="0"/>
              </a:spcBef>
              <a:spcAft>
                <a:spcPct val="0"/>
              </a:spcAft>
              <a:defRPr sz="3600">
                <a:solidFill>
                  <a:srgbClr val="5F294F"/>
                </a:solidFill>
                <a:latin typeface="Arial Narrow" charset="0"/>
                <a:ea typeface="MS PGothic" charset="0"/>
                <a:cs typeface="MS PGothic" charset="0"/>
              </a:defRPr>
            </a:lvl9pPr>
          </a:lstStyle>
          <a:p>
            <a:r>
              <a:rPr lang="en-US" altLang="zh-CN" sz="2300" b="1" kern="0" dirty="0" err="1">
                <a:latin typeface="+mj-ea"/>
                <a:ea typeface="+mj-ea"/>
              </a:rPr>
              <a:t>EFundGPT</a:t>
            </a:r>
            <a:r>
              <a:rPr lang="en-US" altLang="zh-CN" sz="2300" b="1" kern="0" dirty="0">
                <a:latin typeface="+mj-ea"/>
                <a:ea typeface="+mj-ea"/>
              </a:rPr>
              <a:t>-KGNLU——</a:t>
            </a:r>
            <a:r>
              <a:rPr lang="zh-CN" altLang="en-US" sz="2300" b="1" kern="0" dirty="0">
                <a:latin typeface="+mj-ea"/>
                <a:ea typeface="+mj-ea"/>
              </a:rPr>
              <a:t>模型表现</a:t>
            </a:r>
            <a:endParaRPr lang="en-US" sz="2300" b="1" kern="0" dirty="0">
              <a:latin typeface="+mj-ea"/>
              <a:ea typeface="+mj-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架构层：解决调度瓶颈，提升系统可靠与安全</a:t>
            </a:r>
          </a:p>
        </p:txBody>
      </p:sp>
      <p:sp>
        <p:nvSpPr>
          <p:cNvPr id="11" name="AutoShape 5"/>
          <p:cNvSpPr/>
          <p:nvPr/>
        </p:nvSpPr>
        <p:spPr>
          <a:xfrm>
            <a:off x="2316119" y="1253067"/>
            <a:ext cx="205018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3" name="AutoShape 7"/>
          <p:cNvSpPr/>
          <p:nvPr/>
        </p:nvSpPr>
        <p:spPr>
          <a:xfrm>
            <a:off x="4518138" y="1253067"/>
            <a:ext cx="205018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AutoShape 9"/>
          <p:cNvSpPr/>
          <p:nvPr/>
        </p:nvSpPr>
        <p:spPr>
          <a:xfrm>
            <a:off x="6710374" y="1253067"/>
            <a:ext cx="205018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2589388" y="1889448"/>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智能任务编排</a:t>
            </a:r>
          </a:p>
        </p:txBody>
      </p:sp>
      <p:sp>
        <p:nvSpPr>
          <p:cNvPr id="20" name="TextBox 15"/>
          <p:cNvSpPr txBox="1"/>
          <p:nvPr/>
        </p:nvSpPr>
        <p:spPr>
          <a:xfrm>
            <a:off x="4791405" y="1889448"/>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上下文管理</a:t>
            </a:r>
          </a:p>
        </p:txBody>
      </p:sp>
      <p:sp>
        <p:nvSpPr>
          <p:cNvPr id="21" name="TextBox 16"/>
          <p:cNvSpPr txBox="1"/>
          <p:nvPr/>
        </p:nvSpPr>
        <p:spPr>
          <a:xfrm>
            <a:off x="6961545" y="1889448"/>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安全与合规引擎</a:t>
            </a:r>
          </a:p>
        </p:txBody>
      </p:sp>
      <p:sp>
        <p:nvSpPr>
          <p:cNvPr id="23" name="TextBox 18"/>
          <p:cNvSpPr txBox="1"/>
          <p:nvPr/>
        </p:nvSpPr>
        <p:spPr>
          <a:xfrm>
            <a:off x="2589388" y="2287893"/>
            <a:ext cx="158713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实现复杂任务的自动分解与多</a:t>
            </a:r>
            <a:r>
              <a:rPr lang="en-US" sz="1200">
                <a:solidFill>
                  <a:schemeClr val="accent4"/>
                </a:solidFill>
                <a:latin typeface="+mj-ea"/>
                <a:ea typeface="+mj-ea"/>
              </a:rPr>
              <a:t>Agent</a:t>
            </a:r>
            <a:r>
              <a:rPr lang="zh-CN" altLang="en-US" sz="1200">
                <a:solidFill>
                  <a:schemeClr val="accent4"/>
                </a:solidFill>
                <a:latin typeface="+mj-ea"/>
                <a:ea typeface="+mj-ea"/>
              </a:rPr>
              <a:t>协同调度，处理资源争抢与依赖关系，确保整体执行效率与任务可靠完成。</a:t>
            </a:r>
          </a:p>
        </p:txBody>
      </p:sp>
      <p:sp>
        <p:nvSpPr>
          <p:cNvPr id="24" name="TextBox 19"/>
          <p:cNvSpPr txBox="1"/>
          <p:nvPr/>
        </p:nvSpPr>
        <p:spPr>
          <a:xfrm>
            <a:off x="4791405" y="2290728"/>
            <a:ext cx="1587135" cy="10456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突破</a:t>
            </a:r>
            <a:r>
              <a:rPr lang="en-US" sz="1200">
                <a:solidFill>
                  <a:schemeClr val="accent4"/>
                </a:solidFill>
                <a:latin typeface="+mj-ea"/>
                <a:ea typeface="+mj-ea"/>
              </a:rPr>
              <a:t>Token</a:t>
            </a:r>
            <a:r>
              <a:rPr lang="zh-CN" altLang="en-US" sz="1200">
                <a:solidFill>
                  <a:schemeClr val="accent4"/>
                </a:solidFill>
                <a:latin typeface="+mj-ea"/>
                <a:ea typeface="+mj-ea"/>
              </a:rPr>
              <a:t>限制，通过分层记忆机制实现长期记忆与短期工作记忆的动态管理，以支持复杂业务场景的连续性与状态保持。</a:t>
            </a:r>
          </a:p>
        </p:txBody>
      </p:sp>
      <p:sp>
        <p:nvSpPr>
          <p:cNvPr id="25" name="TextBox 20"/>
          <p:cNvSpPr txBox="1"/>
          <p:nvPr/>
        </p:nvSpPr>
        <p:spPr>
          <a:xfrm>
            <a:off x="6983642" y="2287893"/>
            <a:ext cx="1587134" cy="971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植入权限管理与合规规则引擎，确保</a:t>
            </a:r>
            <a:r>
              <a:rPr lang="en-US" sz="1200">
                <a:solidFill>
                  <a:schemeClr val="accent4"/>
                </a:solidFill>
                <a:latin typeface="+mj-ea"/>
                <a:ea typeface="+mj-ea"/>
              </a:rPr>
              <a:t>Agent</a:t>
            </a:r>
            <a:r>
              <a:rPr lang="zh-CN" altLang="en-US" sz="1200">
                <a:solidFill>
                  <a:schemeClr val="accent4"/>
                </a:solidFill>
                <a:latin typeface="+mj-ea"/>
                <a:ea typeface="+mj-ea"/>
              </a:rPr>
              <a:t>的自动化调用符合监管要求，实现可用、能用、敢用的安全目标。</a:t>
            </a:r>
          </a:p>
        </p:txBody>
      </p:sp>
      <p:sp>
        <p:nvSpPr>
          <p:cNvPr id="34" name="矩形 33"/>
          <p:cNvSpPr/>
          <p:nvPr/>
        </p:nvSpPr>
        <p:spPr bwMode="auto">
          <a:xfrm>
            <a:off x="2316119" y="1253067"/>
            <a:ext cx="2050181" cy="76200"/>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5" name="矩形 34"/>
          <p:cNvSpPr/>
          <p:nvPr/>
        </p:nvSpPr>
        <p:spPr bwMode="auto">
          <a:xfrm>
            <a:off x="4526481" y="1253067"/>
            <a:ext cx="2050181" cy="76200"/>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6" name="矩形 35"/>
          <p:cNvSpPr/>
          <p:nvPr/>
        </p:nvSpPr>
        <p:spPr bwMode="auto">
          <a:xfrm>
            <a:off x="6710127" y="1253067"/>
            <a:ext cx="2050181" cy="76200"/>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3" name="矩形 2"/>
          <p:cNvSpPr/>
          <p:nvPr/>
        </p:nvSpPr>
        <p:spPr bwMode="auto">
          <a:xfrm>
            <a:off x="283571" y="1258643"/>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4" name="矩形 3"/>
          <p:cNvSpPr/>
          <p:nvPr/>
        </p:nvSpPr>
        <p:spPr bwMode="auto">
          <a:xfrm>
            <a:off x="283571" y="1889448"/>
            <a:ext cx="1729675" cy="522854"/>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5" name="矩形 4"/>
          <p:cNvSpPr/>
          <p:nvPr/>
        </p:nvSpPr>
        <p:spPr bwMode="auto">
          <a:xfrm>
            <a:off x="283571" y="252538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6" name="矩形 5"/>
          <p:cNvSpPr/>
          <p:nvPr/>
        </p:nvSpPr>
        <p:spPr bwMode="auto">
          <a:xfrm>
            <a:off x="283571" y="31650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7" name="矩形 6"/>
          <p:cNvSpPr/>
          <p:nvPr/>
        </p:nvSpPr>
        <p:spPr bwMode="auto">
          <a:xfrm>
            <a:off x="283571" y="3786679"/>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8" name="TextBox 22"/>
          <p:cNvSpPr txBox="1"/>
          <p:nvPr/>
        </p:nvSpPr>
        <p:spPr>
          <a:xfrm>
            <a:off x="632879" y="3944472"/>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算力层</a:t>
            </a:r>
            <a:endParaRPr lang="en-US" sz="600">
              <a:solidFill>
                <a:schemeClr val="bg1"/>
              </a:solidFill>
              <a:latin typeface="+mj-ea"/>
              <a:ea typeface="+mj-ea"/>
            </a:endParaRPr>
          </a:p>
        </p:txBody>
      </p:sp>
      <p:sp>
        <p:nvSpPr>
          <p:cNvPr id="9" name="TextBox 22"/>
          <p:cNvSpPr txBox="1"/>
          <p:nvPr/>
        </p:nvSpPr>
        <p:spPr>
          <a:xfrm>
            <a:off x="634402" y="2043401"/>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架构层</a:t>
            </a:r>
            <a:endParaRPr lang="en-US" sz="600">
              <a:solidFill>
                <a:schemeClr val="bg1"/>
              </a:solidFill>
              <a:latin typeface="+mj-ea"/>
              <a:ea typeface="+mj-ea"/>
            </a:endParaRPr>
          </a:p>
        </p:txBody>
      </p:sp>
      <p:sp>
        <p:nvSpPr>
          <p:cNvPr id="10" name="TextBox 22"/>
          <p:cNvSpPr txBox="1"/>
          <p:nvPr/>
        </p:nvSpPr>
        <p:spPr>
          <a:xfrm>
            <a:off x="634402" y="2680165"/>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模型层</a:t>
            </a:r>
            <a:endParaRPr lang="en-US" sz="600">
              <a:solidFill>
                <a:schemeClr val="bg1"/>
              </a:solidFill>
              <a:latin typeface="+mj-ea"/>
              <a:ea typeface="+mj-ea"/>
            </a:endParaRPr>
          </a:p>
        </p:txBody>
      </p:sp>
      <p:sp>
        <p:nvSpPr>
          <p:cNvPr id="12" name="TextBox 22"/>
          <p:cNvSpPr txBox="1"/>
          <p:nvPr/>
        </p:nvSpPr>
        <p:spPr>
          <a:xfrm>
            <a:off x="634402" y="1412447"/>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技能层</a:t>
            </a:r>
            <a:endParaRPr lang="en-US" sz="600">
              <a:solidFill>
                <a:schemeClr val="bg1"/>
              </a:solidFill>
              <a:latin typeface="+mj-ea"/>
              <a:ea typeface="+mj-ea"/>
            </a:endParaRPr>
          </a:p>
        </p:txBody>
      </p:sp>
      <p:sp>
        <p:nvSpPr>
          <p:cNvPr id="14" name="TextBox 22"/>
          <p:cNvSpPr txBox="1"/>
          <p:nvPr/>
        </p:nvSpPr>
        <p:spPr>
          <a:xfrm>
            <a:off x="632878" y="3319001"/>
            <a:ext cx="1031063" cy="214947"/>
          </a:xfrm>
          <a:prstGeom prst="rect">
            <a:avLst/>
          </a:prstGeom>
          <a:solidFill>
            <a:schemeClr val="accent1">
              <a:lumMod val="60000"/>
              <a:lumOff val="40000"/>
              <a:alpha val="0"/>
            </a:schemeClr>
          </a:solidFill>
        </p:spPr>
        <p:txBody>
          <a:bodyPr lIns="0" tIns="0" rIns="0" bIns="0" rtlCol="0" anchor="t"/>
          <a:lstStyle>
            <a:defPPr>
              <a:defRPr lang="en-US"/>
            </a:defPPr>
            <a:lvl1pPr indent="0" algn="ctr">
              <a:lnSpc>
                <a:spcPct val="120000"/>
              </a:lnSpc>
              <a:defRPr sz="1100">
                <a:solidFill>
                  <a:schemeClr val="bg1"/>
                </a:solidFill>
                <a:latin typeface="+mj-ea"/>
                <a:ea typeface="+mj-ea"/>
              </a:defRPr>
            </a:lvl1pPr>
          </a:lstStyle>
          <a:p>
            <a:r>
              <a:rPr lang="en-US">
                <a:solidFill>
                  <a:schemeClr val="bg2"/>
                </a:solidFill>
              </a:rPr>
              <a:t>数据层</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DAC52B5-357B-7BF7-D230-325BD9374862}"/>
              </a:ext>
            </a:extLst>
          </p:cNvPr>
          <p:cNvSpPr/>
          <p:nvPr/>
        </p:nvSpPr>
        <p:spPr>
          <a:xfrm>
            <a:off x="369651" y="4723075"/>
            <a:ext cx="8413833" cy="0"/>
          </a:xfrm>
          <a:prstGeom prst="line">
            <a:avLst/>
          </a:prstGeom>
          <a:noFill/>
          <a:ln w="9525">
            <a:solidFill>
              <a:srgbClr val="D6E2EC"/>
            </a:solidFill>
            <a:prstDash val="solid"/>
          </a:ln>
        </p:spPr>
        <p:txBody>
          <a:bodyPr/>
          <a:lstStyle/>
          <a:p>
            <a:endParaRPr lang="zh-CN" altLang="en-US" sz="2398">
              <a:latin typeface="+mj-ea"/>
              <a:ea typeface="+mj-ea"/>
            </a:endParaRPr>
          </a:p>
        </p:txBody>
      </p:sp>
      <p:sp>
        <p:nvSpPr>
          <p:cNvPr id="4" name="Text 6">
            <a:extLst>
              <a:ext uri="{FF2B5EF4-FFF2-40B4-BE49-F238E27FC236}">
                <a16:creationId xmlns:a16="http://schemas.microsoft.com/office/drawing/2014/main" id="{82291214-CA87-01DE-68E4-985D262A2876}"/>
              </a:ext>
            </a:extLst>
          </p:cNvPr>
          <p:cNvSpPr/>
          <p:nvPr/>
        </p:nvSpPr>
        <p:spPr>
          <a:xfrm>
            <a:off x="369651" y="1315518"/>
            <a:ext cx="1553042" cy="456777"/>
          </a:xfrm>
          <a:prstGeom prst="rect">
            <a:avLst/>
          </a:prstGeom>
          <a:noFill/>
          <a:ln/>
        </p:spPr>
        <p:txBody>
          <a:bodyPr wrap="square" lIns="0" tIns="0" rIns="0" bIns="0" rtlCol="0" anchor="ctr"/>
          <a:lstStyle/>
          <a:p>
            <a:pPr>
              <a:lnSpc>
                <a:spcPct val="105000"/>
              </a:lnSpc>
            </a:pPr>
            <a:r>
              <a:rPr lang="en-US" sz="1100" b="1" dirty="0">
                <a:solidFill>
                  <a:srgbClr val="566776"/>
                </a:solidFill>
                <a:latin typeface="+mj-ea"/>
                <a:ea typeface="+mj-ea"/>
                <a:cs typeface="微软雅黑" pitchFamily="34" charset="-120"/>
              </a:rPr>
              <a:t>终端 · 多框架 Agent</a:t>
            </a:r>
            <a:endParaRPr lang="en-US" sz="1100" dirty="0">
              <a:latin typeface="+mj-ea"/>
              <a:ea typeface="+mj-ea"/>
            </a:endParaRPr>
          </a:p>
        </p:txBody>
      </p:sp>
      <p:sp>
        <p:nvSpPr>
          <p:cNvPr id="5" name="Shape 7">
            <a:extLst>
              <a:ext uri="{FF2B5EF4-FFF2-40B4-BE49-F238E27FC236}">
                <a16:creationId xmlns:a16="http://schemas.microsoft.com/office/drawing/2014/main" id="{D65D1045-D66A-FC31-3BDF-33D1D01C88DD}"/>
              </a:ext>
            </a:extLst>
          </p:cNvPr>
          <p:cNvSpPr/>
          <p:nvPr/>
        </p:nvSpPr>
        <p:spPr>
          <a:xfrm>
            <a:off x="2059726" y="1315518"/>
            <a:ext cx="2101174" cy="456777"/>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6" name="Text 8">
            <a:extLst>
              <a:ext uri="{FF2B5EF4-FFF2-40B4-BE49-F238E27FC236}">
                <a16:creationId xmlns:a16="http://schemas.microsoft.com/office/drawing/2014/main" id="{E0E449FA-05F8-89C8-C465-8F05CF0BF0CA}"/>
              </a:ext>
            </a:extLst>
          </p:cNvPr>
          <p:cNvSpPr/>
          <p:nvPr/>
        </p:nvSpPr>
        <p:spPr>
          <a:xfrm>
            <a:off x="2059726" y="1315518"/>
            <a:ext cx="2101174" cy="456777"/>
          </a:xfrm>
          <a:prstGeom prst="rect">
            <a:avLst/>
          </a:prstGeom>
          <a:noFill/>
          <a:ln/>
        </p:spPr>
        <p:txBody>
          <a:bodyPr wrap="square" lIns="0" tIns="0" rIns="0" bIns="0" rtlCol="0" anchor="ctr"/>
          <a:lstStyle/>
          <a:p>
            <a:pPr algn="ctr"/>
            <a:r>
              <a:rPr lang="en-US" sz="1099" b="1" dirty="0">
                <a:solidFill>
                  <a:srgbClr val="005096"/>
                </a:solidFill>
                <a:latin typeface="+mj-ea"/>
                <a:ea typeface="+mj-ea"/>
                <a:cs typeface="微软雅黑" pitchFamily="34" charset="-120"/>
              </a:rPr>
              <a:t>龙虾 / OpenClaw</a:t>
            </a:r>
            <a:endParaRPr lang="en-US" sz="1099" dirty="0">
              <a:latin typeface="+mj-ea"/>
              <a:ea typeface="+mj-ea"/>
            </a:endParaRPr>
          </a:p>
        </p:txBody>
      </p:sp>
      <p:sp>
        <p:nvSpPr>
          <p:cNvPr id="7" name="Shape 9">
            <a:extLst>
              <a:ext uri="{FF2B5EF4-FFF2-40B4-BE49-F238E27FC236}">
                <a16:creationId xmlns:a16="http://schemas.microsoft.com/office/drawing/2014/main" id="{54B31D01-0713-A39C-D1FE-E8385D5566B5}"/>
              </a:ext>
            </a:extLst>
          </p:cNvPr>
          <p:cNvSpPr/>
          <p:nvPr/>
        </p:nvSpPr>
        <p:spPr>
          <a:xfrm>
            <a:off x="3110313" y="1790566"/>
            <a:ext cx="0" cy="274066"/>
          </a:xfrm>
          <a:prstGeom prst="line">
            <a:avLst/>
          </a:prstGeom>
          <a:noFill/>
          <a:ln w="19050">
            <a:solidFill>
              <a:srgbClr val="0078B4"/>
            </a:solidFill>
            <a:prstDash val="solid"/>
            <a:tailEnd type="triangle"/>
          </a:ln>
        </p:spPr>
        <p:txBody>
          <a:bodyPr/>
          <a:lstStyle/>
          <a:p>
            <a:endParaRPr lang="zh-CN" altLang="en-US" sz="2398">
              <a:latin typeface="+mj-ea"/>
              <a:ea typeface="+mj-ea"/>
            </a:endParaRPr>
          </a:p>
        </p:txBody>
      </p:sp>
      <p:sp>
        <p:nvSpPr>
          <p:cNvPr id="8" name="Shape 10">
            <a:extLst>
              <a:ext uri="{FF2B5EF4-FFF2-40B4-BE49-F238E27FC236}">
                <a16:creationId xmlns:a16="http://schemas.microsoft.com/office/drawing/2014/main" id="{CC87DD3E-593E-D24F-292B-6919458F2B6E}"/>
              </a:ext>
            </a:extLst>
          </p:cNvPr>
          <p:cNvSpPr/>
          <p:nvPr/>
        </p:nvSpPr>
        <p:spPr>
          <a:xfrm>
            <a:off x="4343612" y="1315518"/>
            <a:ext cx="2101174" cy="456777"/>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9" name="Text 11">
            <a:extLst>
              <a:ext uri="{FF2B5EF4-FFF2-40B4-BE49-F238E27FC236}">
                <a16:creationId xmlns:a16="http://schemas.microsoft.com/office/drawing/2014/main" id="{F3A847E9-A0EA-F9C5-EA52-7DEA700261D8}"/>
              </a:ext>
            </a:extLst>
          </p:cNvPr>
          <p:cNvSpPr/>
          <p:nvPr/>
        </p:nvSpPr>
        <p:spPr>
          <a:xfrm>
            <a:off x="4343612" y="1315518"/>
            <a:ext cx="2101174" cy="456777"/>
          </a:xfrm>
          <a:prstGeom prst="rect">
            <a:avLst/>
          </a:prstGeom>
          <a:noFill/>
          <a:ln/>
        </p:spPr>
        <p:txBody>
          <a:bodyPr wrap="square" lIns="0" tIns="0" rIns="0" bIns="0" rtlCol="0" anchor="ctr"/>
          <a:lstStyle/>
          <a:p>
            <a:pPr algn="ctr"/>
            <a:r>
              <a:rPr lang="en-US" sz="1099" b="1" dirty="0">
                <a:solidFill>
                  <a:srgbClr val="005096"/>
                </a:solidFill>
                <a:latin typeface="+mj-ea"/>
                <a:ea typeface="+mj-ea"/>
                <a:cs typeface="微软雅黑" pitchFamily="34" charset="-120"/>
              </a:rPr>
              <a:t>QwenPaw</a:t>
            </a:r>
            <a:endParaRPr lang="en-US" sz="1099" dirty="0">
              <a:latin typeface="+mj-ea"/>
              <a:ea typeface="+mj-ea"/>
            </a:endParaRPr>
          </a:p>
        </p:txBody>
      </p:sp>
      <p:sp>
        <p:nvSpPr>
          <p:cNvPr id="10" name="Shape 12">
            <a:extLst>
              <a:ext uri="{FF2B5EF4-FFF2-40B4-BE49-F238E27FC236}">
                <a16:creationId xmlns:a16="http://schemas.microsoft.com/office/drawing/2014/main" id="{FAB7B763-1D95-0A8D-A3D1-C257917B972D}"/>
              </a:ext>
            </a:extLst>
          </p:cNvPr>
          <p:cNvSpPr/>
          <p:nvPr/>
        </p:nvSpPr>
        <p:spPr>
          <a:xfrm>
            <a:off x="5394199" y="1790566"/>
            <a:ext cx="0" cy="274066"/>
          </a:xfrm>
          <a:prstGeom prst="line">
            <a:avLst/>
          </a:prstGeom>
          <a:noFill/>
          <a:ln w="19050">
            <a:solidFill>
              <a:srgbClr val="0078B4"/>
            </a:solidFill>
            <a:prstDash val="solid"/>
            <a:tailEnd type="triangle"/>
          </a:ln>
        </p:spPr>
        <p:txBody>
          <a:bodyPr/>
          <a:lstStyle/>
          <a:p>
            <a:endParaRPr lang="zh-CN" altLang="en-US" sz="2398">
              <a:latin typeface="+mj-ea"/>
              <a:ea typeface="+mj-ea"/>
            </a:endParaRPr>
          </a:p>
        </p:txBody>
      </p:sp>
      <p:sp>
        <p:nvSpPr>
          <p:cNvPr id="11" name="Shape 13">
            <a:extLst>
              <a:ext uri="{FF2B5EF4-FFF2-40B4-BE49-F238E27FC236}">
                <a16:creationId xmlns:a16="http://schemas.microsoft.com/office/drawing/2014/main" id="{D879096E-9D13-A987-96B2-35E0669DDF47}"/>
              </a:ext>
            </a:extLst>
          </p:cNvPr>
          <p:cNvSpPr/>
          <p:nvPr/>
        </p:nvSpPr>
        <p:spPr>
          <a:xfrm>
            <a:off x="6627497" y="1315518"/>
            <a:ext cx="2101174" cy="456777"/>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2" name="Text 14">
            <a:extLst>
              <a:ext uri="{FF2B5EF4-FFF2-40B4-BE49-F238E27FC236}">
                <a16:creationId xmlns:a16="http://schemas.microsoft.com/office/drawing/2014/main" id="{3AD0BEAE-1D96-1F8D-D1E0-787A4EC0542C}"/>
              </a:ext>
            </a:extLst>
          </p:cNvPr>
          <p:cNvSpPr/>
          <p:nvPr/>
        </p:nvSpPr>
        <p:spPr>
          <a:xfrm>
            <a:off x="6627497" y="1315518"/>
            <a:ext cx="2101174" cy="456777"/>
          </a:xfrm>
          <a:prstGeom prst="rect">
            <a:avLst/>
          </a:prstGeom>
          <a:noFill/>
          <a:ln/>
        </p:spPr>
        <p:txBody>
          <a:bodyPr wrap="square" lIns="0" tIns="0" rIns="0" bIns="0" rtlCol="0" anchor="ctr"/>
          <a:lstStyle/>
          <a:p>
            <a:pPr algn="ctr"/>
            <a:r>
              <a:rPr lang="en-US" sz="1099" b="1" dirty="0">
                <a:solidFill>
                  <a:srgbClr val="005096"/>
                </a:solidFill>
                <a:latin typeface="+mj-ea"/>
                <a:ea typeface="+mj-ea"/>
                <a:cs typeface="微软雅黑" pitchFamily="34" charset="-120"/>
              </a:rPr>
              <a:t>其他 Agent 框架</a:t>
            </a:r>
            <a:endParaRPr lang="en-US" sz="1099" dirty="0">
              <a:latin typeface="+mj-ea"/>
              <a:ea typeface="+mj-ea"/>
            </a:endParaRPr>
          </a:p>
        </p:txBody>
      </p:sp>
      <p:sp>
        <p:nvSpPr>
          <p:cNvPr id="13" name="Shape 15">
            <a:extLst>
              <a:ext uri="{FF2B5EF4-FFF2-40B4-BE49-F238E27FC236}">
                <a16:creationId xmlns:a16="http://schemas.microsoft.com/office/drawing/2014/main" id="{51B3D61A-44ED-81C5-2903-0ED114AA4316}"/>
              </a:ext>
            </a:extLst>
          </p:cNvPr>
          <p:cNvSpPr/>
          <p:nvPr/>
        </p:nvSpPr>
        <p:spPr>
          <a:xfrm>
            <a:off x="7678084" y="1790566"/>
            <a:ext cx="0" cy="274066"/>
          </a:xfrm>
          <a:prstGeom prst="line">
            <a:avLst/>
          </a:prstGeom>
          <a:noFill/>
          <a:ln w="19050">
            <a:solidFill>
              <a:srgbClr val="0078B4"/>
            </a:solidFill>
            <a:prstDash val="solid"/>
            <a:tailEnd type="triangle"/>
          </a:ln>
        </p:spPr>
        <p:txBody>
          <a:bodyPr/>
          <a:lstStyle/>
          <a:p>
            <a:endParaRPr lang="zh-CN" altLang="en-US" sz="2398">
              <a:latin typeface="+mj-ea"/>
              <a:ea typeface="+mj-ea"/>
            </a:endParaRPr>
          </a:p>
        </p:txBody>
      </p:sp>
      <p:sp>
        <p:nvSpPr>
          <p:cNvPr id="14" name="Shape 16">
            <a:extLst>
              <a:ext uri="{FF2B5EF4-FFF2-40B4-BE49-F238E27FC236}">
                <a16:creationId xmlns:a16="http://schemas.microsoft.com/office/drawing/2014/main" id="{EE30889A-75DE-798F-8C27-DA0DE6CD1265}"/>
              </a:ext>
            </a:extLst>
          </p:cNvPr>
          <p:cNvSpPr/>
          <p:nvPr/>
        </p:nvSpPr>
        <p:spPr>
          <a:xfrm>
            <a:off x="369651" y="2082903"/>
            <a:ext cx="8413830" cy="1251760"/>
          </a:xfrm>
          <a:prstGeom prst="roundRect">
            <a:avLst>
              <a:gd name="adj" fmla="val 0"/>
            </a:avLst>
          </a:prstGeom>
          <a:solidFill>
            <a:srgbClr val="005096"/>
          </a:solidFill>
          <a:ln/>
          <a:effectLst/>
        </p:spPr>
        <p:txBody>
          <a:bodyPr/>
          <a:lstStyle/>
          <a:p>
            <a:endParaRPr lang="zh-CN" altLang="en-US" sz="2398">
              <a:latin typeface="+mj-ea"/>
              <a:ea typeface="+mj-ea"/>
            </a:endParaRPr>
          </a:p>
        </p:txBody>
      </p:sp>
      <p:pic>
        <p:nvPicPr>
          <p:cNvPr id="16" name="Image 2" descr="shield.png">
            <a:extLst>
              <a:ext uri="{FF2B5EF4-FFF2-40B4-BE49-F238E27FC236}">
                <a16:creationId xmlns:a16="http://schemas.microsoft.com/office/drawing/2014/main" id="{1D47DC8D-CCFD-6AA5-4094-1236D51E6EE2}"/>
              </a:ext>
            </a:extLst>
          </p:cNvPr>
          <p:cNvPicPr>
            <a:picLocks noChangeAspect="1"/>
          </p:cNvPicPr>
          <p:nvPr/>
        </p:nvPicPr>
        <p:blipFill>
          <a:blip r:embed="rId2"/>
          <a:stretch>
            <a:fillRect/>
          </a:stretch>
        </p:blipFill>
        <p:spPr>
          <a:xfrm>
            <a:off x="917784" y="2311291"/>
            <a:ext cx="274066" cy="274066"/>
          </a:xfrm>
          <a:prstGeom prst="rect">
            <a:avLst/>
          </a:prstGeom>
        </p:spPr>
      </p:pic>
      <p:sp>
        <p:nvSpPr>
          <p:cNvPr id="17" name="Text 18">
            <a:extLst>
              <a:ext uri="{FF2B5EF4-FFF2-40B4-BE49-F238E27FC236}">
                <a16:creationId xmlns:a16="http://schemas.microsoft.com/office/drawing/2014/main" id="{5779DFA7-EC6F-89DA-4D47-77F9DDF4038B}"/>
              </a:ext>
            </a:extLst>
          </p:cNvPr>
          <p:cNvSpPr/>
          <p:nvPr/>
        </p:nvSpPr>
        <p:spPr>
          <a:xfrm>
            <a:off x="1283205" y="2271825"/>
            <a:ext cx="6943011" cy="365422"/>
          </a:xfrm>
          <a:prstGeom prst="rect">
            <a:avLst/>
          </a:prstGeom>
          <a:noFill/>
          <a:ln/>
        </p:spPr>
        <p:txBody>
          <a:bodyPr wrap="square" lIns="0" tIns="0" rIns="0" bIns="0" rtlCol="0" anchor="ctr"/>
          <a:lstStyle/>
          <a:p>
            <a:r>
              <a:rPr lang="en-US" sz="1499" b="1" dirty="0">
                <a:solidFill>
                  <a:srgbClr val="FFFFFF"/>
                </a:solidFill>
                <a:latin typeface="+mj-ea"/>
                <a:ea typeface="+mj-ea"/>
                <a:cs typeface="微软雅黑" pitchFamily="34" charset="-120"/>
              </a:rPr>
              <a:t>ClawGate 守护进程</a:t>
            </a:r>
            <a:r>
              <a:rPr lang="en-US" sz="1149" dirty="0">
                <a:solidFill>
                  <a:srgbClr val="BFE3F2"/>
                </a:solidFill>
                <a:latin typeface="+mj-ea"/>
                <a:ea typeface="+mj-ea"/>
                <a:cs typeface="微软雅黑" pitchFamily="34" charset="-120"/>
              </a:rPr>
              <a:t>   统一本地入口</a:t>
            </a:r>
            <a:endParaRPr lang="en-US" sz="1499" dirty="0">
              <a:latin typeface="+mj-ea"/>
              <a:ea typeface="+mj-ea"/>
            </a:endParaRPr>
          </a:p>
        </p:txBody>
      </p:sp>
      <p:sp>
        <p:nvSpPr>
          <p:cNvPr id="18" name="Shape 19">
            <a:extLst>
              <a:ext uri="{FF2B5EF4-FFF2-40B4-BE49-F238E27FC236}">
                <a16:creationId xmlns:a16="http://schemas.microsoft.com/office/drawing/2014/main" id="{56C90D9C-431B-2C4A-C2B6-EAA9BF37DE5F}"/>
              </a:ext>
            </a:extLst>
          </p:cNvPr>
          <p:cNvSpPr/>
          <p:nvPr/>
        </p:nvSpPr>
        <p:spPr>
          <a:xfrm>
            <a:off x="723075" y="2795570"/>
            <a:ext cx="1863650" cy="420235"/>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pic>
        <p:nvPicPr>
          <p:cNvPr id="19" name="Image 3" descr="monitor.png">
            <a:extLst>
              <a:ext uri="{FF2B5EF4-FFF2-40B4-BE49-F238E27FC236}">
                <a16:creationId xmlns:a16="http://schemas.microsoft.com/office/drawing/2014/main" id="{3C6255E0-AB75-DB1A-88A6-FB802CC4BC3C}"/>
              </a:ext>
            </a:extLst>
          </p:cNvPr>
          <p:cNvPicPr>
            <a:picLocks noChangeAspect="1"/>
          </p:cNvPicPr>
          <p:nvPr/>
        </p:nvPicPr>
        <p:blipFill>
          <a:blip r:embed="rId3"/>
          <a:stretch>
            <a:fillRect/>
          </a:stretch>
        </p:blipFill>
        <p:spPr>
          <a:xfrm>
            <a:off x="869243" y="2905197"/>
            <a:ext cx="200982" cy="200982"/>
          </a:xfrm>
          <a:prstGeom prst="rect">
            <a:avLst/>
          </a:prstGeom>
        </p:spPr>
      </p:pic>
      <p:sp>
        <p:nvSpPr>
          <p:cNvPr id="20" name="Text 20">
            <a:extLst>
              <a:ext uri="{FF2B5EF4-FFF2-40B4-BE49-F238E27FC236}">
                <a16:creationId xmlns:a16="http://schemas.microsoft.com/office/drawing/2014/main" id="{F54B36AB-007D-4B07-467F-7883FB840C70}"/>
              </a:ext>
            </a:extLst>
          </p:cNvPr>
          <p:cNvSpPr/>
          <p:nvPr/>
        </p:nvSpPr>
        <p:spPr>
          <a:xfrm>
            <a:off x="1146172" y="2795570"/>
            <a:ext cx="1406873" cy="420235"/>
          </a:xfrm>
          <a:prstGeom prst="rect">
            <a:avLst/>
          </a:prstGeom>
          <a:noFill/>
          <a:ln/>
        </p:spPr>
        <p:txBody>
          <a:bodyPr wrap="square" lIns="0" tIns="0" rIns="0" bIns="0" rtlCol="0" anchor="ctr"/>
          <a:lstStyle/>
          <a:p>
            <a:r>
              <a:rPr lang="en-US" sz="969" b="1" dirty="0">
                <a:solidFill>
                  <a:srgbClr val="FFFFFF"/>
                </a:solidFill>
                <a:latin typeface="+mj-ea"/>
                <a:ea typeface="+mj-ea"/>
                <a:cs typeface="微软雅黑" pitchFamily="34" charset="-120"/>
              </a:rPr>
              <a:t>设备注册与认证</a:t>
            </a:r>
            <a:endParaRPr lang="en-US" sz="969" dirty="0">
              <a:latin typeface="+mj-ea"/>
              <a:ea typeface="+mj-ea"/>
            </a:endParaRPr>
          </a:p>
        </p:txBody>
      </p:sp>
      <p:sp>
        <p:nvSpPr>
          <p:cNvPr id="21" name="Shape 21">
            <a:extLst>
              <a:ext uri="{FF2B5EF4-FFF2-40B4-BE49-F238E27FC236}">
                <a16:creationId xmlns:a16="http://schemas.microsoft.com/office/drawing/2014/main" id="{1729377D-F732-634C-D642-C3BFCCBDEEF3}"/>
              </a:ext>
            </a:extLst>
          </p:cNvPr>
          <p:cNvSpPr/>
          <p:nvPr/>
        </p:nvSpPr>
        <p:spPr>
          <a:xfrm>
            <a:off x="2723759" y="2795570"/>
            <a:ext cx="1863650" cy="420235"/>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pic>
        <p:nvPicPr>
          <p:cNvPr id="22" name="Image 4" descr="filter.png">
            <a:extLst>
              <a:ext uri="{FF2B5EF4-FFF2-40B4-BE49-F238E27FC236}">
                <a16:creationId xmlns:a16="http://schemas.microsoft.com/office/drawing/2014/main" id="{A91436E0-269C-8E1F-2946-39CF5DD7B53D}"/>
              </a:ext>
            </a:extLst>
          </p:cNvPr>
          <p:cNvPicPr>
            <a:picLocks noChangeAspect="1"/>
          </p:cNvPicPr>
          <p:nvPr/>
        </p:nvPicPr>
        <p:blipFill>
          <a:blip r:embed="rId4"/>
          <a:stretch>
            <a:fillRect/>
          </a:stretch>
        </p:blipFill>
        <p:spPr>
          <a:xfrm>
            <a:off x="2869927" y="2905197"/>
            <a:ext cx="200982" cy="200982"/>
          </a:xfrm>
          <a:prstGeom prst="rect">
            <a:avLst/>
          </a:prstGeom>
        </p:spPr>
      </p:pic>
      <p:sp>
        <p:nvSpPr>
          <p:cNvPr id="23" name="Text 22">
            <a:extLst>
              <a:ext uri="{FF2B5EF4-FFF2-40B4-BE49-F238E27FC236}">
                <a16:creationId xmlns:a16="http://schemas.microsoft.com/office/drawing/2014/main" id="{BAE14F11-A8CA-BB95-43AA-116CC32A2097}"/>
              </a:ext>
            </a:extLst>
          </p:cNvPr>
          <p:cNvSpPr/>
          <p:nvPr/>
        </p:nvSpPr>
        <p:spPr>
          <a:xfrm>
            <a:off x="3178184" y="2795570"/>
            <a:ext cx="1406873" cy="420235"/>
          </a:xfrm>
          <a:prstGeom prst="rect">
            <a:avLst/>
          </a:prstGeom>
          <a:noFill/>
          <a:ln/>
        </p:spPr>
        <p:txBody>
          <a:bodyPr wrap="square" lIns="0" tIns="0" rIns="0" bIns="0" rtlCol="0" anchor="ctr"/>
          <a:lstStyle/>
          <a:p>
            <a:r>
              <a:rPr lang="en-US" sz="969" b="1" dirty="0">
                <a:solidFill>
                  <a:srgbClr val="FFFFFF"/>
                </a:solidFill>
                <a:latin typeface="+mj-ea"/>
                <a:ea typeface="+mj-ea"/>
                <a:cs typeface="微软雅黑" pitchFamily="34" charset="-120"/>
              </a:rPr>
              <a:t>统一代理端口</a:t>
            </a:r>
            <a:endParaRPr lang="en-US" sz="969" dirty="0">
              <a:latin typeface="+mj-ea"/>
              <a:ea typeface="+mj-ea"/>
            </a:endParaRPr>
          </a:p>
        </p:txBody>
      </p:sp>
      <p:sp>
        <p:nvSpPr>
          <p:cNvPr id="24" name="Shape 23">
            <a:extLst>
              <a:ext uri="{FF2B5EF4-FFF2-40B4-BE49-F238E27FC236}">
                <a16:creationId xmlns:a16="http://schemas.microsoft.com/office/drawing/2014/main" id="{6A7DFEEA-A850-DF95-260F-447597CFF363}"/>
              </a:ext>
            </a:extLst>
          </p:cNvPr>
          <p:cNvSpPr/>
          <p:nvPr/>
        </p:nvSpPr>
        <p:spPr>
          <a:xfrm>
            <a:off x="4724442" y="2795570"/>
            <a:ext cx="1863650" cy="420235"/>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pic>
        <p:nvPicPr>
          <p:cNvPr id="25" name="Image 5" descr="key.png">
            <a:extLst>
              <a:ext uri="{FF2B5EF4-FFF2-40B4-BE49-F238E27FC236}">
                <a16:creationId xmlns:a16="http://schemas.microsoft.com/office/drawing/2014/main" id="{F4A9DF06-8883-3049-1188-3CAFA54E3ACB}"/>
              </a:ext>
            </a:extLst>
          </p:cNvPr>
          <p:cNvPicPr>
            <a:picLocks noChangeAspect="1"/>
          </p:cNvPicPr>
          <p:nvPr/>
        </p:nvPicPr>
        <p:blipFill>
          <a:blip r:embed="rId5"/>
          <a:stretch>
            <a:fillRect/>
          </a:stretch>
        </p:blipFill>
        <p:spPr>
          <a:xfrm>
            <a:off x="4870610" y="2905197"/>
            <a:ext cx="200982" cy="200982"/>
          </a:xfrm>
          <a:prstGeom prst="rect">
            <a:avLst/>
          </a:prstGeom>
        </p:spPr>
      </p:pic>
      <p:sp>
        <p:nvSpPr>
          <p:cNvPr id="26" name="Text 24">
            <a:extLst>
              <a:ext uri="{FF2B5EF4-FFF2-40B4-BE49-F238E27FC236}">
                <a16:creationId xmlns:a16="http://schemas.microsoft.com/office/drawing/2014/main" id="{E3054C69-293C-FB73-EC4E-41E7CEB95B9F}"/>
              </a:ext>
            </a:extLst>
          </p:cNvPr>
          <p:cNvSpPr/>
          <p:nvPr/>
        </p:nvSpPr>
        <p:spPr>
          <a:xfrm>
            <a:off x="5172085" y="2795570"/>
            <a:ext cx="1406873" cy="420235"/>
          </a:xfrm>
          <a:prstGeom prst="rect">
            <a:avLst/>
          </a:prstGeom>
          <a:noFill/>
          <a:ln/>
        </p:spPr>
        <p:txBody>
          <a:bodyPr wrap="square" lIns="0" tIns="0" rIns="0" bIns="0" rtlCol="0" anchor="ctr"/>
          <a:lstStyle/>
          <a:p>
            <a:r>
              <a:rPr lang="en-US" sz="969" b="1" dirty="0">
                <a:solidFill>
                  <a:srgbClr val="FFFFFF"/>
                </a:solidFill>
                <a:latin typeface="+mj-ea"/>
                <a:ea typeface="+mj-ea"/>
                <a:cs typeface="微软雅黑" pitchFamily="34" charset="-120"/>
              </a:rPr>
              <a:t>Token 管理</a:t>
            </a:r>
            <a:endParaRPr lang="en-US" sz="969" dirty="0">
              <a:latin typeface="+mj-ea"/>
              <a:ea typeface="+mj-ea"/>
            </a:endParaRPr>
          </a:p>
        </p:txBody>
      </p:sp>
      <p:sp>
        <p:nvSpPr>
          <p:cNvPr id="27" name="Shape 25">
            <a:extLst>
              <a:ext uri="{FF2B5EF4-FFF2-40B4-BE49-F238E27FC236}">
                <a16:creationId xmlns:a16="http://schemas.microsoft.com/office/drawing/2014/main" id="{9C9543BC-9AAD-6841-564E-0138C62FF7FE}"/>
              </a:ext>
            </a:extLst>
          </p:cNvPr>
          <p:cNvSpPr/>
          <p:nvPr/>
        </p:nvSpPr>
        <p:spPr>
          <a:xfrm>
            <a:off x="6725126" y="2795570"/>
            <a:ext cx="1863650" cy="420235"/>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pic>
        <p:nvPicPr>
          <p:cNvPr id="28" name="Image 6" descr="clipcheck.png">
            <a:extLst>
              <a:ext uri="{FF2B5EF4-FFF2-40B4-BE49-F238E27FC236}">
                <a16:creationId xmlns:a16="http://schemas.microsoft.com/office/drawing/2014/main" id="{179F89FA-6977-32C6-A1B2-544D3045CD32}"/>
              </a:ext>
            </a:extLst>
          </p:cNvPr>
          <p:cNvPicPr>
            <a:picLocks noChangeAspect="1"/>
          </p:cNvPicPr>
          <p:nvPr/>
        </p:nvPicPr>
        <p:blipFill>
          <a:blip r:embed="rId6"/>
          <a:stretch>
            <a:fillRect/>
          </a:stretch>
        </p:blipFill>
        <p:spPr>
          <a:xfrm>
            <a:off x="6871294" y="2905197"/>
            <a:ext cx="200982" cy="200982"/>
          </a:xfrm>
          <a:prstGeom prst="rect">
            <a:avLst/>
          </a:prstGeom>
        </p:spPr>
      </p:pic>
      <p:sp>
        <p:nvSpPr>
          <p:cNvPr id="29" name="Text 26">
            <a:extLst>
              <a:ext uri="{FF2B5EF4-FFF2-40B4-BE49-F238E27FC236}">
                <a16:creationId xmlns:a16="http://schemas.microsoft.com/office/drawing/2014/main" id="{2E47EE09-8D64-451D-C620-8C30CB00BC1F}"/>
              </a:ext>
            </a:extLst>
          </p:cNvPr>
          <p:cNvSpPr/>
          <p:nvPr/>
        </p:nvSpPr>
        <p:spPr>
          <a:xfrm>
            <a:off x="7218444" y="2795570"/>
            <a:ext cx="1406873" cy="420235"/>
          </a:xfrm>
          <a:prstGeom prst="rect">
            <a:avLst/>
          </a:prstGeom>
          <a:noFill/>
          <a:ln/>
        </p:spPr>
        <p:txBody>
          <a:bodyPr wrap="square" lIns="0" tIns="0" rIns="0" bIns="0" rtlCol="0" anchor="ctr"/>
          <a:lstStyle/>
          <a:p>
            <a:r>
              <a:rPr lang="en-US" sz="969" b="1" dirty="0">
                <a:solidFill>
                  <a:srgbClr val="FFFFFF"/>
                </a:solidFill>
                <a:latin typeface="+mj-ea"/>
                <a:ea typeface="+mj-ea"/>
                <a:cs typeface="微软雅黑" pitchFamily="34" charset="-120"/>
              </a:rPr>
              <a:t>统一日志审计</a:t>
            </a:r>
            <a:endParaRPr lang="en-US" sz="969" dirty="0">
              <a:latin typeface="+mj-ea"/>
              <a:ea typeface="+mj-ea"/>
            </a:endParaRPr>
          </a:p>
        </p:txBody>
      </p:sp>
      <p:sp>
        <p:nvSpPr>
          <p:cNvPr id="30" name="Shape 27">
            <a:extLst>
              <a:ext uri="{FF2B5EF4-FFF2-40B4-BE49-F238E27FC236}">
                <a16:creationId xmlns:a16="http://schemas.microsoft.com/office/drawing/2014/main" id="{622316A3-3F2C-D494-08A2-1C0C0660DA44}"/>
              </a:ext>
            </a:extLst>
          </p:cNvPr>
          <p:cNvSpPr/>
          <p:nvPr/>
        </p:nvSpPr>
        <p:spPr>
          <a:xfrm>
            <a:off x="1685169" y="3371206"/>
            <a:ext cx="0" cy="274066"/>
          </a:xfrm>
          <a:prstGeom prst="line">
            <a:avLst/>
          </a:prstGeom>
          <a:noFill/>
          <a:ln w="19050">
            <a:solidFill>
              <a:srgbClr val="0078B4"/>
            </a:solidFill>
            <a:prstDash val="solid"/>
            <a:tailEnd type="triangle"/>
          </a:ln>
        </p:spPr>
        <p:txBody>
          <a:bodyPr/>
          <a:lstStyle/>
          <a:p>
            <a:endParaRPr lang="zh-CN" altLang="en-US" sz="2398">
              <a:latin typeface="+mj-ea"/>
              <a:ea typeface="+mj-ea"/>
            </a:endParaRPr>
          </a:p>
        </p:txBody>
      </p:sp>
      <p:sp>
        <p:nvSpPr>
          <p:cNvPr id="31" name="Shape 28">
            <a:extLst>
              <a:ext uri="{FF2B5EF4-FFF2-40B4-BE49-F238E27FC236}">
                <a16:creationId xmlns:a16="http://schemas.microsoft.com/office/drawing/2014/main" id="{DFBB082D-B1B4-34B5-6248-9EBF2EBF2ABC}"/>
              </a:ext>
            </a:extLst>
          </p:cNvPr>
          <p:cNvSpPr/>
          <p:nvPr/>
        </p:nvSpPr>
        <p:spPr>
          <a:xfrm>
            <a:off x="753344" y="3690950"/>
            <a:ext cx="1863650" cy="602946"/>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32" name="Shape 29">
            <a:extLst>
              <a:ext uri="{FF2B5EF4-FFF2-40B4-BE49-F238E27FC236}">
                <a16:creationId xmlns:a16="http://schemas.microsoft.com/office/drawing/2014/main" id="{5A23A351-77FF-3288-36C2-F70436861EDF}"/>
              </a:ext>
            </a:extLst>
          </p:cNvPr>
          <p:cNvSpPr/>
          <p:nvPr/>
        </p:nvSpPr>
        <p:spPr>
          <a:xfrm>
            <a:off x="936055" y="3791441"/>
            <a:ext cx="401964" cy="401964"/>
          </a:xfrm>
          <a:prstGeom prst="ellipse">
            <a:avLst/>
          </a:prstGeom>
          <a:solidFill>
            <a:srgbClr val="1EB9E1"/>
          </a:solidFill>
          <a:ln/>
        </p:spPr>
        <p:txBody>
          <a:bodyPr/>
          <a:lstStyle/>
          <a:p>
            <a:endParaRPr lang="zh-CN" altLang="en-US" sz="2398">
              <a:latin typeface="+mj-ea"/>
              <a:ea typeface="+mj-ea"/>
            </a:endParaRPr>
          </a:p>
        </p:txBody>
      </p:sp>
      <p:pic>
        <p:nvPicPr>
          <p:cNvPr id="33" name="Image 7" descr="cpu.png">
            <a:extLst>
              <a:ext uri="{FF2B5EF4-FFF2-40B4-BE49-F238E27FC236}">
                <a16:creationId xmlns:a16="http://schemas.microsoft.com/office/drawing/2014/main" id="{5C819205-971E-5516-A344-3B25D5064CD7}"/>
              </a:ext>
            </a:extLst>
          </p:cNvPr>
          <p:cNvPicPr>
            <a:picLocks noChangeAspect="1"/>
          </p:cNvPicPr>
          <p:nvPr/>
        </p:nvPicPr>
        <p:blipFill>
          <a:blip r:embed="rId7"/>
          <a:stretch>
            <a:fillRect/>
          </a:stretch>
        </p:blipFill>
        <p:spPr>
          <a:xfrm>
            <a:off x="1024487" y="3879873"/>
            <a:ext cx="225100" cy="225100"/>
          </a:xfrm>
          <a:prstGeom prst="rect">
            <a:avLst/>
          </a:prstGeom>
        </p:spPr>
      </p:pic>
      <p:sp>
        <p:nvSpPr>
          <p:cNvPr id="34" name="Text 30">
            <a:extLst>
              <a:ext uri="{FF2B5EF4-FFF2-40B4-BE49-F238E27FC236}">
                <a16:creationId xmlns:a16="http://schemas.microsoft.com/office/drawing/2014/main" id="{26D9A393-C3EA-68A9-3305-03F07BD8088B}"/>
              </a:ext>
            </a:extLst>
          </p:cNvPr>
          <p:cNvSpPr/>
          <p:nvPr/>
        </p:nvSpPr>
        <p:spPr>
          <a:xfrm>
            <a:off x="1356290" y="3690950"/>
            <a:ext cx="1205891" cy="602946"/>
          </a:xfrm>
          <a:prstGeom prst="rect">
            <a:avLst/>
          </a:prstGeom>
          <a:noFill/>
          <a:ln/>
        </p:spPr>
        <p:txBody>
          <a:bodyPr wrap="square" lIns="0" tIns="0" rIns="0" bIns="0" rtlCol="0" anchor="ctr"/>
          <a:lstStyle/>
          <a:p>
            <a:r>
              <a:rPr lang="en-US" sz="1049" b="1" dirty="0">
                <a:solidFill>
                  <a:srgbClr val="005096"/>
                </a:solidFill>
                <a:latin typeface="+mj-ea"/>
                <a:ea typeface="+mj-ea"/>
                <a:cs typeface="微软雅黑" pitchFamily="34" charset="-120"/>
              </a:rPr>
              <a:t>大模型服务</a:t>
            </a:r>
            <a:endParaRPr lang="en-US" sz="1049" dirty="0">
              <a:latin typeface="+mj-ea"/>
              <a:ea typeface="+mj-ea"/>
            </a:endParaRPr>
          </a:p>
        </p:txBody>
      </p:sp>
      <p:sp>
        <p:nvSpPr>
          <p:cNvPr id="35" name="Shape 31">
            <a:extLst>
              <a:ext uri="{FF2B5EF4-FFF2-40B4-BE49-F238E27FC236}">
                <a16:creationId xmlns:a16="http://schemas.microsoft.com/office/drawing/2014/main" id="{684EC858-73FD-22F3-BC16-F32767FC9ED8}"/>
              </a:ext>
            </a:extLst>
          </p:cNvPr>
          <p:cNvSpPr/>
          <p:nvPr/>
        </p:nvSpPr>
        <p:spPr>
          <a:xfrm>
            <a:off x="3685853" y="3371206"/>
            <a:ext cx="0" cy="274066"/>
          </a:xfrm>
          <a:prstGeom prst="line">
            <a:avLst/>
          </a:prstGeom>
          <a:noFill/>
          <a:ln w="19050">
            <a:solidFill>
              <a:srgbClr val="0078B4"/>
            </a:solidFill>
            <a:prstDash val="solid"/>
            <a:tailEnd type="triangle"/>
          </a:ln>
        </p:spPr>
        <p:txBody>
          <a:bodyPr/>
          <a:lstStyle/>
          <a:p>
            <a:endParaRPr lang="zh-CN" altLang="en-US" sz="2398">
              <a:latin typeface="+mj-ea"/>
              <a:ea typeface="+mj-ea"/>
            </a:endParaRPr>
          </a:p>
        </p:txBody>
      </p:sp>
      <p:sp>
        <p:nvSpPr>
          <p:cNvPr id="36" name="Shape 32">
            <a:extLst>
              <a:ext uri="{FF2B5EF4-FFF2-40B4-BE49-F238E27FC236}">
                <a16:creationId xmlns:a16="http://schemas.microsoft.com/office/drawing/2014/main" id="{78D35BDC-D588-D629-CF5A-FC2DDC3C6DED}"/>
              </a:ext>
            </a:extLst>
          </p:cNvPr>
          <p:cNvSpPr/>
          <p:nvPr/>
        </p:nvSpPr>
        <p:spPr>
          <a:xfrm>
            <a:off x="2754028" y="3690950"/>
            <a:ext cx="1863650" cy="602946"/>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70" name="Shape 33">
            <a:extLst>
              <a:ext uri="{FF2B5EF4-FFF2-40B4-BE49-F238E27FC236}">
                <a16:creationId xmlns:a16="http://schemas.microsoft.com/office/drawing/2014/main" id="{EF5D2848-204A-F1C4-D1AB-5C7E575D09F7}"/>
              </a:ext>
            </a:extLst>
          </p:cNvPr>
          <p:cNvSpPr/>
          <p:nvPr/>
        </p:nvSpPr>
        <p:spPr>
          <a:xfrm>
            <a:off x="2897993" y="3791441"/>
            <a:ext cx="401964" cy="401964"/>
          </a:xfrm>
          <a:prstGeom prst="ellipse">
            <a:avLst/>
          </a:prstGeom>
          <a:solidFill>
            <a:srgbClr val="1EB9E1"/>
          </a:solidFill>
          <a:ln/>
        </p:spPr>
        <p:txBody>
          <a:bodyPr/>
          <a:lstStyle/>
          <a:p>
            <a:endParaRPr lang="zh-CN" altLang="en-US" sz="2398">
              <a:latin typeface="+mj-ea"/>
              <a:ea typeface="+mj-ea"/>
            </a:endParaRPr>
          </a:p>
        </p:txBody>
      </p:sp>
      <p:pic>
        <p:nvPicPr>
          <p:cNvPr id="71" name="Image 8" descr="server.png">
            <a:extLst>
              <a:ext uri="{FF2B5EF4-FFF2-40B4-BE49-F238E27FC236}">
                <a16:creationId xmlns:a16="http://schemas.microsoft.com/office/drawing/2014/main" id="{47DDD0E7-9607-70E3-CE84-6FD6C52C31CA}"/>
              </a:ext>
            </a:extLst>
          </p:cNvPr>
          <p:cNvPicPr>
            <a:picLocks noChangeAspect="1"/>
          </p:cNvPicPr>
          <p:nvPr/>
        </p:nvPicPr>
        <p:blipFill>
          <a:blip r:embed="rId8"/>
          <a:stretch>
            <a:fillRect/>
          </a:stretch>
        </p:blipFill>
        <p:spPr>
          <a:xfrm>
            <a:off x="2986425" y="3879873"/>
            <a:ext cx="225100" cy="225100"/>
          </a:xfrm>
          <a:prstGeom prst="rect">
            <a:avLst/>
          </a:prstGeom>
        </p:spPr>
      </p:pic>
      <p:sp>
        <p:nvSpPr>
          <p:cNvPr id="72" name="Text 34">
            <a:extLst>
              <a:ext uri="{FF2B5EF4-FFF2-40B4-BE49-F238E27FC236}">
                <a16:creationId xmlns:a16="http://schemas.microsoft.com/office/drawing/2014/main" id="{9E0BC1A5-D3F4-CC6C-2D62-534838EADAE8}"/>
              </a:ext>
            </a:extLst>
          </p:cNvPr>
          <p:cNvSpPr/>
          <p:nvPr/>
        </p:nvSpPr>
        <p:spPr>
          <a:xfrm>
            <a:off x="3443676" y="3690950"/>
            <a:ext cx="1205891" cy="602946"/>
          </a:xfrm>
          <a:prstGeom prst="rect">
            <a:avLst/>
          </a:prstGeom>
          <a:noFill/>
          <a:ln/>
        </p:spPr>
        <p:txBody>
          <a:bodyPr wrap="square" lIns="0" tIns="0" rIns="0" bIns="0" rtlCol="0" anchor="ctr"/>
          <a:lstStyle/>
          <a:p>
            <a:r>
              <a:rPr lang="en-US" sz="1049" b="1" dirty="0">
                <a:solidFill>
                  <a:srgbClr val="005096"/>
                </a:solidFill>
                <a:latin typeface="+mj-ea"/>
                <a:ea typeface="+mj-ea"/>
                <a:cs typeface="微软雅黑" pitchFamily="34" charset="-120"/>
              </a:rPr>
              <a:t>内部 API 系统</a:t>
            </a:r>
            <a:endParaRPr lang="en-US" sz="1049" dirty="0">
              <a:latin typeface="+mj-ea"/>
              <a:ea typeface="+mj-ea"/>
            </a:endParaRPr>
          </a:p>
        </p:txBody>
      </p:sp>
      <p:sp>
        <p:nvSpPr>
          <p:cNvPr id="73" name="Shape 35">
            <a:extLst>
              <a:ext uri="{FF2B5EF4-FFF2-40B4-BE49-F238E27FC236}">
                <a16:creationId xmlns:a16="http://schemas.microsoft.com/office/drawing/2014/main" id="{D9D8A6D7-1D9B-D7ED-C009-37BBAC6AFF13}"/>
              </a:ext>
            </a:extLst>
          </p:cNvPr>
          <p:cNvSpPr/>
          <p:nvPr/>
        </p:nvSpPr>
        <p:spPr>
          <a:xfrm>
            <a:off x="5686536" y="3371206"/>
            <a:ext cx="0" cy="274066"/>
          </a:xfrm>
          <a:prstGeom prst="line">
            <a:avLst/>
          </a:prstGeom>
          <a:noFill/>
          <a:ln w="19050">
            <a:solidFill>
              <a:srgbClr val="0078B4"/>
            </a:solidFill>
            <a:prstDash val="solid"/>
            <a:tailEnd type="triangle"/>
          </a:ln>
        </p:spPr>
        <p:txBody>
          <a:bodyPr/>
          <a:lstStyle/>
          <a:p>
            <a:endParaRPr lang="zh-CN" altLang="en-US" sz="2398">
              <a:latin typeface="+mj-ea"/>
              <a:ea typeface="+mj-ea"/>
            </a:endParaRPr>
          </a:p>
        </p:txBody>
      </p:sp>
      <p:sp>
        <p:nvSpPr>
          <p:cNvPr id="74" name="Shape 36">
            <a:extLst>
              <a:ext uri="{FF2B5EF4-FFF2-40B4-BE49-F238E27FC236}">
                <a16:creationId xmlns:a16="http://schemas.microsoft.com/office/drawing/2014/main" id="{53E018EA-0A0B-3082-48E7-8C28CCD9C95B}"/>
              </a:ext>
            </a:extLst>
          </p:cNvPr>
          <p:cNvSpPr/>
          <p:nvPr/>
        </p:nvSpPr>
        <p:spPr>
          <a:xfrm>
            <a:off x="4754711" y="3690950"/>
            <a:ext cx="1863650" cy="602946"/>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75" name="Shape 37">
            <a:extLst>
              <a:ext uri="{FF2B5EF4-FFF2-40B4-BE49-F238E27FC236}">
                <a16:creationId xmlns:a16="http://schemas.microsoft.com/office/drawing/2014/main" id="{C1209399-40BF-63AE-FEC8-AEC1BBFF4C4A}"/>
              </a:ext>
            </a:extLst>
          </p:cNvPr>
          <p:cNvSpPr/>
          <p:nvPr/>
        </p:nvSpPr>
        <p:spPr>
          <a:xfrm>
            <a:off x="4906426" y="3791441"/>
            <a:ext cx="401964" cy="401964"/>
          </a:xfrm>
          <a:prstGeom prst="ellipse">
            <a:avLst/>
          </a:prstGeom>
          <a:solidFill>
            <a:srgbClr val="1EB9E1"/>
          </a:solidFill>
          <a:ln/>
        </p:spPr>
        <p:txBody>
          <a:bodyPr/>
          <a:lstStyle/>
          <a:p>
            <a:endParaRPr lang="zh-CN" altLang="en-US" sz="2398">
              <a:latin typeface="+mj-ea"/>
              <a:ea typeface="+mj-ea"/>
            </a:endParaRPr>
          </a:p>
        </p:txBody>
      </p:sp>
      <p:pic>
        <p:nvPicPr>
          <p:cNvPr id="76" name="Image 9" descr="globe.png">
            <a:extLst>
              <a:ext uri="{FF2B5EF4-FFF2-40B4-BE49-F238E27FC236}">
                <a16:creationId xmlns:a16="http://schemas.microsoft.com/office/drawing/2014/main" id="{B3FC6F1B-1306-C35D-5D46-D1823B44AB7A}"/>
              </a:ext>
            </a:extLst>
          </p:cNvPr>
          <p:cNvPicPr>
            <a:picLocks noChangeAspect="1"/>
          </p:cNvPicPr>
          <p:nvPr/>
        </p:nvPicPr>
        <p:blipFill>
          <a:blip r:embed="rId9"/>
          <a:stretch>
            <a:fillRect/>
          </a:stretch>
        </p:blipFill>
        <p:spPr>
          <a:xfrm>
            <a:off x="4994858" y="3879873"/>
            <a:ext cx="225100" cy="225100"/>
          </a:xfrm>
          <a:prstGeom prst="rect">
            <a:avLst/>
          </a:prstGeom>
        </p:spPr>
      </p:pic>
      <p:sp>
        <p:nvSpPr>
          <p:cNvPr id="77" name="Text 38">
            <a:extLst>
              <a:ext uri="{FF2B5EF4-FFF2-40B4-BE49-F238E27FC236}">
                <a16:creationId xmlns:a16="http://schemas.microsoft.com/office/drawing/2014/main" id="{875518BC-10E2-4CD4-A142-3E262D23A4C8}"/>
              </a:ext>
            </a:extLst>
          </p:cNvPr>
          <p:cNvSpPr/>
          <p:nvPr/>
        </p:nvSpPr>
        <p:spPr>
          <a:xfrm>
            <a:off x="5357657" y="3690950"/>
            <a:ext cx="1205891" cy="602946"/>
          </a:xfrm>
          <a:prstGeom prst="rect">
            <a:avLst/>
          </a:prstGeom>
          <a:noFill/>
          <a:ln/>
        </p:spPr>
        <p:txBody>
          <a:bodyPr wrap="square" lIns="0" tIns="0" rIns="0" bIns="0" rtlCol="0" anchor="ctr"/>
          <a:lstStyle/>
          <a:p>
            <a:r>
              <a:rPr lang="en-US" sz="1049" b="1" dirty="0">
                <a:solidFill>
                  <a:srgbClr val="005096"/>
                </a:solidFill>
                <a:latin typeface="+mj-ea"/>
                <a:ea typeface="+mj-ea"/>
                <a:cs typeface="微软雅黑" pitchFamily="34" charset="-120"/>
              </a:rPr>
              <a:t>外部访问</a:t>
            </a:r>
            <a:endParaRPr lang="en-US" sz="1049" dirty="0">
              <a:latin typeface="+mj-ea"/>
              <a:ea typeface="+mj-ea"/>
            </a:endParaRPr>
          </a:p>
        </p:txBody>
      </p:sp>
      <p:sp>
        <p:nvSpPr>
          <p:cNvPr id="78" name="Shape 39">
            <a:extLst>
              <a:ext uri="{FF2B5EF4-FFF2-40B4-BE49-F238E27FC236}">
                <a16:creationId xmlns:a16="http://schemas.microsoft.com/office/drawing/2014/main" id="{28BCC90F-EF9B-87CA-92E8-D3EE3549FD7C}"/>
              </a:ext>
            </a:extLst>
          </p:cNvPr>
          <p:cNvSpPr/>
          <p:nvPr/>
        </p:nvSpPr>
        <p:spPr>
          <a:xfrm>
            <a:off x="7687220" y="3371206"/>
            <a:ext cx="0" cy="274066"/>
          </a:xfrm>
          <a:prstGeom prst="line">
            <a:avLst/>
          </a:prstGeom>
          <a:noFill/>
          <a:ln w="19050">
            <a:solidFill>
              <a:srgbClr val="0078B4"/>
            </a:solidFill>
            <a:prstDash val="solid"/>
            <a:tailEnd type="triangle"/>
          </a:ln>
        </p:spPr>
        <p:txBody>
          <a:bodyPr/>
          <a:lstStyle/>
          <a:p>
            <a:endParaRPr lang="zh-CN" altLang="en-US" sz="2398">
              <a:latin typeface="+mj-ea"/>
              <a:ea typeface="+mj-ea"/>
            </a:endParaRPr>
          </a:p>
        </p:txBody>
      </p:sp>
      <p:sp>
        <p:nvSpPr>
          <p:cNvPr id="79" name="Shape 40">
            <a:extLst>
              <a:ext uri="{FF2B5EF4-FFF2-40B4-BE49-F238E27FC236}">
                <a16:creationId xmlns:a16="http://schemas.microsoft.com/office/drawing/2014/main" id="{D601FB8F-AAFF-7421-41FD-7B7295A08501}"/>
              </a:ext>
            </a:extLst>
          </p:cNvPr>
          <p:cNvSpPr/>
          <p:nvPr/>
        </p:nvSpPr>
        <p:spPr>
          <a:xfrm>
            <a:off x="6755395" y="3690950"/>
            <a:ext cx="1863650" cy="602946"/>
          </a:xfrm>
          <a:prstGeom prst="roundRect">
            <a:avLst>
              <a:gd name="adj" fmla="val 0"/>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80" name="Shape 41">
            <a:extLst>
              <a:ext uri="{FF2B5EF4-FFF2-40B4-BE49-F238E27FC236}">
                <a16:creationId xmlns:a16="http://schemas.microsoft.com/office/drawing/2014/main" id="{E0BE5107-AB20-A05A-67C1-30C211DC1A49}"/>
              </a:ext>
            </a:extLst>
          </p:cNvPr>
          <p:cNvSpPr/>
          <p:nvPr/>
        </p:nvSpPr>
        <p:spPr>
          <a:xfrm>
            <a:off x="6938105" y="3791441"/>
            <a:ext cx="401964" cy="401964"/>
          </a:xfrm>
          <a:prstGeom prst="ellipse">
            <a:avLst/>
          </a:prstGeom>
          <a:solidFill>
            <a:srgbClr val="1EB9E1"/>
          </a:solidFill>
          <a:ln/>
        </p:spPr>
        <p:txBody>
          <a:bodyPr/>
          <a:lstStyle/>
          <a:p>
            <a:endParaRPr lang="zh-CN" altLang="en-US" sz="2398">
              <a:latin typeface="+mj-ea"/>
              <a:ea typeface="+mj-ea"/>
            </a:endParaRPr>
          </a:p>
        </p:txBody>
      </p:sp>
      <p:pic>
        <p:nvPicPr>
          <p:cNvPr id="81" name="Image 10" descr="activity.png">
            <a:extLst>
              <a:ext uri="{FF2B5EF4-FFF2-40B4-BE49-F238E27FC236}">
                <a16:creationId xmlns:a16="http://schemas.microsoft.com/office/drawing/2014/main" id="{C32A0829-4810-F0D8-8753-EA5AB1EE7C8C}"/>
              </a:ext>
            </a:extLst>
          </p:cNvPr>
          <p:cNvPicPr>
            <a:picLocks noChangeAspect="1"/>
          </p:cNvPicPr>
          <p:nvPr/>
        </p:nvPicPr>
        <p:blipFill>
          <a:blip r:embed="rId10"/>
          <a:stretch>
            <a:fillRect/>
          </a:stretch>
        </p:blipFill>
        <p:spPr>
          <a:xfrm>
            <a:off x="7026537" y="3879873"/>
            <a:ext cx="225100" cy="225100"/>
          </a:xfrm>
          <a:prstGeom prst="rect">
            <a:avLst/>
          </a:prstGeom>
        </p:spPr>
      </p:pic>
      <p:sp>
        <p:nvSpPr>
          <p:cNvPr id="82" name="Text 42">
            <a:extLst>
              <a:ext uri="{FF2B5EF4-FFF2-40B4-BE49-F238E27FC236}">
                <a16:creationId xmlns:a16="http://schemas.microsoft.com/office/drawing/2014/main" id="{C0A54188-4C03-3987-6B8A-66BE93881AB3}"/>
              </a:ext>
            </a:extLst>
          </p:cNvPr>
          <p:cNvSpPr/>
          <p:nvPr/>
        </p:nvSpPr>
        <p:spPr>
          <a:xfrm>
            <a:off x="7428501" y="3690950"/>
            <a:ext cx="1205891" cy="602946"/>
          </a:xfrm>
          <a:prstGeom prst="rect">
            <a:avLst/>
          </a:prstGeom>
          <a:noFill/>
          <a:ln/>
        </p:spPr>
        <p:txBody>
          <a:bodyPr wrap="square" lIns="0" tIns="0" rIns="0" bIns="0" rtlCol="0" anchor="ctr"/>
          <a:lstStyle/>
          <a:p>
            <a:r>
              <a:rPr lang="en-US" sz="1049" b="1" dirty="0">
                <a:solidFill>
                  <a:srgbClr val="005096"/>
                </a:solidFill>
                <a:latin typeface="+mj-ea"/>
                <a:ea typeface="+mj-ea"/>
                <a:cs typeface="微软雅黑" pitchFamily="34" charset="-120"/>
              </a:rPr>
              <a:t>审计中心</a:t>
            </a:r>
            <a:endParaRPr lang="en-US" sz="1049" dirty="0">
              <a:latin typeface="+mj-ea"/>
              <a:ea typeface="+mj-ea"/>
            </a:endParaRPr>
          </a:p>
        </p:txBody>
      </p:sp>
      <p:sp>
        <p:nvSpPr>
          <p:cNvPr id="83" name="Shape 43">
            <a:extLst>
              <a:ext uri="{FF2B5EF4-FFF2-40B4-BE49-F238E27FC236}">
                <a16:creationId xmlns:a16="http://schemas.microsoft.com/office/drawing/2014/main" id="{A7CFE435-B2FD-5F19-C6D3-EE2614DE2CE7}"/>
              </a:ext>
            </a:extLst>
          </p:cNvPr>
          <p:cNvSpPr/>
          <p:nvPr/>
        </p:nvSpPr>
        <p:spPr>
          <a:xfrm>
            <a:off x="369651" y="4366789"/>
            <a:ext cx="8404698" cy="310608"/>
          </a:xfrm>
          <a:prstGeom prst="roundRect">
            <a:avLst>
              <a:gd name="adj" fmla="val 0"/>
            </a:avLst>
          </a:prstGeom>
          <a:solidFill>
            <a:srgbClr val="00396B"/>
          </a:solidFill>
          <a:ln/>
        </p:spPr>
        <p:txBody>
          <a:bodyPr/>
          <a:lstStyle/>
          <a:p>
            <a:endParaRPr lang="zh-CN" altLang="en-US" sz="2398">
              <a:latin typeface="+mj-ea"/>
              <a:ea typeface="+mj-ea"/>
            </a:endParaRPr>
          </a:p>
        </p:txBody>
      </p:sp>
      <p:sp>
        <p:nvSpPr>
          <p:cNvPr id="84" name="Text 44">
            <a:extLst>
              <a:ext uri="{FF2B5EF4-FFF2-40B4-BE49-F238E27FC236}">
                <a16:creationId xmlns:a16="http://schemas.microsoft.com/office/drawing/2014/main" id="{5034EFCA-88E1-84B7-9C55-6103ECE0E97D}"/>
              </a:ext>
            </a:extLst>
          </p:cNvPr>
          <p:cNvSpPr/>
          <p:nvPr/>
        </p:nvSpPr>
        <p:spPr>
          <a:xfrm>
            <a:off x="369651" y="4366789"/>
            <a:ext cx="8404698" cy="310608"/>
          </a:xfrm>
          <a:prstGeom prst="rect">
            <a:avLst/>
          </a:prstGeom>
          <a:noFill/>
          <a:ln/>
        </p:spPr>
        <p:txBody>
          <a:bodyPr wrap="square" lIns="0" tIns="0" rIns="0" bIns="0" rtlCol="0" anchor="ctr"/>
          <a:lstStyle/>
          <a:p>
            <a:pPr algn="ctr"/>
            <a:r>
              <a:rPr lang="en-US" sz="1049" b="1" dirty="0">
                <a:solidFill>
                  <a:srgbClr val="FFFFFF"/>
                </a:solidFill>
                <a:latin typeface="+mj-ea"/>
                <a:ea typeface="+mj-ea"/>
                <a:cs typeface="微软雅黑" pitchFamily="34" charset="-120"/>
              </a:rPr>
              <a:t>不是普通代理，而是企业级 Agent 安全接入与治理系统</a:t>
            </a:r>
            <a:r>
              <a:rPr lang="en-US" sz="999" b="1" dirty="0">
                <a:solidFill>
                  <a:srgbClr val="FFC819"/>
                </a:solidFill>
                <a:latin typeface="+mj-ea"/>
                <a:ea typeface="+mj-ea"/>
                <a:cs typeface="微软雅黑" pitchFamily="34" charset="-120"/>
              </a:rPr>
              <a:t>    ⚠ 守护链路一旦失效，访问立即中断</a:t>
            </a:r>
            <a:endParaRPr lang="en-US" sz="1049" dirty="0">
              <a:latin typeface="+mj-ea"/>
              <a:ea typeface="+mj-ea"/>
            </a:endParaRPr>
          </a:p>
        </p:txBody>
      </p:sp>
      <p:sp>
        <p:nvSpPr>
          <p:cNvPr id="85" name="Text 5">
            <a:extLst>
              <a:ext uri="{FF2B5EF4-FFF2-40B4-BE49-F238E27FC236}">
                <a16:creationId xmlns:a16="http://schemas.microsoft.com/office/drawing/2014/main" id="{C984FD74-9B9A-4CB6-060D-C93D75D70471}"/>
              </a:ext>
            </a:extLst>
          </p:cNvPr>
          <p:cNvSpPr/>
          <p:nvPr/>
        </p:nvSpPr>
        <p:spPr>
          <a:xfrm>
            <a:off x="369651" y="886148"/>
            <a:ext cx="8404698" cy="310608"/>
          </a:xfrm>
          <a:prstGeom prst="rect">
            <a:avLst/>
          </a:prstGeom>
          <a:noFill/>
          <a:ln/>
        </p:spPr>
        <p:txBody>
          <a:bodyPr wrap="square" lIns="0" tIns="0" rIns="0" bIns="0" rtlCol="0" anchor="ctr"/>
          <a:lstStyle/>
          <a:p>
            <a:r>
              <a:rPr lang="en-US" sz="1199" dirty="0">
                <a:solidFill>
                  <a:srgbClr val="005096"/>
                </a:solidFill>
                <a:latin typeface="+mj-ea"/>
                <a:ea typeface="+mj-ea"/>
                <a:cs typeface="微软雅黑" pitchFamily="34" charset="-120"/>
              </a:rPr>
              <a:t>在EWork终端侧部署守护进程，把身份、通道、Token、日志与访问控制统一收口</a:t>
            </a:r>
            <a:endParaRPr lang="en-US" sz="1199" dirty="0">
              <a:latin typeface="+mj-ea"/>
              <a:ea typeface="+mj-ea"/>
            </a:endParaRPr>
          </a:p>
        </p:txBody>
      </p:sp>
      <p:sp>
        <p:nvSpPr>
          <p:cNvPr id="37" name="Title 1">
            <a:extLst>
              <a:ext uri="{FF2B5EF4-FFF2-40B4-BE49-F238E27FC236}">
                <a16:creationId xmlns:a16="http://schemas.microsoft.com/office/drawing/2014/main" id="{5878AB58-8FFB-BE2B-52A1-BF31560D30D9}"/>
              </a:ext>
            </a:extLst>
          </p:cNvPr>
          <p:cNvSpPr txBox="1">
            <a:spLocks/>
          </p:cNvSpPr>
          <p:nvPr/>
        </p:nvSpPr>
        <p:spPr>
          <a:xfrm>
            <a:off x="262660" y="169072"/>
            <a:ext cx="6739394" cy="310608"/>
          </a:xfrm>
          <a:prstGeom prst="rect">
            <a:avLst/>
          </a:prstGeom>
        </p:spPr>
        <p:txBody>
          <a:bodyPr/>
          <a:lstStyle>
            <a:lvl1pPr algn="l" rtl="0" eaLnBrk="1" fontAlgn="base" hangingPunct="1">
              <a:spcBef>
                <a:spcPct val="0"/>
              </a:spcBef>
              <a:spcAft>
                <a:spcPct val="0"/>
              </a:spcAft>
              <a:defRPr sz="900" b="0" i="0" baseline="0">
                <a:solidFill>
                  <a:schemeClr val="bg1"/>
                </a:solidFill>
                <a:latin typeface="Arial" panose="020B0604020202090204"/>
                <a:ea typeface="华文黑体" panose="02010600040101010101"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MS PGothic" charset="-128"/>
              </a:defRPr>
            </a:lvl2pPr>
            <a:lvl3pPr algn="l" rtl="0" eaLnBrk="1" fontAlgn="base" hangingPunct="1">
              <a:spcBef>
                <a:spcPct val="0"/>
              </a:spcBef>
              <a:spcAft>
                <a:spcPct val="0"/>
              </a:spcAft>
              <a:defRPr sz="3600">
                <a:solidFill>
                  <a:schemeClr val="tx1"/>
                </a:solidFill>
                <a:latin typeface="黑体" charset="-122"/>
                <a:ea typeface="黑体" charset="0"/>
                <a:cs typeface="MS PGothic" charset="-128"/>
              </a:defRPr>
            </a:lvl3pPr>
            <a:lvl4pPr algn="l" rtl="0" eaLnBrk="1" fontAlgn="base" hangingPunct="1">
              <a:spcBef>
                <a:spcPct val="0"/>
              </a:spcBef>
              <a:spcAft>
                <a:spcPct val="0"/>
              </a:spcAft>
              <a:defRPr sz="3600">
                <a:solidFill>
                  <a:schemeClr val="tx1"/>
                </a:solidFill>
                <a:latin typeface="黑体" charset="-122"/>
                <a:ea typeface="黑体" charset="0"/>
                <a:cs typeface="MS PGothic" charset="-128"/>
              </a:defRPr>
            </a:lvl4pPr>
            <a:lvl5pPr algn="l" rtl="0" eaLnBrk="1" fontAlgn="base" hangingPunct="1">
              <a:spcBef>
                <a:spcPct val="0"/>
              </a:spcBef>
              <a:spcAft>
                <a:spcPct val="0"/>
              </a:spcAft>
              <a:defRPr sz="3600">
                <a:solidFill>
                  <a:schemeClr val="tx1"/>
                </a:solidFill>
                <a:latin typeface="黑体" charset="-122"/>
                <a:ea typeface="黑体" charset="0"/>
                <a:cs typeface="MS PGothic" charset="-128"/>
              </a:defRPr>
            </a:lvl5pPr>
            <a:lvl6pPr marL="457200" algn="l" rtl="0" eaLnBrk="1" fontAlgn="base" hangingPunct="1">
              <a:spcBef>
                <a:spcPct val="0"/>
              </a:spcBef>
              <a:spcAft>
                <a:spcPct val="0"/>
              </a:spcAft>
              <a:defRPr sz="3600">
                <a:solidFill>
                  <a:srgbClr val="5F294F"/>
                </a:solidFill>
                <a:latin typeface="Arial Narrow" panose="020B07060202020A0204" charset="0"/>
                <a:ea typeface="MS PGothic" charset="-128"/>
                <a:cs typeface="MS PGothic" charset="-128"/>
              </a:defRPr>
            </a:lvl6pPr>
            <a:lvl7pPr marL="914400" algn="l" rtl="0" eaLnBrk="1" fontAlgn="base" hangingPunct="1">
              <a:spcBef>
                <a:spcPct val="0"/>
              </a:spcBef>
              <a:spcAft>
                <a:spcPct val="0"/>
              </a:spcAft>
              <a:defRPr sz="3600">
                <a:solidFill>
                  <a:srgbClr val="5F294F"/>
                </a:solidFill>
                <a:latin typeface="Arial Narrow" panose="020B07060202020A0204" charset="0"/>
                <a:ea typeface="MS PGothic" charset="-128"/>
                <a:cs typeface="MS PGothic" charset="-128"/>
              </a:defRPr>
            </a:lvl7pPr>
            <a:lvl8pPr marL="1371600" algn="l" rtl="0" eaLnBrk="1" fontAlgn="base" hangingPunct="1">
              <a:spcBef>
                <a:spcPct val="0"/>
              </a:spcBef>
              <a:spcAft>
                <a:spcPct val="0"/>
              </a:spcAft>
              <a:defRPr sz="3600">
                <a:solidFill>
                  <a:srgbClr val="5F294F"/>
                </a:solidFill>
                <a:latin typeface="Arial Narrow" panose="020B07060202020A0204" charset="0"/>
                <a:ea typeface="MS PGothic" charset="-128"/>
                <a:cs typeface="MS PGothic" charset="-128"/>
              </a:defRPr>
            </a:lvl8pPr>
            <a:lvl9pPr marL="1828800" algn="l" rtl="0" eaLnBrk="1" fontAlgn="base" hangingPunct="1">
              <a:spcBef>
                <a:spcPct val="0"/>
              </a:spcBef>
              <a:spcAft>
                <a:spcPct val="0"/>
              </a:spcAft>
              <a:defRPr sz="3600">
                <a:solidFill>
                  <a:srgbClr val="5F294F"/>
                </a:solidFill>
                <a:latin typeface="Arial Narrow" panose="020B07060202020A0204" charset="0"/>
                <a:ea typeface="MS PGothic" charset="-128"/>
                <a:cs typeface="MS PGothic" charset="-128"/>
              </a:defRPr>
            </a:lvl9pPr>
          </a:lstStyle>
          <a:p>
            <a:r>
              <a:rPr lang="zh-CN" altLang="en-US" sz="2400" b="1" kern="0" dirty="0" err="1">
                <a:solidFill>
                  <a:srgbClr val="FFFFFF"/>
                </a:solidFill>
                <a:latin typeface="+mj-ea"/>
                <a:ea typeface="+mj-ea"/>
                <a:cs typeface="微软雅黑" pitchFamily="34" charset="-120"/>
              </a:rPr>
              <a:t>以安全为例：</a:t>
            </a:r>
            <a:r>
              <a:rPr lang="en-US" altLang="zh-CN" sz="2400" b="1" kern="0" dirty="0" err="1">
                <a:solidFill>
                  <a:srgbClr val="FFFFFF"/>
                </a:solidFill>
                <a:latin typeface="+mj-ea"/>
                <a:ea typeface="+mj-ea"/>
                <a:cs typeface="微软雅黑" pitchFamily="34" charset="-120"/>
              </a:rPr>
              <a:t>以守护进程为核心的统一治理底座</a:t>
            </a:r>
            <a:endParaRPr lang="en-US" altLang="zh-CN" sz="2400" kern="0" dirty="0">
              <a:latin typeface="+mj-ea"/>
              <a:ea typeface="+mj-ea"/>
            </a:endParaRPr>
          </a:p>
        </p:txBody>
      </p:sp>
    </p:spTree>
    <p:extLst>
      <p:ext uri="{BB962C8B-B14F-4D97-AF65-F5344CB8AC3E}">
        <p14:creationId xmlns:p14="http://schemas.microsoft.com/office/powerpoint/2010/main" val="1066983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以安全为例：</a:t>
            </a:r>
            <a:r>
              <a:rPr lang="en-US" altLang="zh-CN" dirty="0"/>
              <a:t>EWork</a:t>
            </a:r>
            <a:r>
              <a:rPr lang="zh-CN" altLang="en-US" dirty="0"/>
              <a:t>所提供的金融级安全体系</a:t>
            </a:r>
          </a:p>
        </p:txBody>
      </p:sp>
      <p:grpSp>
        <p:nvGrpSpPr>
          <p:cNvPr id="17" name="组合 16"/>
          <p:cNvGrpSpPr/>
          <p:nvPr/>
        </p:nvGrpSpPr>
        <p:grpSpPr>
          <a:xfrm>
            <a:off x="845924" y="1062389"/>
            <a:ext cx="7622378" cy="3244900"/>
            <a:chOff x="847368" y="1210203"/>
            <a:chExt cx="7629436" cy="3247905"/>
          </a:xfrm>
        </p:grpSpPr>
        <p:sp>
          <p:nvSpPr>
            <p:cNvPr id="18" name="六边形 17"/>
            <p:cNvSpPr/>
            <p:nvPr/>
          </p:nvSpPr>
          <p:spPr bwMode="auto">
            <a:xfrm>
              <a:off x="2308306" y="1210203"/>
              <a:ext cx="1785684" cy="1592138"/>
            </a:xfrm>
            <a:prstGeom prst="hexagon">
              <a:avLst/>
            </a:prstGeom>
            <a:gradFill flip="none" rotWithShape="1">
              <a:gsLst>
                <a:gs pos="0">
                  <a:srgbClr val="0078B4">
                    <a:tint val="66000"/>
                    <a:satMod val="160000"/>
                  </a:srgbClr>
                </a:gs>
                <a:gs pos="50000">
                  <a:srgbClr val="0078B4">
                    <a:tint val="44500"/>
                    <a:satMod val="160000"/>
                  </a:srgbClr>
                </a:gs>
                <a:gs pos="100000">
                  <a:srgbClr val="0078B4">
                    <a:tint val="23500"/>
                    <a:satMod val="160000"/>
                  </a:srgbClr>
                </a:gs>
              </a:gsLst>
              <a:lin ang="10800000" scaled="1"/>
              <a:tileRect/>
            </a:gra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22" name="六边形 21"/>
            <p:cNvSpPr/>
            <p:nvPr/>
          </p:nvSpPr>
          <p:spPr bwMode="auto">
            <a:xfrm>
              <a:off x="2499535" y="1401432"/>
              <a:ext cx="1403226" cy="1209680"/>
            </a:xfrm>
            <a:prstGeom prst="hexagon">
              <a:avLst/>
            </a:prstGeom>
            <a:solidFill>
              <a:schemeClr val="bg1"/>
            </a:soli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26" name="六边形 25"/>
            <p:cNvSpPr/>
            <p:nvPr/>
          </p:nvSpPr>
          <p:spPr bwMode="auto">
            <a:xfrm>
              <a:off x="2308306" y="2865970"/>
              <a:ext cx="1785684" cy="1592138"/>
            </a:xfrm>
            <a:prstGeom prst="hexagon">
              <a:avLst/>
            </a:prstGeom>
            <a:gradFill flip="none" rotWithShape="1">
              <a:gsLst>
                <a:gs pos="0">
                  <a:srgbClr val="005096">
                    <a:tint val="66000"/>
                    <a:satMod val="160000"/>
                  </a:srgbClr>
                </a:gs>
                <a:gs pos="50000">
                  <a:srgbClr val="005096">
                    <a:tint val="44500"/>
                    <a:satMod val="160000"/>
                  </a:srgbClr>
                </a:gs>
                <a:gs pos="100000">
                  <a:srgbClr val="005096">
                    <a:tint val="23500"/>
                    <a:satMod val="160000"/>
                  </a:srgbClr>
                </a:gs>
              </a:gsLst>
              <a:lin ang="10800000" scaled="1"/>
              <a:tileRect/>
            </a:gra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eaLnBrk="0" hangingPunct="0"/>
              <a:endParaRPr lang="zh-CN" altLang="en-US" sz="1800">
                <a:latin typeface="+mj-ea"/>
                <a:ea typeface="+mj-ea"/>
              </a:endParaRPr>
            </a:p>
          </p:txBody>
        </p:sp>
        <p:sp>
          <p:nvSpPr>
            <p:cNvPr id="27" name="六边形 26"/>
            <p:cNvSpPr/>
            <p:nvPr/>
          </p:nvSpPr>
          <p:spPr bwMode="auto">
            <a:xfrm>
              <a:off x="2499535" y="3057199"/>
              <a:ext cx="1403226" cy="1209680"/>
            </a:xfrm>
            <a:prstGeom prst="hexagon">
              <a:avLst/>
            </a:prstGeom>
            <a:solidFill>
              <a:schemeClr val="bg1"/>
            </a:soli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28" name="六边形 27"/>
            <p:cNvSpPr/>
            <p:nvPr/>
          </p:nvSpPr>
          <p:spPr bwMode="auto">
            <a:xfrm>
              <a:off x="847368" y="2033058"/>
              <a:ext cx="1785684" cy="1592138"/>
            </a:xfrm>
            <a:prstGeom prst="hexagon">
              <a:avLst/>
            </a:prstGeom>
            <a:gradFill flip="none" rotWithShape="1">
              <a:gsLst>
                <a:gs pos="0">
                  <a:srgbClr val="00BEE6">
                    <a:tint val="66000"/>
                    <a:satMod val="160000"/>
                  </a:srgbClr>
                </a:gs>
                <a:gs pos="50000">
                  <a:srgbClr val="00BEE6">
                    <a:tint val="44500"/>
                    <a:satMod val="160000"/>
                  </a:srgbClr>
                </a:gs>
                <a:gs pos="100000">
                  <a:srgbClr val="00BEE6">
                    <a:tint val="23500"/>
                    <a:satMod val="160000"/>
                  </a:srgbClr>
                </a:gs>
              </a:gsLst>
              <a:lin ang="10800000" scaled="1"/>
              <a:tileRect/>
            </a:gra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29" name="六边形 28"/>
            <p:cNvSpPr/>
            <p:nvPr/>
          </p:nvSpPr>
          <p:spPr bwMode="auto">
            <a:xfrm>
              <a:off x="1038597" y="2224287"/>
              <a:ext cx="1403226" cy="1209680"/>
            </a:xfrm>
            <a:prstGeom prst="hexagon">
              <a:avLst/>
            </a:prstGeom>
            <a:solidFill>
              <a:schemeClr val="bg1"/>
            </a:soli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30" name="六边形 29"/>
            <p:cNvSpPr/>
            <p:nvPr/>
          </p:nvSpPr>
          <p:spPr bwMode="auto">
            <a:xfrm>
              <a:off x="5230182" y="1210203"/>
              <a:ext cx="1785684" cy="1592138"/>
            </a:xfrm>
            <a:prstGeom prst="hexagon">
              <a:avLst/>
            </a:prstGeom>
            <a:gradFill flip="none" rotWithShape="1">
              <a:gsLst>
                <a:gs pos="0">
                  <a:srgbClr val="0078B4">
                    <a:tint val="66000"/>
                    <a:satMod val="160000"/>
                  </a:srgbClr>
                </a:gs>
                <a:gs pos="50000">
                  <a:srgbClr val="0078B4">
                    <a:tint val="44500"/>
                    <a:satMod val="160000"/>
                  </a:srgbClr>
                </a:gs>
                <a:gs pos="100000">
                  <a:srgbClr val="0078B4">
                    <a:tint val="23500"/>
                    <a:satMod val="160000"/>
                  </a:srgbClr>
                </a:gs>
              </a:gsLst>
              <a:lin ang="10800000" scaled="1"/>
              <a:tileRect/>
            </a:gra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eaLnBrk="0" hangingPunct="0"/>
              <a:endParaRPr lang="zh-CN" altLang="en-US" sz="1800">
                <a:latin typeface="+mj-ea"/>
                <a:ea typeface="+mj-ea"/>
              </a:endParaRPr>
            </a:p>
          </p:txBody>
        </p:sp>
        <p:sp>
          <p:nvSpPr>
            <p:cNvPr id="31" name="六边形 30"/>
            <p:cNvSpPr/>
            <p:nvPr/>
          </p:nvSpPr>
          <p:spPr bwMode="auto">
            <a:xfrm>
              <a:off x="5421411" y="1401432"/>
              <a:ext cx="1403226" cy="1209680"/>
            </a:xfrm>
            <a:prstGeom prst="hexagon">
              <a:avLst/>
            </a:prstGeom>
            <a:solidFill>
              <a:schemeClr val="bg1"/>
            </a:soli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32" name="六边形 31"/>
            <p:cNvSpPr/>
            <p:nvPr/>
          </p:nvSpPr>
          <p:spPr bwMode="auto">
            <a:xfrm>
              <a:off x="5230182" y="2865970"/>
              <a:ext cx="1785684" cy="1592138"/>
            </a:xfrm>
            <a:prstGeom prst="hexagon">
              <a:avLst/>
            </a:prstGeom>
            <a:gradFill flip="none" rotWithShape="1">
              <a:gsLst>
                <a:gs pos="0">
                  <a:srgbClr val="005096">
                    <a:tint val="66000"/>
                    <a:satMod val="160000"/>
                  </a:srgbClr>
                </a:gs>
                <a:gs pos="50000">
                  <a:srgbClr val="005096">
                    <a:tint val="44500"/>
                    <a:satMod val="160000"/>
                  </a:srgbClr>
                </a:gs>
                <a:gs pos="100000">
                  <a:srgbClr val="005096">
                    <a:tint val="23500"/>
                    <a:satMod val="160000"/>
                  </a:srgbClr>
                </a:gs>
              </a:gsLst>
              <a:lin ang="10800000" scaled="1"/>
              <a:tileRect/>
            </a:gra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eaLnBrk="0" hangingPunct="0"/>
              <a:endParaRPr lang="zh-CN" altLang="en-US" sz="1800">
                <a:latin typeface="+mj-ea"/>
                <a:ea typeface="+mj-ea"/>
              </a:endParaRPr>
            </a:p>
          </p:txBody>
        </p:sp>
        <p:sp>
          <p:nvSpPr>
            <p:cNvPr id="33" name="六边形 32"/>
            <p:cNvSpPr/>
            <p:nvPr/>
          </p:nvSpPr>
          <p:spPr bwMode="auto">
            <a:xfrm>
              <a:off x="5421411" y="3057199"/>
              <a:ext cx="1403226" cy="1209680"/>
            </a:xfrm>
            <a:prstGeom prst="hexagon">
              <a:avLst/>
            </a:prstGeom>
            <a:solidFill>
              <a:schemeClr val="bg1"/>
            </a:soli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34" name="六边形 33"/>
            <p:cNvSpPr/>
            <p:nvPr/>
          </p:nvSpPr>
          <p:spPr bwMode="auto">
            <a:xfrm>
              <a:off x="3769244" y="2033058"/>
              <a:ext cx="1785684" cy="1592138"/>
            </a:xfrm>
            <a:prstGeom prst="hexagon">
              <a:avLst/>
            </a:prstGeom>
            <a:gradFill flip="none" rotWithShape="1">
              <a:gsLst>
                <a:gs pos="0">
                  <a:srgbClr val="00BEE6">
                    <a:tint val="66000"/>
                    <a:satMod val="160000"/>
                  </a:srgbClr>
                </a:gs>
                <a:gs pos="50000">
                  <a:srgbClr val="00BEE6">
                    <a:tint val="44500"/>
                    <a:satMod val="160000"/>
                  </a:srgbClr>
                </a:gs>
                <a:gs pos="100000">
                  <a:srgbClr val="00BEE6">
                    <a:tint val="23500"/>
                    <a:satMod val="160000"/>
                  </a:srgbClr>
                </a:gs>
              </a:gsLst>
              <a:lin ang="10800000" scaled="1"/>
              <a:tileRect/>
            </a:gra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eaLnBrk="0" hangingPunct="0"/>
              <a:endParaRPr lang="zh-CN" altLang="en-US" sz="1800">
                <a:latin typeface="+mj-ea"/>
                <a:ea typeface="+mj-ea"/>
              </a:endParaRPr>
            </a:p>
          </p:txBody>
        </p:sp>
        <p:sp>
          <p:nvSpPr>
            <p:cNvPr id="35" name="六边形 34"/>
            <p:cNvSpPr/>
            <p:nvPr/>
          </p:nvSpPr>
          <p:spPr bwMode="auto">
            <a:xfrm>
              <a:off x="3960473" y="2224287"/>
              <a:ext cx="1403226" cy="1209680"/>
            </a:xfrm>
            <a:prstGeom prst="hexagon">
              <a:avLst/>
            </a:prstGeom>
            <a:solidFill>
              <a:schemeClr val="bg1"/>
            </a:soli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36" name="六边形 35"/>
            <p:cNvSpPr/>
            <p:nvPr/>
          </p:nvSpPr>
          <p:spPr bwMode="auto">
            <a:xfrm>
              <a:off x="6691120" y="2033058"/>
              <a:ext cx="1785684" cy="1592138"/>
            </a:xfrm>
            <a:prstGeom prst="hexagon">
              <a:avLst/>
            </a:prstGeom>
            <a:gradFill flip="none" rotWithShape="1">
              <a:gsLst>
                <a:gs pos="0">
                  <a:srgbClr val="00BEE6">
                    <a:tint val="66000"/>
                    <a:satMod val="160000"/>
                  </a:srgbClr>
                </a:gs>
                <a:gs pos="50000">
                  <a:srgbClr val="00BEE6">
                    <a:tint val="44500"/>
                    <a:satMod val="160000"/>
                  </a:srgbClr>
                </a:gs>
                <a:gs pos="100000">
                  <a:srgbClr val="00BEE6">
                    <a:tint val="23500"/>
                    <a:satMod val="160000"/>
                  </a:srgbClr>
                </a:gs>
              </a:gsLst>
              <a:lin ang="10800000" scaled="1"/>
              <a:tileRect/>
            </a:gra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eaLnBrk="0" hangingPunct="0"/>
              <a:endParaRPr lang="zh-CN" altLang="en-US" sz="1800">
                <a:latin typeface="+mj-ea"/>
                <a:ea typeface="+mj-ea"/>
              </a:endParaRPr>
            </a:p>
          </p:txBody>
        </p:sp>
        <p:sp>
          <p:nvSpPr>
            <p:cNvPr id="37" name="六边形 36"/>
            <p:cNvSpPr/>
            <p:nvPr/>
          </p:nvSpPr>
          <p:spPr bwMode="auto">
            <a:xfrm>
              <a:off x="6882349" y="2224287"/>
              <a:ext cx="1403226" cy="1209680"/>
            </a:xfrm>
            <a:prstGeom prst="hexagon">
              <a:avLst/>
            </a:prstGeom>
            <a:solidFill>
              <a:schemeClr val="bg1"/>
            </a:solidFill>
            <a:ln w="9525" cap="flat" cmpd="sng" algn="ctr">
              <a:noFill/>
              <a:prstDash val="solid"/>
              <a:round/>
              <a:headEnd type="none" w="med" len="med"/>
              <a:tailEnd type="none" w="med" len="med"/>
            </a:ln>
          </p:spPr>
          <p:txBody>
            <a:bodyPr vert="horz" wrap="square" lIns="91355" tIns="45678" rIns="91355" bIns="45678" numCol="1" rtlCol="0" anchor="t" anchorCtr="0" compatLnSpc="1"/>
            <a:lstStyle/>
            <a:p>
              <a:pPr defTabSz="913130" eaLnBrk="0" hangingPunct="0"/>
              <a:endParaRPr lang="zh-CN" altLang="en-US" sz="2400">
                <a:latin typeface="+mj-ea"/>
                <a:ea typeface="+mj-ea"/>
                <a:cs typeface="MS PGothic" charset="0"/>
              </a:endParaRPr>
            </a:p>
          </p:txBody>
        </p:sp>
        <p:sp>
          <p:nvSpPr>
            <p:cNvPr id="38" name="文本框 37"/>
            <p:cNvSpPr txBox="1"/>
            <p:nvPr/>
          </p:nvSpPr>
          <p:spPr>
            <a:xfrm>
              <a:off x="1079460" y="2360949"/>
              <a:ext cx="1321499" cy="946648"/>
            </a:xfrm>
            <a:prstGeom prst="rect">
              <a:avLst/>
            </a:prstGeom>
            <a:noFill/>
          </p:spPr>
          <p:txBody>
            <a:bodyPr wrap="square" rtlCol="0">
              <a:spAutoFit/>
            </a:bodyPr>
            <a:lstStyle/>
            <a:p>
              <a:pPr algn="ctr"/>
              <a:r>
                <a:rPr lang="zh-CN" altLang="en-US" sz="1200" b="1" dirty="0">
                  <a:solidFill>
                    <a:srgbClr val="00BEE6"/>
                  </a:solidFill>
                  <a:latin typeface="+mj-ea"/>
                  <a:ea typeface="+mj-ea"/>
                </a:rPr>
                <a:t>网络隔离</a:t>
              </a:r>
              <a:endParaRPr lang="en-US" altLang="zh-CN" sz="1200" b="1" dirty="0">
                <a:solidFill>
                  <a:srgbClr val="00BEE6"/>
                </a:solidFill>
                <a:latin typeface="+mj-ea"/>
                <a:ea typeface="+mj-ea"/>
              </a:endParaRPr>
            </a:p>
            <a:p>
              <a:pPr algn="ctr"/>
              <a:endParaRPr lang="en-US" altLang="zh-CN" sz="1200" dirty="0">
                <a:solidFill>
                  <a:srgbClr val="00BEE6"/>
                </a:solidFill>
                <a:latin typeface="+mj-ea"/>
                <a:ea typeface="+mj-ea"/>
              </a:endParaRPr>
            </a:p>
            <a:p>
              <a:pPr algn="ctr"/>
              <a:r>
                <a:rPr lang="zh-CN" altLang="en-US" sz="1050" dirty="0">
                  <a:solidFill>
                    <a:srgbClr val="00BEE6"/>
                  </a:solidFill>
                  <a:latin typeface="+mj-ea"/>
                  <a:ea typeface="+mj-ea"/>
                </a:rPr>
                <a:t>多环境物理隔离，智能体在“围栏”内活动</a:t>
              </a:r>
              <a:endParaRPr lang="en-US" altLang="zh-CN" sz="1050" dirty="0">
                <a:solidFill>
                  <a:srgbClr val="00BEE6"/>
                </a:solidFill>
                <a:latin typeface="+mj-ea"/>
                <a:ea typeface="+mj-ea"/>
              </a:endParaRPr>
            </a:p>
          </p:txBody>
        </p:sp>
        <p:sp>
          <p:nvSpPr>
            <p:cNvPr id="39" name="文本框 38"/>
            <p:cNvSpPr txBox="1"/>
            <p:nvPr/>
          </p:nvSpPr>
          <p:spPr>
            <a:xfrm>
              <a:off x="2529590" y="3155133"/>
              <a:ext cx="1343116" cy="1131356"/>
            </a:xfrm>
            <a:prstGeom prst="rect">
              <a:avLst/>
            </a:prstGeom>
            <a:noFill/>
          </p:spPr>
          <p:txBody>
            <a:bodyPr wrap="square" rtlCol="0">
              <a:spAutoFit/>
            </a:bodyPr>
            <a:lstStyle/>
            <a:p>
              <a:pPr algn="ctr"/>
              <a:r>
                <a:rPr lang="en-US" altLang="zh-CN" sz="1200" b="1" dirty="0">
                  <a:solidFill>
                    <a:srgbClr val="005096"/>
                  </a:solidFill>
                  <a:latin typeface="+mj-ea"/>
                  <a:ea typeface="+mj-ea"/>
                </a:rPr>
                <a:t>API</a:t>
              </a:r>
              <a:r>
                <a:rPr lang="zh-CN" altLang="en-US" sz="1200" b="1" dirty="0">
                  <a:solidFill>
                    <a:srgbClr val="005096"/>
                  </a:solidFill>
                  <a:latin typeface="+mj-ea"/>
                  <a:ea typeface="+mj-ea"/>
                </a:rPr>
                <a:t>权限与业务系统安全改造</a:t>
              </a:r>
              <a:endParaRPr lang="en-US" altLang="zh-CN" sz="1200" b="1" dirty="0">
                <a:solidFill>
                  <a:srgbClr val="005096"/>
                </a:solidFill>
                <a:latin typeface="+mj-ea"/>
                <a:ea typeface="+mj-ea"/>
              </a:endParaRPr>
            </a:p>
            <a:p>
              <a:pPr algn="ctr"/>
              <a:endParaRPr lang="en-US" altLang="zh-CN" sz="1200" b="1" dirty="0">
                <a:solidFill>
                  <a:srgbClr val="005096"/>
                </a:solidFill>
                <a:latin typeface="+mj-ea"/>
                <a:ea typeface="+mj-ea"/>
              </a:endParaRPr>
            </a:p>
            <a:p>
              <a:pPr algn="ctr"/>
              <a:r>
                <a:rPr lang="zh-CN" altLang="en-US" sz="1050" dirty="0">
                  <a:solidFill>
                    <a:srgbClr val="005096"/>
                  </a:solidFill>
                  <a:latin typeface="+mj-ea"/>
                  <a:ea typeface="+mj-ea"/>
                </a:rPr>
                <a:t>身份鉴权→接口权限→数据权限，逐级管控</a:t>
              </a:r>
              <a:endParaRPr lang="en-US" altLang="zh-CN" sz="1050" dirty="0">
                <a:solidFill>
                  <a:srgbClr val="005096"/>
                </a:solidFill>
                <a:latin typeface="+mj-ea"/>
                <a:ea typeface="+mj-ea"/>
              </a:endParaRPr>
            </a:p>
          </p:txBody>
        </p:sp>
        <p:sp>
          <p:nvSpPr>
            <p:cNvPr id="40" name="文本框 39"/>
            <p:cNvSpPr txBox="1"/>
            <p:nvPr/>
          </p:nvSpPr>
          <p:spPr>
            <a:xfrm>
              <a:off x="2482686" y="1504074"/>
              <a:ext cx="1434662" cy="946648"/>
            </a:xfrm>
            <a:prstGeom prst="rect">
              <a:avLst/>
            </a:prstGeom>
            <a:noFill/>
          </p:spPr>
          <p:txBody>
            <a:bodyPr wrap="square" rtlCol="0">
              <a:spAutoFit/>
            </a:bodyPr>
            <a:lstStyle/>
            <a:p>
              <a:pPr algn="ctr"/>
              <a:r>
                <a:rPr lang="en-US" altLang="zh-CN" sz="1200" b="1" dirty="0">
                  <a:solidFill>
                    <a:srgbClr val="0078B4"/>
                  </a:solidFill>
                  <a:latin typeface="+mj-ea"/>
                  <a:ea typeface="+mj-ea"/>
                </a:rPr>
                <a:t>Skill</a:t>
              </a:r>
              <a:r>
                <a:rPr lang="zh-CN" altLang="en-US" sz="1200" b="1" dirty="0">
                  <a:solidFill>
                    <a:srgbClr val="0078B4"/>
                  </a:solidFill>
                  <a:latin typeface="+mj-ea"/>
                  <a:ea typeface="+mj-ea"/>
                </a:rPr>
                <a:t>技能安全</a:t>
              </a:r>
              <a:endParaRPr lang="en-US" altLang="zh-CN" sz="1200" b="1" dirty="0">
                <a:solidFill>
                  <a:srgbClr val="0078B4"/>
                </a:solidFill>
                <a:latin typeface="+mj-ea"/>
                <a:ea typeface="+mj-ea"/>
              </a:endParaRPr>
            </a:p>
            <a:p>
              <a:pPr algn="ctr"/>
              <a:endParaRPr lang="en-US" altLang="zh-CN" sz="1200" dirty="0">
                <a:solidFill>
                  <a:srgbClr val="0078B4"/>
                </a:solidFill>
                <a:latin typeface="+mj-ea"/>
                <a:ea typeface="+mj-ea"/>
              </a:endParaRPr>
            </a:p>
            <a:p>
              <a:pPr algn="ctr"/>
              <a:r>
                <a:rPr lang="zh-CN" altLang="en-US" sz="1050" dirty="0">
                  <a:solidFill>
                    <a:srgbClr val="0078B4"/>
                  </a:solidFill>
                  <a:latin typeface="+mj-ea"/>
                  <a:ea typeface="+mj-ea"/>
                </a:rPr>
                <a:t>准入扫描→沙箱检测→运行时监控，三道防线把关</a:t>
              </a:r>
            </a:p>
          </p:txBody>
        </p:sp>
        <p:sp>
          <p:nvSpPr>
            <p:cNvPr id="41" name="文本框 40"/>
            <p:cNvSpPr txBox="1"/>
            <p:nvPr/>
          </p:nvSpPr>
          <p:spPr>
            <a:xfrm>
              <a:off x="3986055" y="2473555"/>
              <a:ext cx="1339742" cy="785043"/>
            </a:xfrm>
            <a:prstGeom prst="rect">
              <a:avLst/>
            </a:prstGeom>
            <a:noFill/>
          </p:spPr>
          <p:txBody>
            <a:bodyPr wrap="square">
              <a:spAutoFit/>
            </a:bodyPr>
            <a:lstStyle/>
            <a:p>
              <a:pPr algn="ctr"/>
              <a:r>
                <a:rPr lang="zh-CN" altLang="en-US" sz="1200" b="1" dirty="0">
                  <a:solidFill>
                    <a:srgbClr val="00BEE6"/>
                  </a:solidFill>
                  <a:latin typeface="+mj-ea"/>
                  <a:ea typeface="+mj-ea"/>
                </a:rPr>
                <a:t>模型调用安全</a:t>
              </a:r>
              <a:endParaRPr lang="en-US" altLang="zh-CN" sz="1200" b="1" dirty="0">
                <a:solidFill>
                  <a:srgbClr val="00BEE6"/>
                </a:solidFill>
                <a:latin typeface="+mj-ea"/>
                <a:ea typeface="+mj-ea"/>
              </a:endParaRPr>
            </a:p>
            <a:p>
              <a:pPr algn="ctr"/>
              <a:endParaRPr lang="en-US" altLang="zh-CN" sz="1200" dirty="0">
                <a:solidFill>
                  <a:srgbClr val="00BEE6"/>
                </a:solidFill>
                <a:latin typeface="+mj-ea"/>
                <a:ea typeface="+mj-ea"/>
              </a:endParaRPr>
            </a:p>
            <a:p>
              <a:pPr algn="ctr"/>
              <a:r>
                <a:rPr lang="zh-CN" altLang="en-US" sz="1050" dirty="0">
                  <a:solidFill>
                    <a:srgbClr val="00BEE6"/>
                  </a:solidFill>
                  <a:latin typeface="+mj-ea"/>
                  <a:ea typeface="+mj-ea"/>
                </a:rPr>
                <a:t>给大模型调用加上安全围栏</a:t>
              </a:r>
              <a:endParaRPr lang="en-US" altLang="zh-CN" sz="1200" dirty="0">
                <a:solidFill>
                  <a:srgbClr val="00BEE6"/>
                </a:solidFill>
                <a:latin typeface="+mj-ea"/>
                <a:ea typeface="+mj-ea"/>
              </a:endParaRPr>
            </a:p>
          </p:txBody>
        </p:sp>
        <p:sp>
          <p:nvSpPr>
            <p:cNvPr id="42" name="文本框 41"/>
            <p:cNvSpPr txBox="1"/>
            <p:nvPr/>
          </p:nvSpPr>
          <p:spPr>
            <a:xfrm>
              <a:off x="5507121" y="1503168"/>
              <a:ext cx="1365323" cy="946648"/>
            </a:xfrm>
            <a:prstGeom prst="rect">
              <a:avLst/>
            </a:prstGeom>
            <a:noFill/>
          </p:spPr>
          <p:txBody>
            <a:bodyPr wrap="square">
              <a:spAutoFit/>
            </a:bodyPr>
            <a:lstStyle/>
            <a:p>
              <a:pPr algn="ctr"/>
              <a:r>
                <a:rPr lang="zh-CN" altLang="en-US" sz="1200" b="1" dirty="0">
                  <a:solidFill>
                    <a:srgbClr val="0078B4"/>
                  </a:solidFill>
                  <a:latin typeface="+mj-ea"/>
                  <a:ea typeface="+mj-ea"/>
                </a:rPr>
                <a:t>数据安全</a:t>
              </a:r>
              <a:endParaRPr lang="en-US" altLang="zh-CN" sz="1200" b="1" dirty="0">
                <a:solidFill>
                  <a:srgbClr val="0078B4"/>
                </a:solidFill>
                <a:latin typeface="+mj-ea"/>
                <a:ea typeface="+mj-ea"/>
              </a:endParaRPr>
            </a:p>
            <a:p>
              <a:pPr algn="ctr"/>
              <a:endParaRPr lang="en-US" altLang="zh-CN" sz="1200" dirty="0">
                <a:solidFill>
                  <a:srgbClr val="0078B4"/>
                </a:solidFill>
                <a:latin typeface="+mj-ea"/>
                <a:ea typeface="+mj-ea"/>
              </a:endParaRPr>
            </a:p>
            <a:p>
              <a:pPr algn="ctr"/>
              <a:r>
                <a:rPr lang="zh-CN" altLang="en-US" sz="1050" dirty="0">
                  <a:solidFill>
                    <a:srgbClr val="0078B4"/>
                  </a:solidFill>
                  <a:latin typeface="+mj-ea"/>
                  <a:ea typeface="+mj-ea"/>
                </a:rPr>
                <a:t>敏感信息脱敏防护，知识库内容受控使用，凭证安全</a:t>
              </a:r>
            </a:p>
          </p:txBody>
        </p:sp>
        <p:sp>
          <p:nvSpPr>
            <p:cNvPr id="43" name="文本框 42"/>
            <p:cNvSpPr txBox="1"/>
            <p:nvPr/>
          </p:nvSpPr>
          <p:spPr>
            <a:xfrm>
              <a:off x="5510715" y="3278276"/>
              <a:ext cx="1224618" cy="946648"/>
            </a:xfrm>
            <a:prstGeom prst="rect">
              <a:avLst/>
            </a:prstGeom>
            <a:noFill/>
          </p:spPr>
          <p:txBody>
            <a:bodyPr wrap="square">
              <a:spAutoFit/>
            </a:bodyPr>
            <a:lstStyle/>
            <a:p>
              <a:pPr algn="ctr"/>
              <a:r>
                <a:rPr lang="zh-CN" altLang="en-US" sz="1200" b="1" dirty="0">
                  <a:solidFill>
                    <a:srgbClr val="005096"/>
                  </a:solidFill>
                  <a:latin typeface="+mj-ea"/>
                  <a:ea typeface="+mj-ea"/>
                </a:rPr>
                <a:t>运行时安全</a:t>
              </a:r>
              <a:endParaRPr lang="en-US" altLang="zh-CN" sz="1200" b="1" dirty="0">
                <a:solidFill>
                  <a:srgbClr val="005096"/>
                </a:solidFill>
                <a:latin typeface="+mj-ea"/>
                <a:ea typeface="+mj-ea"/>
              </a:endParaRPr>
            </a:p>
            <a:p>
              <a:pPr algn="ctr"/>
              <a:endParaRPr lang="en-US" altLang="zh-CN" sz="1200" dirty="0">
                <a:solidFill>
                  <a:srgbClr val="005096"/>
                </a:solidFill>
                <a:latin typeface="+mj-ea"/>
                <a:ea typeface="+mj-ea"/>
              </a:endParaRPr>
            </a:p>
            <a:p>
              <a:pPr algn="ctr"/>
              <a:r>
                <a:rPr lang="zh-CN" altLang="en-US" sz="1050" dirty="0">
                  <a:solidFill>
                    <a:srgbClr val="005096"/>
                  </a:solidFill>
                  <a:latin typeface="+mj-ea"/>
                  <a:ea typeface="+mj-ea"/>
                </a:rPr>
                <a:t>独立虚拟机</a:t>
              </a:r>
              <a:r>
                <a:rPr lang="en-US" altLang="zh-CN" sz="1050" dirty="0">
                  <a:solidFill>
                    <a:srgbClr val="005096"/>
                  </a:solidFill>
                  <a:latin typeface="+mj-ea"/>
                  <a:ea typeface="+mj-ea"/>
                </a:rPr>
                <a:t>+</a:t>
              </a:r>
              <a:r>
                <a:rPr lang="zh-CN" altLang="en-US" sz="1050" dirty="0">
                  <a:solidFill>
                    <a:srgbClr val="005096"/>
                  </a:solidFill>
                  <a:latin typeface="+mj-ea"/>
                  <a:ea typeface="+mj-ea"/>
                </a:rPr>
                <a:t>全程审计</a:t>
              </a:r>
              <a:r>
                <a:rPr lang="en-US" altLang="zh-CN" sz="1050" dirty="0">
                  <a:solidFill>
                    <a:srgbClr val="005096"/>
                  </a:solidFill>
                  <a:latin typeface="+mj-ea"/>
                  <a:ea typeface="+mj-ea"/>
                </a:rPr>
                <a:t>+</a:t>
              </a:r>
              <a:r>
                <a:rPr lang="zh-CN" altLang="en-US" sz="1050" dirty="0">
                  <a:solidFill>
                    <a:srgbClr val="005096"/>
                  </a:solidFill>
                  <a:latin typeface="+mj-ea"/>
                  <a:ea typeface="+mj-ea"/>
                </a:rPr>
                <a:t>高风险操作人工审批</a:t>
              </a:r>
            </a:p>
          </p:txBody>
        </p:sp>
        <p:sp>
          <p:nvSpPr>
            <p:cNvPr id="44" name="文本框 43"/>
            <p:cNvSpPr txBox="1"/>
            <p:nvPr/>
          </p:nvSpPr>
          <p:spPr>
            <a:xfrm>
              <a:off x="6901300" y="2431626"/>
              <a:ext cx="1365323" cy="785043"/>
            </a:xfrm>
            <a:prstGeom prst="rect">
              <a:avLst/>
            </a:prstGeom>
            <a:noFill/>
          </p:spPr>
          <p:txBody>
            <a:bodyPr wrap="square">
              <a:spAutoFit/>
            </a:bodyPr>
            <a:lstStyle/>
            <a:p>
              <a:pPr algn="ctr"/>
              <a:r>
                <a:rPr lang="zh-CN" altLang="en-US" sz="1200" b="1" dirty="0">
                  <a:solidFill>
                    <a:srgbClr val="00BEE6"/>
                  </a:solidFill>
                  <a:latin typeface="+mj-ea"/>
                  <a:ea typeface="+mj-ea"/>
                </a:rPr>
                <a:t>非授权管控</a:t>
              </a:r>
              <a:endParaRPr lang="en-US" altLang="zh-CN" sz="1200" b="1" dirty="0">
                <a:solidFill>
                  <a:srgbClr val="00BEE6"/>
                </a:solidFill>
                <a:latin typeface="+mj-ea"/>
                <a:ea typeface="+mj-ea"/>
              </a:endParaRPr>
            </a:p>
            <a:p>
              <a:pPr algn="ctr"/>
              <a:endParaRPr lang="en-US" altLang="zh-CN" sz="1200" dirty="0">
                <a:solidFill>
                  <a:srgbClr val="00BEE6"/>
                </a:solidFill>
                <a:latin typeface="+mj-ea"/>
                <a:ea typeface="+mj-ea"/>
              </a:endParaRPr>
            </a:p>
            <a:p>
              <a:pPr algn="ctr"/>
              <a:r>
                <a:rPr lang="zh-CN" altLang="en-US" sz="1050" dirty="0">
                  <a:solidFill>
                    <a:srgbClr val="00BEE6"/>
                  </a:solidFill>
                  <a:latin typeface="+mj-ea"/>
                  <a:ea typeface="+mj-ea"/>
                </a:rPr>
                <a:t>阻断私用智能体，确保唯一合规入口</a:t>
              </a:r>
              <a:endParaRPr lang="en-US" altLang="zh-CN" sz="1200" dirty="0">
                <a:solidFill>
                  <a:srgbClr val="00BEE6"/>
                </a:solidFill>
                <a:latin typeface="+mj-ea"/>
                <a:ea typeface="+mj-ea"/>
              </a:endParaRPr>
            </a:p>
          </p:txBody>
        </p:sp>
        <p:sp>
          <p:nvSpPr>
            <p:cNvPr id="45" name="文本框 44"/>
            <p:cNvSpPr txBox="1"/>
            <p:nvPr/>
          </p:nvSpPr>
          <p:spPr>
            <a:xfrm>
              <a:off x="4159383" y="1591822"/>
              <a:ext cx="1006334" cy="338547"/>
            </a:xfrm>
            <a:prstGeom prst="rect">
              <a:avLst/>
            </a:prstGeom>
            <a:noFill/>
          </p:spPr>
          <p:txBody>
            <a:bodyPr wrap="none" rtlCol="0">
              <a:spAutoFit/>
            </a:bodyPr>
            <a:lstStyle/>
            <a:p>
              <a:r>
                <a:rPr lang="zh-CN" altLang="en-US" sz="1600" b="1" dirty="0">
                  <a:solidFill>
                    <a:srgbClr val="005096"/>
                  </a:solidFill>
                  <a:latin typeface="+mj-ea"/>
                  <a:ea typeface="+mj-ea"/>
                </a:rPr>
                <a:t>七大支柱</a:t>
              </a:r>
            </a:p>
          </p:txBody>
        </p:sp>
      </p:grpSp>
      <p:sp>
        <p:nvSpPr>
          <p:cNvPr id="46" name="文本框 45"/>
          <p:cNvSpPr txBox="1"/>
          <p:nvPr/>
        </p:nvSpPr>
        <p:spPr>
          <a:xfrm>
            <a:off x="2398077" y="4370859"/>
            <a:ext cx="4632384" cy="300082"/>
          </a:xfrm>
          <a:prstGeom prst="rect">
            <a:avLst/>
          </a:prstGeom>
          <a:noFill/>
        </p:spPr>
        <p:txBody>
          <a:bodyPr wrap="square">
            <a:spAutoFit/>
          </a:bodyPr>
          <a:lstStyle/>
          <a:p>
            <a:pPr algn="l"/>
            <a:r>
              <a:rPr lang="zh-CN" altLang="zh-CN" sz="1350" b="1" dirty="0">
                <a:solidFill>
                  <a:srgbClr val="005A9C"/>
                </a:solidFill>
                <a:latin typeface="+mj-ea"/>
                <a:ea typeface="+mj-ea"/>
              </a:rPr>
              <a:t>自训练合规模型：敏感与违规信息拦截准确率 较高</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技能层：封装标准工具箱，打造可组合技能单元</a:t>
            </a:r>
          </a:p>
        </p:txBody>
      </p:sp>
      <p:sp>
        <p:nvSpPr>
          <p:cNvPr id="11" name="AutoShape 5"/>
          <p:cNvSpPr/>
          <p:nvPr/>
        </p:nvSpPr>
        <p:spPr>
          <a:xfrm>
            <a:off x="2233030" y="1253067"/>
            <a:ext cx="2018649"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3" name="AutoShape 7"/>
          <p:cNvSpPr/>
          <p:nvPr/>
        </p:nvSpPr>
        <p:spPr>
          <a:xfrm>
            <a:off x="4403445" y="1253067"/>
            <a:ext cx="2018649"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AutoShape 9"/>
          <p:cNvSpPr/>
          <p:nvPr/>
        </p:nvSpPr>
        <p:spPr>
          <a:xfrm>
            <a:off x="6586146" y="1253067"/>
            <a:ext cx="2018649"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2487201" y="1657515"/>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系统接口封装</a:t>
            </a:r>
          </a:p>
        </p:txBody>
      </p:sp>
      <p:sp>
        <p:nvSpPr>
          <p:cNvPr id="20" name="TextBox 15"/>
          <p:cNvSpPr txBox="1"/>
          <p:nvPr/>
        </p:nvSpPr>
        <p:spPr>
          <a:xfrm>
            <a:off x="4657614" y="1657515"/>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传统系统兼容</a:t>
            </a:r>
          </a:p>
        </p:txBody>
      </p:sp>
      <p:sp>
        <p:nvSpPr>
          <p:cNvPr id="21" name="TextBox 16"/>
          <p:cNvSpPr txBox="1"/>
          <p:nvPr/>
        </p:nvSpPr>
        <p:spPr>
          <a:xfrm>
            <a:off x="6829806" y="1657515"/>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原子化技能库</a:t>
            </a:r>
          </a:p>
        </p:txBody>
      </p:sp>
      <p:sp>
        <p:nvSpPr>
          <p:cNvPr id="23" name="TextBox 18"/>
          <p:cNvSpPr txBox="1"/>
          <p:nvPr/>
        </p:nvSpPr>
        <p:spPr>
          <a:xfrm>
            <a:off x="2487201" y="2055960"/>
            <a:ext cx="1553680"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将现有</a:t>
            </a:r>
            <a:r>
              <a:rPr lang="en-GB" altLang="zh-CN" sz="1200">
                <a:solidFill>
                  <a:schemeClr val="accent4"/>
                </a:solidFill>
                <a:latin typeface="+mj-ea"/>
                <a:ea typeface="+mj-ea"/>
              </a:rPr>
              <a:t>ERP</a:t>
            </a:r>
            <a:r>
              <a:rPr lang="zh-CN" altLang="en-GB" sz="1200">
                <a:solidFill>
                  <a:schemeClr val="accent4"/>
                </a:solidFill>
                <a:latin typeface="+mj-ea"/>
                <a:ea typeface="+mj-ea"/>
              </a:rPr>
              <a:t>、</a:t>
            </a:r>
            <a:r>
              <a:rPr lang="en-GB" altLang="zh-CN" sz="1200">
                <a:solidFill>
                  <a:schemeClr val="accent4"/>
                </a:solidFill>
                <a:latin typeface="+mj-ea"/>
                <a:ea typeface="+mj-ea"/>
              </a:rPr>
              <a:t>CRM</a:t>
            </a:r>
            <a:r>
              <a:rPr lang="zh-CN" altLang="en-GB" sz="1200">
                <a:solidFill>
                  <a:schemeClr val="accent4"/>
                </a:solidFill>
                <a:latin typeface="+mj-ea"/>
                <a:ea typeface="+mj-ea"/>
              </a:rPr>
              <a:t>、</a:t>
            </a:r>
            <a:r>
              <a:rPr lang="zh-CN" altLang="en-US" sz="1200">
                <a:solidFill>
                  <a:schemeClr val="accent4"/>
                </a:solidFill>
                <a:latin typeface="+mj-ea"/>
                <a:ea typeface="+mj-ea"/>
              </a:rPr>
              <a:t>交易系统等业务系统的</a:t>
            </a:r>
            <a:r>
              <a:rPr lang="en-GB" altLang="zh-CN" sz="1200">
                <a:solidFill>
                  <a:schemeClr val="accent4"/>
                </a:solidFill>
                <a:latin typeface="+mj-ea"/>
                <a:ea typeface="+mj-ea"/>
              </a:rPr>
              <a:t>API</a:t>
            </a:r>
            <a:r>
              <a:rPr lang="zh-CN" altLang="en-US" sz="1200">
                <a:solidFill>
                  <a:schemeClr val="accent4"/>
                </a:solidFill>
                <a:latin typeface="+mj-ea"/>
                <a:ea typeface="+mj-ea"/>
              </a:rPr>
              <a:t>统一封装为标准化的技能接口，实现</a:t>
            </a:r>
            <a:r>
              <a:rPr lang="en-GB" altLang="zh-CN" sz="1200">
                <a:solidFill>
                  <a:schemeClr val="accent4"/>
                </a:solidFill>
                <a:latin typeface="+mj-ea"/>
                <a:ea typeface="+mj-ea"/>
              </a:rPr>
              <a:t>AI</a:t>
            </a:r>
            <a:r>
              <a:rPr lang="zh-CN" altLang="en-US" sz="1200">
                <a:solidFill>
                  <a:schemeClr val="accent4"/>
                </a:solidFill>
                <a:latin typeface="+mj-ea"/>
                <a:ea typeface="+mj-ea"/>
              </a:rPr>
              <a:t>对传统系统的无缝调用，保证稳定性与可扩展性</a:t>
            </a:r>
          </a:p>
        </p:txBody>
      </p:sp>
      <p:sp>
        <p:nvSpPr>
          <p:cNvPr id="24" name="TextBox 19"/>
          <p:cNvSpPr txBox="1"/>
          <p:nvPr/>
        </p:nvSpPr>
        <p:spPr>
          <a:xfrm>
            <a:off x="4657614" y="2058795"/>
            <a:ext cx="1553681" cy="2100624"/>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通过</a:t>
            </a:r>
            <a:r>
              <a:rPr lang="en-GB" altLang="zh-CN" sz="1200">
                <a:solidFill>
                  <a:schemeClr val="accent4"/>
                </a:solidFill>
                <a:latin typeface="+mj-ea"/>
                <a:ea typeface="+mj-ea"/>
              </a:rPr>
              <a:t>Computer Use</a:t>
            </a:r>
            <a:r>
              <a:rPr lang="zh-CN" altLang="en-US" sz="1200">
                <a:solidFill>
                  <a:schemeClr val="accent4"/>
                </a:solidFill>
                <a:latin typeface="+mj-ea"/>
                <a:ea typeface="+mj-ea"/>
              </a:rPr>
              <a:t>等技术赋予</a:t>
            </a:r>
            <a:r>
              <a:rPr lang="en-GB" altLang="zh-CN" sz="1200">
                <a:solidFill>
                  <a:schemeClr val="accent4"/>
                </a:solidFill>
                <a:latin typeface="+mj-ea"/>
                <a:ea typeface="+mj-ea"/>
              </a:rPr>
              <a:t>AI</a:t>
            </a:r>
            <a:r>
              <a:rPr lang="zh-CN" altLang="en-US" sz="1200">
                <a:solidFill>
                  <a:schemeClr val="accent4"/>
                </a:solidFill>
                <a:latin typeface="+mj-ea"/>
                <a:ea typeface="+mj-ea"/>
              </a:rPr>
              <a:t>操作桌面系统、桌面应用能力，支持外部信息抓取与应用自动化交互，提升数据获取与任务执行效率，同时兼容传统系统使用</a:t>
            </a:r>
          </a:p>
        </p:txBody>
      </p:sp>
      <p:sp>
        <p:nvSpPr>
          <p:cNvPr id="25" name="TextBox 20"/>
          <p:cNvSpPr txBox="1"/>
          <p:nvPr/>
        </p:nvSpPr>
        <p:spPr>
          <a:xfrm>
            <a:off x="6829806" y="2055960"/>
            <a:ext cx="1553680" cy="971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200">
                <a:solidFill>
                  <a:schemeClr val="accent4"/>
                </a:solidFill>
                <a:latin typeface="+mj-ea"/>
                <a:ea typeface="+mj-ea"/>
              </a:rPr>
              <a:t>将复杂业务流程拆解为可组合的原子技能单元，支持灵活编排与快速复用，降低开发成本并加速能力迭代</a:t>
            </a:r>
          </a:p>
        </p:txBody>
      </p:sp>
      <p:sp>
        <p:nvSpPr>
          <p:cNvPr id="3" name="矩形 2"/>
          <p:cNvSpPr/>
          <p:nvPr/>
        </p:nvSpPr>
        <p:spPr bwMode="auto">
          <a:xfrm>
            <a:off x="2233030" y="1253067"/>
            <a:ext cx="2018649" cy="76200"/>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4" name="矩形 3"/>
          <p:cNvSpPr/>
          <p:nvPr/>
        </p:nvSpPr>
        <p:spPr bwMode="auto">
          <a:xfrm>
            <a:off x="4411788" y="1253067"/>
            <a:ext cx="2018649" cy="76200"/>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5" name="矩形 4"/>
          <p:cNvSpPr/>
          <p:nvPr/>
        </p:nvSpPr>
        <p:spPr bwMode="auto">
          <a:xfrm>
            <a:off x="6585899" y="1253067"/>
            <a:ext cx="2018649" cy="76200"/>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6" name="矩形 5"/>
          <p:cNvSpPr/>
          <p:nvPr/>
        </p:nvSpPr>
        <p:spPr bwMode="auto">
          <a:xfrm>
            <a:off x="283571" y="1258643"/>
            <a:ext cx="1729675" cy="522854"/>
          </a:xfrm>
          <a:prstGeom prst="rect">
            <a:avLst/>
          </a:prstGeom>
          <a:solidFill>
            <a:srgbClr val="FFC0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7" name="矩形 6"/>
          <p:cNvSpPr/>
          <p:nvPr/>
        </p:nvSpPr>
        <p:spPr bwMode="auto">
          <a:xfrm>
            <a:off x="283571" y="18894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8" name="矩形 7"/>
          <p:cNvSpPr/>
          <p:nvPr/>
        </p:nvSpPr>
        <p:spPr bwMode="auto">
          <a:xfrm>
            <a:off x="283571" y="252538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9" name="矩形 8"/>
          <p:cNvSpPr/>
          <p:nvPr/>
        </p:nvSpPr>
        <p:spPr bwMode="auto">
          <a:xfrm>
            <a:off x="283571" y="3165048"/>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0" name="矩形 9"/>
          <p:cNvSpPr/>
          <p:nvPr/>
        </p:nvSpPr>
        <p:spPr bwMode="auto">
          <a:xfrm>
            <a:off x="283571" y="3786679"/>
            <a:ext cx="1729675" cy="522854"/>
          </a:xfrm>
          <a:prstGeom prst="rect">
            <a:avLst/>
          </a:prstGeom>
          <a:solidFill>
            <a:schemeClr val="accent6"/>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12" name="TextBox 22"/>
          <p:cNvSpPr txBox="1"/>
          <p:nvPr/>
        </p:nvSpPr>
        <p:spPr>
          <a:xfrm>
            <a:off x="632879" y="3944472"/>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算力层</a:t>
            </a:r>
            <a:endParaRPr lang="en-US" sz="600">
              <a:solidFill>
                <a:schemeClr val="bg1"/>
              </a:solidFill>
              <a:latin typeface="+mj-ea"/>
              <a:ea typeface="+mj-ea"/>
            </a:endParaRPr>
          </a:p>
        </p:txBody>
      </p:sp>
      <p:sp>
        <p:nvSpPr>
          <p:cNvPr id="14" name="TextBox 22"/>
          <p:cNvSpPr txBox="1"/>
          <p:nvPr/>
        </p:nvSpPr>
        <p:spPr>
          <a:xfrm>
            <a:off x="634402" y="2043401"/>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架构层</a:t>
            </a:r>
            <a:endParaRPr lang="en-US" sz="600">
              <a:solidFill>
                <a:schemeClr val="bg1"/>
              </a:solidFill>
              <a:latin typeface="+mj-ea"/>
              <a:ea typeface="+mj-ea"/>
            </a:endParaRPr>
          </a:p>
        </p:txBody>
      </p:sp>
      <p:sp>
        <p:nvSpPr>
          <p:cNvPr id="16" name="TextBox 22"/>
          <p:cNvSpPr txBox="1"/>
          <p:nvPr/>
        </p:nvSpPr>
        <p:spPr>
          <a:xfrm>
            <a:off x="634402" y="2680165"/>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模型层</a:t>
            </a:r>
            <a:endParaRPr lang="en-US" sz="600">
              <a:solidFill>
                <a:schemeClr val="bg1"/>
              </a:solidFill>
              <a:latin typeface="+mj-ea"/>
              <a:ea typeface="+mj-ea"/>
            </a:endParaRPr>
          </a:p>
        </p:txBody>
      </p:sp>
      <p:sp>
        <p:nvSpPr>
          <p:cNvPr id="17" name="TextBox 22"/>
          <p:cNvSpPr txBox="1"/>
          <p:nvPr/>
        </p:nvSpPr>
        <p:spPr>
          <a:xfrm>
            <a:off x="634402" y="1412447"/>
            <a:ext cx="1031063" cy="214947"/>
          </a:xfrm>
          <a:prstGeom prst="rect">
            <a:avLst/>
          </a:prstGeom>
          <a:solidFill>
            <a:srgbClr val="000000">
              <a:alpha val="0"/>
            </a:srgbClr>
          </a:solidFill>
        </p:spPr>
        <p:txBody>
          <a:bodyPr lIns="0" tIns="0" rIns="0" bIns="0" rtlCol="0" anchor="t"/>
          <a:lstStyle/>
          <a:p>
            <a:pPr indent="0" algn="ctr">
              <a:lnSpc>
                <a:spcPct val="120000"/>
              </a:lnSpc>
              <a:defRPr/>
            </a:pPr>
            <a:r>
              <a:rPr lang="en-US" sz="1100">
                <a:solidFill>
                  <a:schemeClr val="bg1"/>
                </a:solidFill>
                <a:latin typeface="+mj-ea"/>
                <a:ea typeface="+mj-ea"/>
              </a:rPr>
              <a:t>技能层</a:t>
            </a:r>
            <a:endParaRPr lang="en-US" sz="600">
              <a:solidFill>
                <a:schemeClr val="bg1"/>
              </a:solidFill>
              <a:latin typeface="+mj-ea"/>
              <a:ea typeface="+mj-ea"/>
            </a:endParaRPr>
          </a:p>
        </p:txBody>
      </p:sp>
      <p:sp>
        <p:nvSpPr>
          <p:cNvPr id="18" name="TextBox 22"/>
          <p:cNvSpPr txBox="1"/>
          <p:nvPr/>
        </p:nvSpPr>
        <p:spPr>
          <a:xfrm>
            <a:off x="632878" y="3319001"/>
            <a:ext cx="1031063" cy="214947"/>
          </a:xfrm>
          <a:prstGeom prst="rect">
            <a:avLst/>
          </a:prstGeom>
          <a:solidFill>
            <a:schemeClr val="accent1">
              <a:lumMod val="60000"/>
              <a:lumOff val="40000"/>
              <a:alpha val="0"/>
            </a:schemeClr>
          </a:solidFill>
        </p:spPr>
        <p:txBody>
          <a:bodyPr lIns="0" tIns="0" rIns="0" bIns="0" rtlCol="0" anchor="t"/>
          <a:lstStyle>
            <a:defPPr>
              <a:defRPr lang="en-US"/>
            </a:defPPr>
            <a:lvl1pPr indent="0" algn="ctr">
              <a:lnSpc>
                <a:spcPct val="120000"/>
              </a:lnSpc>
              <a:defRPr sz="1100">
                <a:solidFill>
                  <a:schemeClr val="bg1"/>
                </a:solidFill>
                <a:latin typeface="+mj-ea"/>
                <a:ea typeface="+mj-ea"/>
              </a:defRPr>
            </a:lvl1pPr>
          </a:lstStyle>
          <a:p>
            <a:r>
              <a:rPr lang="en-US">
                <a:solidFill>
                  <a:schemeClr val="bg2"/>
                </a:solidFill>
              </a:rPr>
              <a:t>数据层</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9" name="TitleInjected"/>
          <p:cNvSpPr>
            <a:spLocks noGrp="1"/>
          </p:cNvSpPr>
          <p:nvPr>
            <p:ph type="title"/>
          </p:nvPr>
        </p:nvSpPr>
        <p:spPr>
          <a:xfrm>
            <a:off x="327780" y="210943"/>
            <a:ext cx="8374621" cy="268039"/>
          </a:xfrm>
          <a:noFill/>
          <a:ln>
            <a:noFill/>
          </a:ln>
        </p:spPr>
        <p:txBody>
          <a:bodyPr vert="horz" wrap="square" lIns="0" tIns="0" rIns="0" bIns="45678" numCol="1" anchor="t" anchorCtr="0" compatLnSpc="1"/>
          <a:lstStyle/>
          <a:p>
            <a:r>
              <a:rPr lang="en" sz="2300" b="1" dirty="0">
                <a:solidFill>
                  <a:srgbClr val="FFFFFF"/>
                </a:solidFill>
                <a:ea typeface="华文黑体_易方达" pitchFamily="2" charset="-122"/>
              </a:rPr>
              <a:t>Trace</a:t>
            </a:r>
            <a:r>
              <a:rPr lang="zh-CN" altLang="en-US" sz="2300" b="1" dirty="0">
                <a:solidFill>
                  <a:srgbClr val="FFFFFF"/>
                </a:solidFill>
                <a:ea typeface="华文黑体_易方达" pitchFamily="2" charset="-122"/>
              </a:rPr>
              <a:t>挖掘与</a:t>
            </a:r>
            <a:r>
              <a:rPr lang="en" sz="2300" b="1" dirty="0">
                <a:solidFill>
                  <a:srgbClr val="FFFFFF"/>
                </a:solidFill>
                <a:ea typeface="华文黑体_易方达" pitchFamily="2" charset="-122"/>
              </a:rPr>
              <a:t>Skill</a:t>
            </a:r>
            <a:r>
              <a:rPr lang="zh-CN" altLang="en-US" sz="2300" b="1" dirty="0">
                <a:solidFill>
                  <a:srgbClr val="FFFFFF"/>
                </a:solidFill>
                <a:ea typeface="华文黑体_易方达" pitchFamily="2" charset="-122"/>
              </a:rPr>
              <a:t>自进化闭环</a:t>
            </a:r>
            <a:endParaRPr sz="2300" b="1" dirty="0">
              <a:solidFill>
                <a:srgbClr val="FFFFFF"/>
              </a:solidFill>
              <a:ea typeface="华文黑体_易方达" pitchFamily="2" charset="-122"/>
            </a:endParaRPr>
          </a:p>
        </p:txBody>
      </p:sp>
      <p:sp>
        <p:nvSpPr>
          <p:cNvPr id="10000" name="TextBox 9999"/>
          <p:cNvSpPr txBox="1"/>
          <p:nvPr/>
        </p:nvSpPr>
        <p:spPr>
          <a:xfrm>
            <a:off x="312741" y="997256"/>
            <a:ext cx="8404698" cy="307492"/>
          </a:xfrm>
          <a:prstGeom prst="rect">
            <a:avLst/>
          </a:prstGeom>
          <a:noFill/>
        </p:spPr>
        <p:txBody>
          <a:bodyPr wrap="square" anchor="t">
            <a:spAutoFit/>
          </a:bodyPr>
          <a:lstStyle/>
          <a:p>
            <a:pPr algn="l"/>
            <a:r>
              <a:rPr sz="1400" dirty="0" err="1">
                <a:solidFill>
                  <a:schemeClr val="accent1"/>
                </a:solidFill>
                <a:latin typeface="+mj-ea"/>
                <a:ea typeface="+mj-ea"/>
              </a:rPr>
              <a:t>把生产中真实发生的</a:t>
            </a:r>
            <a:r>
              <a:rPr sz="1400" dirty="0">
                <a:solidFill>
                  <a:schemeClr val="accent1"/>
                </a:solidFill>
                <a:latin typeface="+mj-ea"/>
                <a:ea typeface="+mj-ea"/>
              </a:rPr>
              <a:t> agent </a:t>
            </a:r>
            <a:r>
              <a:rPr sz="1400" dirty="0" err="1">
                <a:solidFill>
                  <a:schemeClr val="accent1"/>
                </a:solidFill>
                <a:latin typeface="+mj-ea"/>
                <a:ea typeface="+mj-ea"/>
              </a:rPr>
              <a:t>轨迹（trace</a:t>
            </a:r>
            <a:r>
              <a:rPr sz="1400" dirty="0">
                <a:solidFill>
                  <a:schemeClr val="accent1"/>
                </a:solidFill>
                <a:latin typeface="+mj-ea"/>
                <a:ea typeface="+mj-ea"/>
              </a:rPr>
              <a:t>），</a:t>
            </a:r>
            <a:r>
              <a:rPr sz="1400" dirty="0" err="1">
                <a:solidFill>
                  <a:schemeClr val="accent1"/>
                </a:solidFill>
                <a:latin typeface="+mj-ea"/>
                <a:ea typeface="+mj-ea"/>
              </a:rPr>
              <a:t>自动提炼成可复用、可沉淀的</a:t>
            </a:r>
            <a:r>
              <a:rPr sz="1400" dirty="0">
                <a:solidFill>
                  <a:schemeClr val="accent1"/>
                </a:solidFill>
                <a:latin typeface="+mj-ea"/>
                <a:ea typeface="+mj-ea"/>
              </a:rPr>
              <a:t> Skill</a:t>
            </a:r>
          </a:p>
        </p:txBody>
      </p:sp>
      <p:sp>
        <p:nvSpPr>
          <p:cNvPr id="10001" name="Rectangle 10000"/>
          <p:cNvSpPr/>
          <p:nvPr/>
        </p:nvSpPr>
        <p:spPr>
          <a:xfrm>
            <a:off x="369651" y="1464838"/>
            <a:ext cx="1233298" cy="635349"/>
          </a:xfrm>
          <a:prstGeom prst="rect">
            <a:avLst/>
          </a:prstGeom>
          <a:solidFill>
            <a:srgbClr val="1EB9E1"/>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100" dirty="0" err="1">
                <a:solidFill>
                  <a:srgbClr val="FFFFFF"/>
                </a:solidFill>
                <a:latin typeface="+mj-ea"/>
                <a:ea typeface="+mj-ea"/>
              </a:rPr>
              <a:t>生产</a:t>
            </a:r>
            <a:r>
              <a:rPr sz="1100" dirty="0">
                <a:solidFill>
                  <a:srgbClr val="FFFFFF"/>
                </a:solidFill>
                <a:latin typeface="+mj-ea"/>
                <a:ea typeface="+mj-ea"/>
              </a:rPr>
              <a:t> Trace</a:t>
            </a:r>
          </a:p>
          <a:p>
            <a:pPr algn="ctr">
              <a:lnSpc>
                <a:spcPct val="105000"/>
              </a:lnSpc>
            </a:pPr>
            <a:r>
              <a:rPr sz="1100" dirty="0" err="1">
                <a:solidFill>
                  <a:srgbClr val="FFFFFF"/>
                </a:solidFill>
                <a:latin typeface="+mj-ea"/>
                <a:ea typeface="+mj-ea"/>
              </a:rPr>
              <a:t>采集</a:t>
            </a:r>
            <a:endParaRPr sz="1100" dirty="0">
              <a:solidFill>
                <a:srgbClr val="FFFFFF"/>
              </a:solidFill>
              <a:latin typeface="+mj-ea"/>
              <a:ea typeface="+mj-ea"/>
            </a:endParaRPr>
          </a:p>
        </p:txBody>
      </p:sp>
      <p:sp>
        <p:nvSpPr>
          <p:cNvPr id="10003" name="Rectangle 10002"/>
          <p:cNvSpPr/>
          <p:nvPr/>
        </p:nvSpPr>
        <p:spPr>
          <a:xfrm>
            <a:off x="1803931" y="1464838"/>
            <a:ext cx="1233298" cy="635349"/>
          </a:xfrm>
          <a:prstGeom prst="rect">
            <a:avLst/>
          </a:prstGeom>
          <a:solidFill>
            <a:srgbClr val="005096"/>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100">
                <a:solidFill>
                  <a:srgbClr val="FFFFFF"/>
                </a:solidFill>
                <a:latin typeface="+mj-ea"/>
                <a:ea typeface="+mj-ea"/>
              </a:rPr>
              <a:t>噪声过滤</a:t>
            </a:r>
          </a:p>
          <a:p>
            <a:pPr algn="ctr">
              <a:lnSpc>
                <a:spcPct val="105000"/>
              </a:lnSpc>
            </a:pPr>
            <a:r>
              <a:rPr sz="1100">
                <a:solidFill>
                  <a:srgbClr val="FFFFFF"/>
                </a:solidFill>
                <a:latin typeface="+mj-ea"/>
                <a:ea typeface="+mj-ea"/>
              </a:rPr>
              <a:t>&amp; 精选</a:t>
            </a:r>
          </a:p>
        </p:txBody>
      </p:sp>
      <p:sp>
        <p:nvSpPr>
          <p:cNvPr id="10005" name="Rectangle 10004"/>
          <p:cNvSpPr/>
          <p:nvPr/>
        </p:nvSpPr>
        <p:spPr>
          <a:xfrm>
            <a:off x="3238211" y="1464838"/>
            <a:ext cx="1233298" cy="635349"/>
          </a:xfrm>
          <a:prstGeom prst="rect">
            <a:avLst/>
          </a:prstGeom>
          <a:solidFill>
            <a:srgbClr val="005096"/>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100">
                <a:solidFill>
                  <a:srgbClr val="FFFFFF"/>
                </a:solidFill>
                <a:latin typeface="+mj-ea"/>
                <a:ea typeface="+mj-ea"/>
              </a:rPr>
              <a:t>语义聚类</a:t>
            </a:r>
          </a:p>
        </p:txBody>
      </p:sp>
      <p:sp>
        <p:nvSpPr>
          <p:cNvPr id="10007" name="Rectangle 10006"/>
          <p:cNvSpPr/>
          <p:nvPr/>
        </p:nvSpPr>
        <p:spPr>
          <a:xfrm>
            <a:off x="4672491" y="1464838"/>
            <a:ext cx="1233298" cy="635349"/>
          </a:xfrm>
          <a:prstGeom prst="rect">
            <a:avLst/>
          </a:prstGeom>
          <a:solidFill>
            <a:srgbClr val="005096"/>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100">
                <a:solidFill>
                  <a:srgbClr val="FFFFFF"/>
                </a:solidFill>
                <a:latin typeface="+mj-ea"/>
                <a:ea typeface="+mj-ea"/>
              </a:rPr>
              <a:t>成功 / 失败</a:t>
            </a:r>
          </a:p>
          <a:p>
            <a:pPr algn="ctr">
              <a:lnSpc>
                <a:spcPct val="105000"/>
              </a:lnSpc>
            </a:pPr>
            <a:r>
              <a:rPr sz="1100">
                <a:solidFill>
                  <a:srgbClr val="FFFFFF"/>
                </a:solidFill>
                <a:latin typeface="+mj-ea"/>
                <a:ea typeface="+mj-ea"/>
              </a:rPr>
              <a:t>双路挖掘</a:t>
            </a:r>
          </a:p>
        </p:txBody>
      </p:sp>
      <p:sp>
        <p:nvSpPr>
          <p:cNvPr id="10009" name="Rectangle 10008"/>
          <p:cNvSpPr/>
          <p:nvPr/>
        </p:nvSpPr>
        <p:spPr>
          <a:xfrm>
            <a:off x="6106771" y="1464838"/>
            <a:ext cx="1233298" cy="635349"/>
          </a:xfrm>
          <a:prstGeom prst="rect">
            <a:avLst/>
          </a:prstGeom>
          <a:solidFill>
            <a:srgbClr val="005096"/>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100">
                <a:solidFill>
                  <a:srgbClr val="FFFFFF"/>
                </a:solidFill>
                <a:latin typeface="+mj-ea"/>
                <a:ea typeface="+mj-ea"/>
              </a:rPr>
              <a:t>价值闸门</a:t>
            </a:r>
          </a:p>
          <a:p>
            <a:pPr algn="ctr">
              <a:lnSpc>
                <a:spcPct val="105000"/>
              </a:lnSpc>
            </a:pPr>
            <a:r>
              <a:rPr sz="1100">
                <a:solidFill>
                  <a:srgbClr val="FFFFFF"/>
                </a:solidFill>
                <a:latin typeface="+mj-ea"/>
                <a:ea typeface="+mj-ea"/>
              </a:rPr>
              <a:t>质量把关</a:t>
            </a:r>
          </a:p>
        </p:txBody>
      </p:sp>
      <p:sp>
        <p:nvSpPr>
          <p:cNvPr id="10011" name="Rectangle 10010"/>
          <p:cNvSpPr/>
          <p:nvPr/>
        </p:nvSpPr>
        <p:spPr>
          <a:xfrm>
            <a:off x="7541051" y="1464838"/>
            <a:ext cx="1233298" cy="635349"/>
          </a:xfrm>
          <a:prstGeom prst="rect">
            <a:avLst/>
          </a:prstGeom>
          <a:solidFill>
            <a:srgbClr val="1EB9E1"/>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100">
                <a:solidFill>
                  <a:srgbClr val="FFFFFF"/>
                </a:solidFill>
                <a:latin typeface="+mj-ea"/>
                <a:ea typeface="+mj-ea"/>
              </a:rPr>
              <a:t>Skill 库</a:t>
            </a:r>
          </a:p>
          <a:p>
            <a:pPr algn="ctr">
              <a:lnSpc>
                <a:spcPct val="105000"/>
              </a:lnSpc>
            </a:pPr>
            <a:r>
              <a:rPr sz="1100">
                <a:solidFill>
                  <a:srgbClr val="FFFFFF"/>
                </a:solidFill>
                <a:latin typeface="+mj-ea"/>
                <a:ea typeface="+mj-ea"/>
              </a:rPr>
              <a:t>可复用</a:t>
            </a:r>
          </a:p>
        </p:txBody>
      </p:sp>
      <p:sp>
        <p:nvSpPr>
          <p:cNvPr id="10012" name="TextBox 10011"/>
          <p:cNvSpPr txBox="1"/>
          <p:nvPr/>
        </p:nvSpPr>
        <p:spPr>
          <a:xfrm>
            <a:off x="369651" y="2240280"/>
            <a:ext cx="8508460" cy="549061"/>
          </a:xfrm>
          <a:prstGeom prst="rect">
            <a:avLst/>
          </a:prstGeom>
          <a:noFill/>
        </p:spPr>
        <p:txBody>
          <a:bodyPr wrap="square" anchor="t">
            <a:spAutoFit/>
          </a:bodyPr>
          <a:lstStyle/>
          <a:p>
            <a:pPr algn="l">
              <a:lnSpc>
                <a:spcPct val="130000"/>
              </a:lnSpc>
            </a:pPr>
            <a:r>
              <a:rPr sz="1200" dirty="0" err="1">
                <a:solidFill>
                  <a:schemeClr val="accent4"/>
                </a:solidFill>
                <a:latin typeface="+mj-ea"/>
                <a:ea typeface="+mj-ea"/>
              </a:rPr>
              <a:t>双路挖掘：成功轨迹提炼「做对的步骤</a:t>
            </a:r>
            <a:r>
              <a:rPr sz="1200" dirty="0">
                <a:solidFill>
                  <a:schemeClr val="accent4"/>
                </a:solidFill>
                <a:latin typeface="+mj-ea"/>
                <a:ea typeface="+mj-ea"/>
              </a:rPr>
              <a:t>」，</a:t>
            </a:r>
            <a:r>
              <a:rPr sz="1200" dirty="0" err="1">
                <a:solidFill>
                  <a:schemeClr val="accent4"/>
                </a:solidFill>
                <a:latin typeface="+mj-ea"/>
                <a:ea typeface="+mj-ea"/>
              </a:rPr>
              <a:t>失败轨迹提炼「踩过的坑与具体修法</a:t>
            </a:r>
            <a:r>
              <a:rPr sz="1200" dirty="0">
                <a:solidFill>
                  <a:schemeClr val="accent4"/>
                </a:solidFill>
                <a:latin typeface="+mj-ea"/>
                <a:ea typeface="+mj-ea"/>
              </a:rPr>
              <a:t>」；</a:t>
            </a:r>
            <a:r>
              <a:rPr sz="1200" dirty="0" err="1">
                <a:solidFill>
                  <a:schemeClr val="accent4"/>
                </a:solidFill>
                <a:latin typeface="+mj-ea"/>
                <a:ea typeface="+mj-ea"/>
              </a:rPr>
              <a:t>价值闸门滤掉空泛的通用套话，只保留真正有操作价值的</a:t>
            </a:r>
            <a:r>
              <a:rPr sz="1200" dirty="0">
                <a:solidFill>
                  <a:schemeClr val="accent4"/>
                </a:solidFill>
                <a:latin typeface="+mj-ea"/>
                <a:ea typeface="+mj-ea"/>
              </a:rPr>
              <a:t> Skill。</a:t>
            </a:r>
          </a:p>
        </p:txBody>
      </p:sp>
      <p:cxnSp>
        <p:nvCxnSpPr>
          <p:cNvPr id="4" name="直接箭头连接符 3"/>
          <p:cNvCxnSpPr>
            <a:cxnSpLocks/>
            <a:stCxn id="10003" idx="3"/>
            <a:endCxn id="10005" idx="1"/>
          </p:cNvCxnSpPr>
          <p:nvPr/>
        </p:nvCxnSpPr>
        <p:spPr bwMode="auto">
          <a:xfrm>
            <a:off x="3037229" y="1782513"/>
            <a:ext cx="200982"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 name="直接箭头连接符 4"/>
          <p:cNvCxnSpPr>
            <a:cxnSpLocks/>
            <a:stCxn id="10005" idx="3"/>
            <a:endCxn id="10007" idx="1"/>
          </p:cNvCxnSpPr>
          <p:nvPr/>
        </p:nvCxnSpPr>
        <p:spPr bwMode="auto">
          <a:xfrm>
            <a:off x="4471509" y="1782513"/>
            <a:ext cx="200982"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 name="直接箭头连接符 5"/>
          <p:cNvCxnSpPr>
            <a:cxnSpLocks/>
            <a:stCxn id="10007" idx="3"/>
            <a:endCxn id="10009" idx="1"/>
          </p:cNvCxnSpPr>
          <p:nvPr/>
        </p:nvCxnSpPr>
        <p:spPr bwMode="auto">
          <a:xfrm>
            <a:off x="5905789" y="1782513"/>
            <a:ext cx="200982"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7" name="直接箭头连接符 6"/>
          <p:cNvCxnSpPr>
            <a:cxnSpLocks/>
            <a:stCxn id="10009" idx="3"/>
            <a:endCxn id="10011" idx="1"/>
          </p:cNvCxnSpPr>
          <p:nvPr/>
        </p:nvCxnSpPr>
        <p:spPr bwMode="auto">
          <a:xfrm>
            <a:off x="7340069" y="1782513"/>
            <a:ext cx="200982"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0" name="直接箭头连接符 19"/>
          <p:cNvCxnSpPr>
            <a:cxnSpLocks/>
            <a:stCxn id="10001" idx="3"/>
            <a:endCxn id="10003" idx="1"/>
          </p:cNvCxnSpPr>
          <p:nvPr/>
        </p:nvCxnSpPr>
        <p:spPr bwMode="auto">
          <a:xfrm>
            <a:off x="1602949" y="1782513"/>
            <a:ext cx="200982"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 name="TextBox 9999">
            <a:extLst>
              <a:ext uri="{FF2B5EF4-FFF2-40B4-BE49-F238E27FC236}">
                <a16:creationId xmlns:a16="http://schemas.microsoft.com/office/drawing/2014/main" id="{6B6AA297-91F6-7A1E-6526-61BD2EC753E4}"/>
              </a:ext>
            </a:extLst>
          </p:cNvPr>
          <p:cNvSpPr txBox="1"/>
          <p:nvPr/>
        </p:nvSpPr>
        <p:spPr>
          <a:xfrm>
            <a:off x="369651" y="3014713"/>
            <a:ext cx="8404698" cy="307492"/>
          </a:xfrm>
          <a:prstGeom prst="rect">
            <a:avLst/>
          </a:prstGeom>
          <a:noFill/>
        </p:spPr>
        <p:txBody>
          <a:bodyPr wrap="square" anchor="t">
            <a:spAutoFit/>
          </a:bodyPr>
          <a:lstStyle/>
          <a:p>
            <a:pPr algn="l"/>
            <a:r>
              <a:rPr sz="1399" dirty="0">
                <a:solidFill>
                  <a:schemeClr val="accent1"/>
                </a:solidFill>
                <a:latin typeface="+mj-ea"/>
                <a:ea typeface="+mj-ea"/>
              </a:rPr>
              <a:t>Skill不</a:t>
            </a:r>
            <a:r>
              <a:rPr lang="zh-CN" altLang="en-US" sz="1399" dirty="0">
                <a:solidFill>
                  <a:schemeClr val="accent1"/>
                </a:solidFill>
                <a:latin typeface="+mj-ea"/>
                <a:ea typeface="+mj-ea"/>
              </a:rPr>
              <a:t>作为</a:t>
            </a:r>
            <a:r>
              <a:rPr sz="1399" dirty="0" err="1">
                <a:solidFill>
                  <a:schemeClr val="accent1"/>
                </a:solidFill>
                <a:latin typeface="+mj-ea"/>
                <a:ea typeface="+mj-ea"/>
              </a:rPr>
              <a:t>一次性产物</a:t>
            </a:r>
            <a:r>
              <a:rPr lang="zh-CN" altLang="en-US" sz="1399" dirty="0">
                <a:solidFill>
                  <a:schemeClr val="accent1"/>
                </a:solidFill>
                <a:latin typeface="+mj-ea"/>
                <a:ea typeface="+mj-ea"/>
              </a:rPr>
              <a:t>，而要</a:t>
            </a:r>
            <a:r>
              <a:rPr sz="1399" dirty="0" err="1">
                <a:solidFill>
                  <a:schemeClr val="accent1"/>
                </a:solidFill>
                <a:latin typeface="+mj-ea"/>
                <a:ea typeface="+mj-ea"/>
              </a:rPr>
              <a:t>在生产中被使用、被评测、再自动优化，形成越用越强的飞轮</a:t>
            </a:r>
            <a:endParaRPr sz="1399" dirty="0">
              <a:solidFill>
                <a:schemeClr val="accent1"/>
              </a:solidFill>
              <a:latin typeface="+mj-ea"/>
              <a:ea typeface="+mj-ea"/>
            </a:endParaRPr>
          </a:p>
        </p:txBody>
      </p:sp>
      <p:sp>
        <p:nvSpPr>
          <p:cNvPr id="3" name="Rectangle 10000">
            <a:extLst>
              <a:ext uri="{FF2B5EF4-FFF2-40B4-BE49-F238E27FC236}">
                <a16:creationId xmlns:a16="http://schemas.microsoft.com/office/drawing/2014/main" id="{3403C326-69FD-C615-263F-1E3ADFFF3018}"/>
              </a:ext>
            </a:extLst>
          </p:cNvPr>
          <p:cNvSpPr/>
          <p:nvPr/>
        </p:nvSpPr>
        <p:spPr>
          <a:xfrm>
            <a:off x="374219" y="3432323"/>
            <a:ext cx="1900193" cy="600368"/>
          </a:xfrm>
          <a:prstGeom prst="rect">
            <a:avLst/>
          </a:prstGeom>
          <a:solidFill>
            <a:srgbClr val="1EB9E1"/>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099" dirty="0">
                <a:solidFill>
                  <a:srgbClr val="FFFFFF"/>
                </a:solidFill>
                <a:latin typeface="+mj-ea"/>
                <a:ea typeface="+mj-ea"/>
              </a:rPr>
              <a:t>① Skill 库</a:t>
            </a:r>
          </a:p>
          <a:p>
            <a:pPr algn="ctr">
              <a:lnSpc>
                <a:spcPct val="105000"/>
              </a:lnSpc>
            </a:pPr>
            <a:r>
              <a:rPr sz="1099" dirty="0" err="1">
                <a:solidFill>
                  <a:srgbClr val="FFFFFF"/>
                </a:solidFill>
                <a:latin typeface="+mj-ea"/>
                <a:ea typeface="+mj-ea"/>
              </a:rPr>
              <a:t>产出</a:t>
            </a:r>
            <a:r>
              <a:rPr sz="1099" dirty="0">
                <a:solidFill>
                  <a:srgbClr val="FFFFFF"/>
                </a:solidFill>
                <a:latin typeface="+mj-ea"/>
                <a:ea typeface="+mj-ea"/>
              </a:rPr>
              <a:t> / </a:t>
            </a:r>
            <a:r>
              <a:rPr sz="1099" dirty="0" err="1">
                <a:solidFill>
                  <a:srgbClr val="FFFFFF"/>
                </a:solidFill>
                <a:latin typeface="+mj-ea"/>
                <a:ea typeface="+mj-ea"/>
              </a:rPr>
              <a:t>上线</a:t>
            </a:r>
            <a:endParaRPr sz="1099" dirty="0">
              <a:solidFill>
                <a:srgbClr val="FFFFFF"/>
              </a:solidFill>
              <a:latin typeface="+mj-ea"/>
              <a:ea typeface="+mj-ea"/>
            </a:endParaRPr>
          </a:p>
        </p:txBody>
      </p:sp>
      <p:sp>
        <p:nvSpPr>
          <p:cNvPr id="8" name="Rectangle 10002">
            <a:extLst>
              <a:ext uri="{FF2B5EF4-FFF2-40B4-BE49-F238E27FC236}">
                <a16:creationId xmlns:a16="http://schemas.microsoft.com/office/drawing/2014/main" id="{13686BC8-790D-1B2C-5FE4-CD4285C4C65F}"/>
              </a:ext>
            </a:extLst>
          </p:cNvPr>
          <p:cNvSpPr/>
          <p:nvPr/>
        </p:nvSpPr>
        <p:spPr>
          <a:xfrm>
            <a:off x="2539342" y="3432323"/>
            <a:ext cx="1900193" cy="600368"/>
          </a:xfrm>
          <a:prstGeom prst="rect">
            <a:avLst/>
          </a:prstGeom>
          <a:solidFill>
            <a:srgbClr val="005096"/>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099" dirty="0">
                <a:solidFill>
                  <a:srgbClr val="FFFFFF"/>
                </a:solidFill>
                <a:latin typeface="+mj-ea"/>
                <a:ea typeface="+mj-ea"/>
              </a:rPr>
              <a:t>② </a:t>
            </a:r>
            <a:r>
              <a:rPr sz="1099" dirty="0" err="1">
                <a:solidFill>
                  <a:srgbClr val="FFFFFF"/>
                </a:solidFill>
                <a:latin typeface="+mj-ea"/>
                <a:ea typeface="+mj-ea"/>
              </a:rPr>
              <a:t>生产部署</a:t>
            </a:r>
            <a:endParaRPr sz="1099" dirty="0">
              <a:solidFill>
                <a:srgbClr val="FFFFFF"/>
              </a:solidFill>
              <a:latin typeface="+mj-ea"/>
              <a:ea typeface="+mj-ea"/>
            </a:endParaRPr>
          </a:p>
          <a:p>
            <a:pPr algn="ctr">
              <a:lnSpc>
                <a:spcPct val="105000"/>
              </a:lnSpc>
            </a:pPr>
            <a:r>
              <a:rPr sz="1099" dirty="0" err="1">
                <a:solidFill>
                  <a:srgbClr val="FFFFFF"/>
                </a:solidFill>
                <a:latin typeface="+mj-ea"/>
                <a:ea typeface="+mj-ea"/>
              </a:rPr>
              <a:t>真实使用</a:t>
            </a:r>
            <a:endParaRPr sz="1099" dirty="0">
              <a:solidFill>
                <a:srgbClr val="FFFFFF"/>
              </a:solidFill>
              <a:latin typeface="+mj-ea"/>
              <a:ea typeface="+mj-ea"/>
            </a:endParaRPr>
          </a:p>
        </p:txBody>
      </p:sp>
      <p:sp>
        <p:nvSpPr>
          <p:cNvPr id="9" name="Rectangle 10004">
            <a:extLst>
              <a:ext uri="{FF2B5EF4-FFF2-40B4-BE49-F238E27FC236}">
                <a16:creationId xmlns:a16="http://schemas.microsoft.com/office/drawing/2014/main" id="{9C6402C8-7B37-FB49-5CA3-FBDC7B763CAC}"/>
              </a:ext>
            </a:extLst>
          </p:cNvPr>
          <p:cNvSpPr/>
          <p:nvPr/>
        </p:nvSpPr>
        <p:spPr>
          <a:xfrm>
            <a:off x="4704465" y="3432323"/>
            <a:ext cx="1900193" cy="600368"/>
          </a:xfrm>
          <a:prstGeom prst="rect">
            <a:avLst/>
          </a:prstGeom>
          <a:solidFill>
            <a:srgbClr val="005096"/>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099">
                <a:solidFill>
                  <a:srgbClr val="FFFFFF"/>
                </a:solidFill>
                <a:latin typeface="+mj-ea"/>
                <a:ea typeface="+mj-ea"/>
              </a:rPr>
              <a:t>③ 采集 Trace</a:t>
            </a:r>
          </a:p>
          <a:p>
            <a:pPr algn="ctr">
              <a:lnSpc>
                <a:spcPct val="105000"/>
              </a:lnSpc>
            </a:pPr>
            <a:r>
              <a:rPr sz="1099">
                <a:solidFill>
                  <a:srgbClr val="FFFFFF"/>
                </a:solidFill>
                <a:latin typeface="+mj-ea"/>
                <a:ea typeface="+mj-ea"/>
              </a:rPr>
              <a:t>+ LLM 评测</a:t>
            </a:r>
          </a:p>
        </p:txBody>
      </p:sp>
      <p:sp>
        <p:nvSpPr>
          <p:cNvPr id="10" name="Rectangle 10006">
            <a:extLst>
              <a:ext uri="{FF2B5EF4-FFF2-40B4-BE49-F238E27FC236}">
                <a16:creationId xmlns:a16="http://schemas.microsoft.com/office/drawing/2014/main" id="{3CBCAF91-7D95-9639-77D6-958FF28E50D9}"/>
              </a:ext>
            </a:extLst>
          </p:cNvPr>
          <p:cNvSpPr/>
          <p:nvPr/>
        </p:nvSpPr>
        <p:spPr>
          <a:xfrm>
            <a:off x="6869588" y="3432323"/>
            <a:ext cx="1900193" cy="600368"/>
          </a:xfrm>
          <a:prstGeom prst="rect">
            <a:avLst/>
          </a:prstGeom>
          <a:solidFill>
            <a:srgbClr val="1EB9E1"/>
          </a:solidFill>
          <a:ln>
            <a:noFill/>
          </a:ln>
          <a:effectLst/>
        </p:spPr>
        <p:style>
          <a:lnRef idx="1">
            <a:schemeClr val="accent1"/>
          </a:lnRef>
          <a:fillRef idx="3">
            <a:schemeClr val="accent1"/>
          </a:fillRef>
          <a:effectRef idx="2">
            <a:schemeClr val="accent1"/>
          </a:effectRef>
          <a:fontRef idx="minor">
            <a:schemeClr val="lt1"/>
          </a:fontRef>
        </p:style>
        <p:txBody>
          <a:bodyPr wrap="square" lIns="35967" tIns="17983" rIns="35967" bIns="17983" rtlCol="0" anchor="ctr"/>
          <a:lstStyle/>
          <a:p>
            <a:pPr algn="ctr">
              <a:lnSpc>
                <a:spcPct val="105000"/>
              </a:lnSpc>
            </a:pPr>
            <a:r>
              <a:rPr sz="1099" dirty="0">
                <a:solidFill>
                  <a:srgbClr val="FFFFFF"/>
                </a:solidFill>
                <a:latin typeface="+mj-ea"/>
                <a:ea typeface="+mj-ea"/>
              </a:rPr>
              <a:t>④ </a:t>
            </a:r>
            <a:r>
              <a:rPr sz="1099" dirty="0" err="1">
                <a:solidFill>
                  <a:srgbClr val="FFFFFF"/>
                </a:solidFill>
                <a:latin typeface="+mj-ea"/>
                <a:ea typeface="+mj-ea"/>
              </a:rPr>
              <a:t>自进化</a:t>
            </a:r>
            <a:endParaRPr sz="1099" dirty="0">
              <a:solidFill>
                <a:srgbClr val="FFFFFF"/>
              </a:solidFill>
              <a:latin typeface="+mj-ea"/>
              <a:ea typeface="+mj-ea"/>
            </a:endParaRPr>
          </a:p>
          <a:p>
            <a:pPr algn="ctr">
              <a:lnSpc>
                <a:spcPct val="105000"/>
              </a:lnSpc>
            </a:pPr>
            <a:r>
              <a:rPr sz="1099" dirty="0" err="1">
                <a:solidFill>
                  <a:srgbClr val="FFFFFF"/>
                </a:solidFill>
                <a:latin typeface="+mj-ea"/>
                <a:ea typeface="+mj-ea"/>
              </a:rPr>
              <a:t>改进已有</a:t>
            </a:r>
            <a:r>
              <a:rPr sz="1099" dirty="0">
                <a:solidFill>
                  <a:srgbClr val="FFFFFF"/>
                </a:solidFill>
                <a:latin typeface="+mj-ea"/>
                <a:ea typeface="+mj-ea"/>
              </a:rPr>
              <a:t> · </a:t>
            </a:r>
            <a:r>
              <a:rPr lang="zh-CN" altLang="en-US" sz="1099" dirty="0">
                <a:solidFill>
                  <a:srgbClr val="FFFFFF"/>
                </a:solidFill>
                <a:latin typeface="+mj-ea"/>
                <a:ea typeface="+mj-ea"/>
              </a:rPr>
              <a:t>生成</a:t>
            </a:r>
            <a:r>
              <a:rPr sz="1099" dirty="0">
                <a:solidFill>
                  <a:srgbClr val="FFFFFF"/>
                </a:solidFill>
                <a:latin typeface="+mj-ea"/>
                <a:ea typeface="+mj-ea"/>
              </a:rPr>
              <a:t>新</a:t>
            </a:r>
            <a:r>
              <a:rPr lang="zh-CN" altLang="en-US" sz="1099" dirty="0">
                <a:solidFill>
                  <a:srgbClr val="FFFFFF"/>
                </a:solidFill>
                <a:latin typeface="+mj-ea"/>
                <a:ea typeface="+mj-ea"/>
              </a:rPr>
              <a:t>的</a:t>
            </a:r>
            <a:endParaRPr sz="1099" dirty="0">
              <a:solidFill>
                <a:srgbClr val="FFFFFF"/>
              </a:solidFill>
              <a:latin typeface="+mj-ea"/>
              <a:ea typeface="+mj-ea"/>
            </a:endParaRPr>
          </a:p>
        </p:txBody>
      </p:sp>
      <p:cxnSp>
        <p:nvCxnSpPr>
          <p:cNvPr id="11" name="直接箭头连接符 2">
            <a:extLst>
              <a:ext uri="{FF2B5EF4-FFF2-40B4-BE49-F238E27FC236}">
                <a16:creationId xmlns:a16="http://schemas.microsoft.com/office/drawing/2014/main" id="{DBA1E836-1502-B860-1015-9349920E7327}"/>
              </a:ext>
            </a:extLst>
          </p:cNvPr>
          <p:cNvCxnSpPr>
            <a:cxnSpLocks/>
            <a:stCxn id="3" idx="3"/>
            <a:endCxn id="8" idx="1"/>
          </p:cNvCxnSpPr>
          <p:nvPr/>
        </p:nvCxnSpPr>
        <p:spPr bwMode="auto">
          <a:xfrm>
            <a:off x="2274412" y="3732507"/>
            <a:ext cx="264930"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2" name="直接箭头连接符 4">
            <a:extLst>
              <a:ext uri="{FF2B5EF4-FFF2-40B4-BE49-F238E27FC236}">
                <a16:creationId xmlns:a16="http://schemas.microsoft.com/office/drawing/2014/main" id="{87AEDD2E-100C-9F0E-57BA-8017F26160C0}"/>
              </a:ext>
            </a:extLst>
          </p:cNvPr>
          <p:cNvCxnSpPr>
            <a:cxnSpLocks/>
            <a:stCxn id="8" idx="3"/>
            <a:endCxn id="9" idx="1"/>
          </p:cNvCxnSpPr>
          <p:nvPr/>
        </p:nvCxnSpPr>
        <p:spPr bwMode="auto">
          <a:xfrm>
            <a:off x="4439535" y="3732507"/>
            <a:ext cx="264930"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3" name="直接箭头连接符 5">
            <a:extLst>
              <a:ext uri="{FF2B5EF4-FFF2-40B4-BE49-F238E27FC236}">
                <a16:creationId xmlns:a16="http://schemas.microsoft.com/office/drawing/2014/main" id="{C28AC88F-265C-8A33-69A6-726768A3A77B}"/>
              </a:ext>
            </a:extLst>
          </p:cNvPr>
          <p:cNvCxnSpPr>
            <a:cxnSpLocks/>
            <a:stCxn id="9" idx="3"/>
            <a:endCxn id="10" idx="1"/>
          </p:cNvCxnSpPr>
          <p:nvPr/>
        </p:nvCxnSpPr>
        <p:spPr bwMode="auto">
          <a:xfrm>
            <a:off x="6604658" y="3732507"/>
            <a:ext cx="264930" cy="0"/>
          </a:xfrm>
          <a:prstGeom prst="straightConnector1">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 name="连接符: 肘形 14">
            <a:extLst>
              <a:ext uri="{FF2B5EF4-FFF2-40B4-BE49-F238E27FC236}">
                <a16:creationId xmlns:a16="http://schemas.microsoft.com/office/drawing/2014/main" id="{20991FEE-251E-FDC3-865B-B0EC5F55D796}"/>
              </a:ext>
            </a:extLst>
          </p:cNvPr>
          <p:cNvCxnSpPr>
            <a:cxnSpLocks/>
            <a:stCxn id="10" idx="2"/>
            <a:endCxn id="3" idx="2"/>
          </p:cNvCxnSpPr>
          <p:nvPr/>
        </p:nvCxnSpPr>
        <p:spPr bwMode="auto">
          <a:xfrm rot="5400000">
            <a:off x="4572001" y="785007"/>
            <a:ext cx="12700" cy="6495369"/>
          </a:xfrm>
          <a:prstGeom prst="bentConnector3">
            <a:avLst>
              <a:gd name="adj1" fmla="val 1800000"/>
            </a:avLst>
          </a:prstGeom>
          <a:ln w="3810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5" name="文本框 14">
            <a:extLst>
              <a:ext uri="{FF2B5EF4-FFF2-40B4-BE49-F238E27FC236}">
                <a16:creationId xmlns:a16="http://schemas.microsoft.com/office/drawing/2014/main" id="{9D551CF3-D9E5-767A-85EA-26A9A32FE92C}"/>
              </a:ext>
            </a:extLst>
          </p:cNvPr>
          <p:cNvSpPr txBox="1"/>
          <p:nvPr/>
        </p:nvSpPr>
        <p:spPr>
          <a:xfrm>
            <a:off x="1903821" y="4332875"/>
            <a:ext cx="5336358" cy="261368"/>
          </a:xfrm>
          <a:prstGeom prst="rect">
            <a:avLst/>
          </a:prstGeom>
          <a:noFill/>
        </p:spPr>
        <p:txBody>
          <a:bodyPr wrap="square">
            <a:spAutoFit/>
          </a:bodyPr>
          <a:lstStyle/>
          <a:p>
            <a:pPr algn="ctr"/>
            <a:r>
              <a:rPr lang="zh-CN" altLang="en-US" sz="1099" b="1" dirty="0">
                <a:solidFill>
                  <a:srgbClr val="005096"/>
                </a:solidFill>
                <a:latin typeface="Arial"/>
                <a:ea typeface="华文黑体_易方达"/>
              </a:rPr>
              <a:t> 持续闭环：④ 的优化结果回流到 ①，生产反馈自动转成 </a:t>
            </a:r>
            <a:r>
              <a:rPr lang="en-US" altLang="zh-CN" sz="1099" b="1" dirty="0">
                <a:solidFill>
                  <a:srgbClr val="005096"/>
                </a:solidFill>
                <a:latin typeface="Arial"/>
                <a:ea typeface="华文黑体_易方达"/>
              </a:rPr>
              <a:t>Skill </a:t>
            </a:r>
            <a:r>
              <a:rPr lang="zh-CN" altLang="en-US" sz="1099" b="1" dirty="0">
                <a:solidFill>
                  <a:srgbClr val="005096"/>
                </a:solidFill>
                <a:latin typeface="Arial"/>
                <a:ea typeface="华文黑体_易方达"/>
              </a:rPr>
              <a:t>改进，无需人工重写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9" name="TitleInjected"/>
          <p:cNvSpPr>
            <a:spLocks noGrp="1"/>
          </p:cNvSpPr>
          <p:nvPr>
            <p:ph type="title"/>
          </p:nvPr>
        </p:nvSpPr>
        <p:spPr>
          <a:xfrm>
            <a:off x="327780" y="210943"/>
            <a:ext cx="8374621" cy="268039"/>
          </a:xfrm>
          <a:noFill/>
          <a:ln>
            <a:noFill/>
          </a:ln>
        </p:spPr>
        <p:txBody>
          <a:bodyPr vert="horz" wrap="square" lIns="0" tIns="0" rIns="0" bIns="45678" numCol="1" anchor="t" anchorCtr="0" compatLnSpc="1"/>
          <a:lstStyle/>
          <a:p>
            <a:r>
              <a:rPr lang="zh-CN" altLang="en-US" sz="2298" b="1" dirty="0">
                <a:solidFill>
                  <a:srgbClr val="FFFFFF"/>
                </a:solidFill>
                <a:latin typeface="+mj-ea"/>
                <a:ea typeface="+mj-ea"/>
              </a:rPr>
              <a:t>以指数</a:t>
            </a:r>
            <a:r>
              <a:rPr lang="en-US" altLang="zh-CN" sz="2298" b="1" dirty="0">
                <a:solidFill>
                  <a:srgbClr val="FFFFFF"/>
                </a:solidFill>
                <a:latin typeface="+mj-ea"/>
                <a:ea typeface="+mj-ea"/>
              </a:rPr>
              <a:t>Skill</a:t>
            </a:r>
            <a:r>
              <a:rPr lang="zh-CN" altLang="en-US" sz="2298" b="1" dirty="0">
                <a:solidFill>
                  <a:srgbClr val="FFFFFF"/>
                </a:solidFill>
                <a:latin typeface="+mj-ea"/>
                <a:ea typeface="+mj-ea"/>
              </a:rPr>
              <a:t>为例：</a:t>
            </a:r>
            <a:r>
              <a:rPr lang="zh-CN" altLang="en-US" sz="2300" b="1">
                <a:solidFill>
                  <a:srgbClr val="FFFFFF"/>
                </a:solidFill>
                <a:latin typeface="+mj-ea"/>
                <a:ea typeface="+mj-ea"/>
              </a:rPr>
              <a:t>指数直通车</a:t>
            </a:r>
            <a:r>
              <a:rPr lang="en" altLang="zh-CN" sz="2300" b="1">
                <a:solidFill>
                  <a:srgbClr val="FFFFFF"/>
                </a:solidFill>
                <a:latin typeface="+mj-ea"/>
                <a:ea typeface="+mj-ea"/>
              </a:rPr>
              <a:t>AI Skills</a:t>
            </a:r>
            <a:endParaRPr sz="2298" b="1" dirty="0">
              <a:solidFill>
                <a:srgbClr val="FFFFFF"/>
              </a:solidFill>
              <a:latin typeface="+mj-ea"/>
              <a:ea typeface="+mj-ea"/>
            </a:endParaRPr>
          </a:p>
        </p:txBody>
      </p:sp>
      <p:sp>
        <p:nvSpPr>
          <p:cNvPr id="2" name="TextBox 9999">
            <a:extLst>
              <a:ext uri="{FF2B5EF4-FFF2-40B4-BE49-F238E27FC236}">
                <a16:creationId xmlns:a16="http://schemas.microsoft.com/office/drawing/2014/main" id="{D2FBE9C9-1F08-A0E1-F671-8D784C8F7BEE}"/>
              </a:ext>
            </a:extLst>
          </p:cNvPr>
          <p:cNvSpPr txBox="1"/>
          <p:nvPr/>
        </p:nvSpPr>
        <p:spPr>
          <a:xfrm>
            <a:off x="451038" y="964109"/>
            <a:ext cx="8459497" cy="457200"/>
          </a:xfrm>
          <a:prstGeom prst="rect">
            <a:avLst/>
          </a:prstGeom>
          <a:noFill/>
        </p:spPr>
        <p:txBody>
          <a:bodyPr wrap="square" lIns="45720" tIns="18288" rIns="45720" bIns="18288">
            <a:noAutofit/>
          </a:bodyPr>
          <a:lstStyle/>
          <a:p>
            <a:pPr algn="l">
              <a:lnSpc>
                <a:spcPct val="150000"/>
              </a:lnSpc>
            </a:pPr>
            <a:r>
              <a:rPr sz="1200">
                <a:solidFill>
                  <a:srgbClr val="005096"/>
                </a:solidFill>
                <a:latin typeface="+mj-ea"/>
                <a:ea typeface="+mj-ea"/>
              </a:rPr>
              <a:t>把指数基金数据能力封装成标准化 Skill，嵌入用户常用 AI 智能体，推动专业服务从“应用内查询”走向“Agent 可调用”</a:t>
            </a:r>
          </a:p>
        </p:txBody>
      </p:sp>
      <p:sp>
        <p:nvSpPr>
          <p:cNvPr id="4" name="Rectangle 10000">
            <a:extLst>
              <a:ext uri="{FF2B5EF4-FFF2-40B4-BE49-F238E27FC236}">
                <a16:creationId xmlns:a16="http://schemas.microsoft.com/office/drawing/2014/main" id="{EEF54282-3754-6D05-04DE-25C8A0B7C166}"/>
              </a:ext>
            </a:extLst>
          </p:cNvPr>
          <p:cNvSpPr/>
          <p:nvPr/>
        </p:nvSpPr>
        <p:spPr>
          <a:xfrm>
            <a:off x="502920" y="1368552"/>
            <a:ext cx="2514600" cy="1364985"/>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7" name="Rectangle 10001">
            <a:extLst>
              <a:ext uri="{FF2B5EF4-FFF2-40B4-BE49-F238E27FC236}">
                <a16:creationId xmlns:a16="http://schemas.microsoft.com/office/drawing/2014/main" id="{2AAE876E-E0C1-840E-CB9B-8A9F73441B7D}"/>
              </a:ext>
            </a:extLst>
          </p:cNvPr>
          <p:cNvSpPr/>
          <p:nvPr/>
        </p:nvSpPr>
        <p:spPr>
          <a:xfrm>
            <a:off x="502920" y="1368552"/>
            <a:ext cx="2514600" cy="64008"/>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8" name="TextBox 10002">
            <a:extLst>
              <a:ext uri="{FF2B5EF4-FFF2-40B4-BE49-F238E27FC236}">
                <a16:creationId xmlns:a16="http://schemas.microsoft.com/office/drawing/2014/main" id="{91523631-FECE-8CD9-BA7B-4D3E1C0FCACD}"/>
              </a:ext>
            </a:extLst>
          </p:cNvPr>
          <p:cNvSpPr txBox="1"/>
          <p:nvPr/>
        </p:nvSpPr>
        <p:spPr>
          <a:xfrm>
            <a:off x="612648" y="1569720"/>
            <a:ext cx="2295144" cy="320040"/>
          </a:xfrm>
          <a:prstGeom prst="rect">
            <a:avLst/>
          </a:prstGeom>
          <a:noFill/>
        </p:spPr>
        <p:txBody>
          <a:bodyPr wrap="square" lIns="45720" tIns="18288" rIns="45720" bIns="18288">
            <a:normAutofit/>
          </a:bodyPr>
          <a:lstStyle/>
          <a:p>
            <a:pPr algn="l"/>
            <a:r>
              <a:rPr sz="1300" b="1">
                <a:solidFill>
                  <a:srgbClr val="005096"/>
                </a:solidFill>
                <a:latin typeface="+mj-ea"/>
                <a:ea typeface="+mj-ea"/>
              </a:rPr>
              <a:t>能力封装</a:t>
            </a:r>
          </a:p>
        </p:txBody>
      </p:sp>
      <p:sp>
        <p:nvSpPr>
          <p:cNvPr id="9" name="TextBox 10003">
            <a:extLst>
              <a:ext uri="{FF2B5EF4-FFF2-40B4-BE49-F238E27FC236}">
                <a16:creationId xmlns:a16="http://schemas.microsoft.com/office/drawing/2014/main" id="{FD2AD572-6F62-61FE-605F-9E34B1F4BE6F}"/>
              </a:ext>
            </a:extLst>
          </p:cNvPr>
          <p:cNvSpPr txBox="1"/>
          <p:nvPr/>
        </p:nvSpPr>
        <p:spPr>
          <a:xfrm>
            <a:off x="612647" y="1885188"/>
            <a:ext cx="2344561" cy="795527"/>
          </a:xfrm>
          <a:prstGeom prst="rect">
            <a:avLst/>
          </a:prstGeom>
          <a:noFill/>
        </p:spPr>
        <p:txBody>
          <a:bodyPr wrap="square" lIns="45720" tIns="18288" rIns="45720" bIns="18288">
            <a:normAutofit/>
          </a:bodyPr>
          <a:lstStyle/>
          <a:p>
            <a:pPr algn="just">
              <a:lnSpc>
                <a:spcPct val="150000"/>
              </a:lnSpc>
            </a:pPr>
            <a:r>
              <a:rPr sz="1000" b="0">
                <a:solidFill>
                  <a:schemeClr val="accent4"/>
                </a:solidFill>
                <a:latin typeface="+mj-ea"/>
                <a:ea typeface="+mj-ea"/>
              </a:rPr>
              <a:t>将指数直通车的数据查询能力封装为AI Skills，以标准化方式开放给智能体调用</a:t>
            </a:r>
          </a:p>
        </p:txBody>
      </p:sp>
      <p:sp>
        <p:nvSpPr>
          <p:cNvPr id="10" name="Rectangle 10004">
            <a:extLst>
              <a:ext uri="{FF2B5EF4-FFF2-40B4-BE49-F238E27FC236}">
                <a16:creationId xmlns:a16="http://schemas.microsoft.com/office/drawing/2014/main" id="{02637DCE-43CE-BF39-A041-D82B68373052}"/>
              </a:ext>
            </a:extLst>
          </p:cNvPr>
          <p:cNvSpPr/>
          <p:nvPr/>
        </p:nvSpPr>
        <p:spPr>
          <a:xfrm>
            <a:off x="3310128" y="1368552"/>
            <a:ext cx="2514600" cy="1364985"/>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11" name="Rectangle 10005">
            <a:extLst>
              <a:ext uri="{FF2B5EF4-FFF2-40B4-BE49-F238E27FC236}">
                <a16:creationId xmlns:a16="http://schemas.microsoft.com/office/drawing/2014/main" id="{09ED10DB-F99F-BDA7-11D4-2B275E5D8A1A}"/>
              </a:ext>
            </a:extLst>
          </p:cNvPr>
          <p:cNvSpPr/>
          <p:nvPr/>
        </p:nvSpPr>
        <p:spPr>
          <a:xfrm>
            <a:off x="3310128" y="1368552"/>
            <a:ext cx="2514600" cy="64008"/>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12" name="TextBox 10006">
            <a:extLst>
              <a:ext uri="{FF2B5EF4-FFF2-40B4-BE49-F238E27FC236}">
                <a16:creationId xmlns:a16="http://schemas.microsoft.com/office/drawing/2014/main" id="{CD85DF8D-B780-BA9A-D9CA-BD84BDF37D01}"/>
              </a:ext>
            </a:extLst>
          </p:cNvPr>
          <p:cNvSpPr txBox="1"/>
          <p:nvPr/>
        </p:nvSpPr>
        <p:spPr>
          <a:xfrm>
            <a:off x="3419856" y="1569720"/>
            <a:ext cx="2295144" cy="320040"/>
          </a:xfrm>
          <a:prstGeom prst="rect">
            <a:avLst/>
          </a:prstGeom>
          <a:noFill/>
        </p:spPr>
        <p:txBody>
          <a:bodyPr wrap="square" lIns="45720" tIns="18288" rIns="45720" bIns="18288">
            <a:normAutofit/>
          </a:bodyPr>
          <a:lstStyle/>
          <a:p>
            <a:pPr algn="l"/>
            <a:r>
              <a:rPr sz="1300" b="1">
                <a:solidFill>
                  <a:srgbClr val="005096"/>
                </a:solidFill>
                <a:latin typeface="+mj-ea"/>
                <a:ea typeface="+mj-ea"/>
              </a:rPr>
              <a:t>专业查询</a:t>
            </a:r>
          </a:p>
        </p:txBody>
      </p:sp>
      <p:sp>
        <p:nvSpPr>
          <p:cNvPr id="13" name="TextBox 10007">
            <a:extLst>
              <a:ext uri="{FF2B5EF4-FFF2-40B4-BE49-F238E27FC236}">
                <a16:creationId xmlns:a16="http://schemas.microsoft.com/office/drawing/2014/main" id="{0D657605-0444-FD73-3FA7-BB420538A69C}"/>
              </a:ext>
            </a:extLst>
          </p:cNvPr>
          <p:cNvSpPr txBox="1"/>
          <p:nvPr/>
        </p:nvSpPr>
        <p:spPr>
          <a:xfrm>
            <a:off x="3419855" y="1885188"/>
            <a:ext cx="2351889" cy="795527"/>
          </a:xfrm>
          <a:prstGeom prst="rect">
            <a:avLst/>
          </a:prstGeom>
          <a:noFill/>
        </p:spPr>
        <p:txBody>
          <a:bodyPr wrap="square" lIns="45720" tIns="18288" rIns="45720" bIns="18288">
            <a:normAutofit/>
          </a:bodyPr>
          <a:lstStyle/>
          <a:p>
            <a:pPr algn="just">
              <a:lnSpc>
                <a:spcPct val="150000"/>
              </a:lnSpc>
            </a:pPr>
            <a:r>
              <a:rPr sz="1000" b="0">
                <a:solidFill>
                  <a:schemeClr val="accent4"/>
                </a:solidFill>
                <a:latin typeface="+mj-ea"/>
                <a:ea typeface="+mj-ea"/>
              </a:rPr>
              <a:t>ETF查询支持基金经理、规模、重仓股、区间收益、历史分红，并支持股票反查ETF</a:t>
            </a:r>
          </a:p>
        </p:txBody>
      </p:sp>
      <p:sp>
        <p:nvSpPr>
          <p:cNvPr id="14" name="Rectangle 10008">
            <a:extLst>
              <a:ext uri="{FF2B5EF4-FFF2-40B4-BE49-F238E27FC236}">
                <a16:creationId xmlns:a16="http://schemas.microsoft.com/office/drawing/2014/main" id="{AB1AC2FF-F24E-8384-592C-B64342EFA2EB}"/>
              </a:ext>
            </a:extLst>
          </p:cNvPr>
          <p:cNvSpPr/>
          <p:nvPr/>
        </p:nvSpPr>
        <p:spPr>
          <a:xfrm>
            <a:off x="6117336" y="1368552"/>
            <a:ext cx="2514600" cy="1364985"/>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16" name="Rectangle 10009">
            <a:extLst>
              <a:ext uri="{FF2B5EF4-FFF2-40B4-BE49-F238E27FC236}">
                <a16:creationId xmlns:a16="http://schemas.microsoft.com/office/drawing/2014/main" id="{0C5113E6-B1A8-81F7-3EF8-98FD37318701}"/>
              </a:ext>
            </a:extLst>
          </p:cNvPr>
          <p:cNvSpPr/>
          <p:nvPr/>
        </p:nvSpPr>
        <p:spPr>
          <a:xfrm>
            <a:off x="6117336" y="1368552"/>
            <a:ext cx="2514600" cy="6400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18" name="TextBox 10010">
            <a:extLst>
              <a:ext uri="{FF2B5EF4-FFF2-40B4-BE49-F238E27FC236}">
                <a16:creationId xmlns:a16="http://schemas.microsoft.com/office/drawing/2014/main" id="{9E54D4CC-A75C-7205-06C0-79004D267F2A}"/>
              </a:ext>
            </a:extLst>
          </p:cNvPr>
          <p:cNvSpPr txBox="1"/>
          <p:nvPr/>
        </p:nvSpPr>
        <p:spPr>
          <a:xfrm>
            <a:off x="6227064" y="1569720"/>
            <a:ext cx="2295144" cy="320040"/>
          </a:xfrm>
          <a:prstGeom prst="rect">
            <a:avLst/>
          </a:prstGeom>
          <a:noFill/>
        </p:spPr>
        <p:txBody>
          <a:bodyPr wrap="square" lIns="45720" tIns="18288" rIns="45720" bIns="18288">
            <a:normAutofit/>
          </a:bodyPr>
          <a:lstStyle/>
          <a:p>
            <a:pPr algn="l"/>
            <a:r>
              <a:rPr sz="1300" b="1">
                <a:solidFill>
                  <a:srgbClr val="005096"/>
                </a:solidFill>
                <a:latin typeface="+mj-ea"/>
                <a:ea typeface="+mj-ea"/>
              </a:rPr>
              <a:t>生态接入</a:t>
            </a:r>
          </a:p>
        </p:txBody>
      </p:sp>
      <p:sp>
        <p:nvSpPr>
          <p:cNvPr id="19" name="TextBox 10011">
            <a:extLst>
              <a:ext uri="{FF2B5EF4-FFF2-40B4-BE49-F238E27FC236}">
                <a16:creationId xmlns:a16="http://schemas.microsoft.com/office/drawing/2014/main" id="{21F1CCC5-FD59-5789-23EE-71C2A1E43BD0}"/>
              </a:ext>
            </a:extLst>
          </p:cNvPr>
          <p:cNvSpPr txBox="1"/>
          <p:nvPr/>
        </p:nvSpPr>
        <p:spPr>
          <a:xfrm>
            <a:off x="6227064" y="1885188"/>
            <a:ext cx="2295144" cy="795527"/>
          </a:xfrm>
          <a:prstGeom prst="rect">
            <a:avLst/>
          </a:prstGeom>
          <a:noFill/>
        </p:spPr>
        <p:txBody>
          <a:bodyPr wrap="square" lIns="45720" tIns="18288" rIns="45720" bIns="18288">
            <a:normAutofit/>
          </a:bodyPr>
          <a:lstStyle/>
          <a:p>
            <a:pPr algn="just">
              <a:lnSpc>
                <a:spcPct val="150000"/>
              </a:lnSpc>
            </a:pPr>
            <a:r>
              <a:rPr sz="1000" b="0">
                <a:solidFill>
                  <a:schemeClr val="accent4"/>
                </a:solidFill>
                <a:latin typeface="+mj-ea"/>
                <a:ea typeface="+mj-ea"/>
              </a:rPr>
              <a:t>已对接 OpenClaw、Hermes Agent、ArkClaw、Workbuddy 等主流智能体</a:t>
            </a:r>
          </a:p>
        </p:txBody>
      </p:sp>
      <p:sp>
        <p:nvSpPr>
          <p:cNvPr id="20" name="TextBox 10012">
            <a:extLst>
              <a:ext uri="{FF2B5EF4-FFF2-40B4-BE49-F238E27FC236}">
                <a16:creationId xmlns:a16="http://schemas.microsoft.com/office/drawing/2014/main" id="{66A919E3-9ADA-198E-F813-A6C9AB40BB1B}"/>
              </a:ext>
            </a:extLst>
          </p:cNvPr>
          <p:cNvSpPr txBox="1"/>
          <p:nvPr/>
        </p:nvSpPr>
        <p:spPr>
          <a:xfrm>
            <a:off x="612647" y="2862137"/>
            <a:ext cx="1417320" cy="292608"/>
          </a:xfrm>
          <a:prstGeom prst="rect">
            <a:avLst/>
          </a:prstGeom>
          <a:noFill/>
        </p:spPr>
        <p:txBody>
          <a:bodyPr wrap="square" lIns="45720" tIns="18288" rIns="45720" bIns="18288">
            <a:normAutofit/>
          </a:bodyPr>
          <a:lstStyle/>
          <a:p>
            <a:pPr algn="ctr"/>
            <a:r>
              <a:rPr sz="1200" b="1">
                <a:solidFill>
                  <a:srgbClr val="005096"/>
                </a:solidFill>
                <a:latin typeface="+mj-ea"/>
                <a:ea typeface="+mj-ea"/>
              </a:rPr>
              <a:t>数据服务</a:t>
            </a:r>
          </a:p>
        </p:txBody>
      </p:sp>
      <p:sp>
        <p:nvSpPr>
          <p:cNvPr id="21" name="TextBox 10013">
            <a:extLst>
              <a:ext uri="{FF2B5EF4-FFF2-40B4-BE49-F238E27FC236}">
                <a16:creationId xmlns:a16="http://schemas.microsoft.com/office/drawing/2014/main" id="{57DAD66B-E83E-1091-D681-18EDEF8A1FF3}"/>
              </a:ext>
            </a:extLst>
          </p:cNvPr>
          <p:cNvSpPr txBox="1"/>
          <p:nvPr/>
        </p:nvSpPr>
        <p:spPr>
          <a:xfrm>
            <a:off x="2747466" y="2862137"/>
            <a:ext cx="1417320" cy="292608"/>
          </a:xfrm>
          <a:prstGeom prst="rect">
            <a:avLst/>
          </a:prstGeom>
          <a:noFill/>
        </p:spPr>
        <p:txBody>
          <a:bodyPr wrap="square" lIns="45720" tIns="18288" rIns="45720" bIns="18288">
            <a:normAutofit/>
          </a:bodyPr>
          <a:lstStyle/>
          <a:p>
            <a:pPr algn="ctr"/>
            <a:r>
              <a:rPr sz="1200" b="1">
                <a:solidFill>
                  <a:srgbClr val="005096"/>
                </a:solidFill>
                <a:latin typeface="+mj-ea"/>
                <a:ea typeface="+mj-ea"/>
              </a:rPr>
              <a:t>Skill 封装</a:t>
            </a:r>
          </a:p>
        </p:txBody>
      </p:sp>
      <p:sp>
        <p:nvSpPr>
          <p:cNvPr id="22" name="TextBox 10014">
            <a:extLst>
              <a:ext uri="{FF2B5EF4-FFF2-40B4-BE49-F238E27FC236}">
                <a16:creationId xmlns:a16="http://schemas.microsoft.com/office/drawing/2014/main" id="{C2F94B76-A88F-D19F-80BD-4CE706E90D7D}"/>
              </a:ext>
            </a:extLst>
          </p:cNvPr>
          <p:cNvSpPr txBox="1"/>
          <p:nvPr/>
        </p:nvSpPr>
        <p:spPr>
          <a:xfrm>
            <a:off x="4914900" y="2862137"/>
            <a:ext cx="1417320" cy="292608"/>
          </a:xfrm>
          <a:prstGeom prst="rect">
            <a:avLst/>
          </a:prstGeom>
          <a:noFill/>
        </p:spPr>
        <p:txBody>
          <a:bodyPr wrap="square" lIns="45720" tIns="18288" rIns="45720" bIns="18288">
            <a:normAutofit/>
          </a:bodyPr>
          <a:lstStyle/>
          <a:p>
            <a:pPr algn="ctr"/>
            <a:r>
              <a:rPr sz="1200" b="1">
                <a:solidFill>
                  <a:srgbClr val="005096"/>
                </a:solidFill>
                <a:latin typeface="+mj-ea"/>
                <a:ea typeface="+mj-ea"/>
              </a:rPr>
              <a:t>Agent 调用</a:t>
            </a:r>
          </a:p>
        </p:txBody>
      </p:sp>
      <p:sp>
        <p:nvSpPr>
          <p:cNvPr id="23" name="TextBox 10015">
            <a:extLst>
              <a:ext uri="{FF2B5EF4-FFF2-40B4-BE49-F238E27FC236}">
                <a16:creationId xmlns:a16="http://schemas.microsoft.com/office/drawing/2014/main" id="{E4CCABE0-EBD7-C623-4B04-C0C936DF55C1}"/>
              </a:ext>
            </a:extLst>
          </p:cNvPr>
          <p:cNvSpPr txBox="1"/>
          <p:nvPr/>
        </p:nvSpPr>
        <p:spPr>
          <a:xfrm>
            <a:off x="7000348" y="2862137"/>
            <a:ext cx="1645920" cy="292608"/>
          </a:xfrm>
          <a:prstGeom prst="rect">
            <a:avLst/>
          </a:prstGeom>
          <a:noFill/>
        </p:spPr>
        <p:txBody>
          <a:bodyPr wrap="square" lIns="45720" tIns="18288" rIns="45720" bIns="18288">
            <a:normAutofit/>
          </a:bodyPr>
          <a:lstStyle/>
          <a:p>
            <a:pPr algn="ctr"/>
            <a:r>
              <a:rPr sz="1200" b="1">
                <a:solidFill>
                  <a:srgbClr val="005096"/>
                </a:solidFill>
                <a:latin typeface="+mj-ea"/>
                <a:ea typeface="+mj-ea"/>
              </a:rPr>
              <a:t>用户问答</a:t>
            </a:r>
          </a:p>
        </p:txBody>
      </p:sp>
      <p:sp>
        <p:nvSpPr>
          <p:cNvPr id="24" name="Rounded Rectangle 10016">
            <a:extLst>
              <a:ext uri="{FF2B5EF4-FFF2-40B4-BE49-F238E27FC236}">
                <a16:creationId xmlns:a16="http://schemas.microsoft.com/office/drawing/2014/main" id="{46A7747E-8101-40FB-A075-5670FCC7AC8E}"/>
              </a:ext>
            </a:extLst>
          </p:cNvPr>
          <p:cNvSpPr/>
          <p:nvPr/>
        </p:nvSpPr>
        <p:spPr>
          <a:xfrm>
            <a:off x="521207"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a:solidFill>
                  <a:srgbClr val="005096"/>
                </a:solidFill>
                <a:latin typeface="+mj-ea"/>
                <a:ea typeface="+mj-ea"/>
              </a:rPr>
              <a:t>指数直通车
基金数据</a:t>
            </a:r>
          </a:p>
        </p:txBody>
      </p:sp>
      <p:sp>
        <p:nvSpPr>
          <p:cNvPr id="25" name="Rounded Rectangle 10017">
            <a:extLst>
              <a:ext uri="{FF2B5EF4-FFF2-40B4-BE49-F238E27FC236}">
                <a16:creationId xmlns:a16="http://schemas.microsoft.com/office/drawing/2014/main" id="{2357CDEC-4FA7-BE14-AC43-4B6FA6A4EFB7}"/>
              </a:ext>
            </a:extLst>
          </p:cNvPr>
          <p:cNvSpPr/>
          <p:nvPr/>
        </p:nvSpPr>
        <p:spPr>
          <a:xfrm>
            <a:off x="2656026"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a:solidFill>
                  <a:srgbClr val="005096"/>
                </a:solidFill>
                <a:latin typeface="+mj-ea"/>
                <a:ea typeface="+mj-ea"/>
              </a:rPr>
              <a:t>ETF / 场外
指数基金 Skill</a:t>
            </a:r>
          </a:p>
        </p:txBody>
      </p:sp>
      <p:sp>
        <p:nvSpPr>
          <p:cNvPr id="26" name="Rounded Rectangle 10018">
            <a:extLst>
              <a:ext uri="{FF2B5EF4-FFF2-40B4-BE49-F238E27FC236}">
                <a16:creationId xmlns:a16="http://schemas.microsoft.com/office/drawing/2014/main" id="{C5A07EAB-B69E-FC98-7F30-2D5D99707749}"/>
              </a:ext>
            </a:extLst>
          </p:cNvPr>
          <p:cNvSpPr/>
          <p:nvPr/>
        </p:nvSpPr>
        <p:spPr>
          <a:xfrm>
            <a:off x="4823460"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a:solidFill>
                  <a:srgbClr val="005096"/>
                </a:solidFill>
                <a:latin typeface="+mj-ea"/>
                <a:ea typeface="+mj-ea"/>
              </a:rPr>
              <a:t>个人AI助手
自动安装配置</a:t>
            </a:r>
          </a:p>
        </p:txBody>
      </p:sp>
      <p:sp>
        <p:nvSpPr>
          <p:cNvPr id="27" name="Rounded Rectangle 10019">
            <a:extLst>
              <a:ext uri="{FF2B5EF4-FFF2-40B4-BE49-F238E27FC236}">
                <a16:creationId xmlns:a16="http://schemas.microsoft.com/office/drawing/2014/main" id="{187E025E-6B38-C94E-16FE-73D5748E380F}"/>
              </a:ext>
            </a:extLst>
          </p:cNvPr>
          <p:cNvSpPr/>
          <p:nvPr/>
        </p:nvSpPr>
        <p:spPr>
          <a:xfrm>
            <a:off x="7000348"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a:solidFill>
                  <a:srgbClr val="005096"/>
                </a:solidFill>
                <a:latin typeface="+mj-ea"/>
                <a:ea typeface="+mj-ea"/>
              </a:rPr>
              <a:t>自然语言
获取专业数据</a:t>
            </a:r>
          </a:p>
        </p:txBody>
      </p:sp>
      <p:sp>
        <p:nvSpPr>
          <p:cNvPr id="28" name="Right Arrow 10020">
            <a:extLst>
              <a:ext uri="{FF2B5EF4-FFF2-40B4-BE49-F238E27FC236}">
                <a16:creationId xmlns:a16="http://schemas.microsoft.com/office/drawing/2014/main" id="{6D47DA0E-22C8-8749-8A63-DD32E7EE1D98}"/>
              </a:ext>
            </a:extLst>
          </p:cNvPr>
          <p:cNvSpPr/>
          <p:nvPr/>
        </p:nvSpPr>
        <p:spPr>
          <a:xfrm>
            <a:off x="2272617" y="3304261"/>
            <a:ext cx="383409" cy="256032"/>
          </a:xfrm>
          <a:prstGeom prst="rightArrow">
            <a:avLst/>
          </a:prstGeom>
          <a:solidFill>
            <a:srgbClr val="00B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29" name="Right Arrow 10021">
            <a:extLst>
              <a:ext uri="{FF2B5EF4-FFF2-40B4-BE49-F238E27FC236}">
                <a16:creationId xmlns:a16="http://schemas.microsoft.com/office/drawing/2014/main" id="{D2A60D38-8C03-C979-CD9C-92CC6755551B}"/>
              </a:ext>
            </a:extLst>
          </p:cNvPr>
          <p:cNvSpPr/>
          <p:nvPr/>
        </p:nvSpPr>
        <p:spPr>
          <a:xfrm>
            <a:off x="4346174" y="3304261"/>
            <a:ext cx="429766" cy="256032"/>
          </a:xfrm>
          <a:prstGeom prst="rightArrow">
            <a:avLst/>
          </a:prstGeom>
          <a:solidFill>
            <a:srgbClr val="00B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30" name="Right Arrow 10022">
            <a:extLst>
              <a:ext uri="{FF2B5EF4-FFF2-40B4-BE49-F238E27FC236}">
                <a16:creationId xmlns:a16="http://schemas.microsoft.com/office/drawing/2014/main" id="{F18C221D-C004-E594-C528-7FEBB9531172}"/>
              </a:ext>
            </a:extLst>
          </p:cNvPr>
          <p:cNvSpPr/>
          <p:nvPr/>
        </p:nvSpPr>
        <p:spPr>
          <a:xfrm>
            <a:off x="6513608" y="3304261"/>
            <a:ext cx="448056" cy="256032"/>
          </a:xfrm>
          <a:prstGeom prst="rightArrow">
            <a:avLst/>
          </a:prstGeom>
          <a:solidFill>
            <a:srgbClr val="00B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31" name="Rectangle 10023">
            <a:extLst>
              <a:ext uri="{FF2B5EF4-FFF2-40B4-BE49-F238E27FC236}">
                <a16:creationId xmlns:a16="http://schemas.microsoft.com/office/drawing/2014/main" id="{4B696B75-FCAB-0FC3-2603-BE65DA1ABBE3}"/>
              </a:ext>
            </a:extLst>
          </p:cNvPr>
          <p:cNvSpPr/>
          <p:nvPr/>
        </p:nvSpPr>
        <p:spPr>
          <a:xfrm>
            <a:off x="502920" y="3768335"/>
            <a:ext cx="8119872" cy="502920"/>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32" name="TextBox 10024">
            <a:extLst>
              <a:ext uri="{FF2B5EF4-FFF2-40B4-BE49-F238E27FC236}">
                <a16:creationId xmlns:a16="http://schemas.microsoft.com/office/drawing/2014/main" id="{527C4BFC-936C-A683-BB95-2A6BBDD4938B}"/>
              </a:ext>
            </a:extLst>
          </p:cNvPr>
          <p:cNvSpPr txBox="1"/>
          <p:nvPr/>
        </p:nvSpPr>
        <p:spPr>
          <a:xfrm>
            <a:off x="728958" y="3926022"/>
            <a:ext cx="1476755" cy="340894"/>
          </a:xfrm>
          <a:prstGeom prst="rect">
            <a:avLst/>
          </a:prstGeom>
          <a:noFill/>
        </p:spPr>
        <p:txBody>
          <a:bodyPr wrap="square" lIns="45720" tIns="18288" rIns="45720" bIns="18288">
            <a:normAutofit/>
          </a:bodyPr>
          <a:lstStyle/>
          <a:p>
            <a:pPr algn="l"/>
            <a:r>
              <a:rPr sz="1100" b="1">
                <a:solidFill>
                  <a:srgbClr val="005096"/>
                </a:solidFill>
                <a:latin typeface="+mj-ea"/>
                <a:ea typeface="+mj-ea"/>
              </a:rPr>
              <a:t>三步接入</a:t>
            </a:r>
          </a:p>
        </p:txBody>
      </p:sp>
      <p:sp>
        <p:nvSpPr>
          <p:cNvPr id="33" name="TextBox 10025">
            <a:extLst>
              <a:ext uri="{FF2B5EF4-FFF2-40B4-BE49-F238E27FC236}">
                <a16:creationId xmlns:a16="http://schemas.microsoft.com/office/drawing/2014/main" id="{0855C92A-E8D3-CE80-81E4-5A0093BF2156}"/>
              </a:ext>
            </a:extLst>
          </p:cNvPr>
          <p:cNvSpPr txBox="1"/>
          <p:nvPr/>
        </p:nvSpPr>
        <p:spPr>
          <a:xfrm>
            <a:off x="1696828" y="3926022"/>
            <a:ext cx="6949440" cy="256032"/>
          </a:xfrm>
          <a:prstGeom prst="rect">
            <a:avLst/>
          </a:prstGeom>
          <a:noFill/>
        </p:spPr>
        <p:txBody>
          <a:bodyPr wrap="square" lIns="45720" tIns="18288" rIns="45720" bIns="18288">
            <a:normAutofit/>
          </a:bodyPr>
          <a:lstStyle/>
          <a:p>
            <a:pPr algn="l"/>
            <a:r>
              <a:rPr sz="1000" b="0">
                <a:solidFill>
                  <a:srgbClr val="3C3C3C"/>
                </a:solidFill>
                <a:latin typeface="+mj-ea"/>
                <a:ea typeface="+mj-ea"/>
              </a:rPr>
              <a:t>① 获取 API Key    ② 复制提示词与 Key    ③ 发送给个人 AI 助手，自动完成技能下载与配置</a:t>
            </a:r>
          </a:p>
        </p:txBody>
      </p:sp>
      <p:sp>
        <p:nvSpPr>
          <p:cNvPr id="34" name="TextBox 10026">
            <a:extLst>
              <a:ext uri="{FF2B5EF4-FFF2-40B4-BE49-F238E27FC236}">
                <a16:creationId xmlns:a16="http://schemas.microsoft.com/office/drawing/2014/main" id="{F20F9AB1-DC50-417E-6975-D90215841FF6}"/>
              </a:ext>
            </a:extLst>
          </p:cNvPr>
          <p:cNvSpPr txBox="1"/>
          <p:nvPr/>
        </p:nvSpPr>
        <p:spPr>
          <a:xfrm>
            <a:off x="526719" y="4360425"/>
            <a:ext cx="8138160" cy="237744"/>
          </a:xfrm>
          <a:prstGeom prst="rect">
            <a:avLst/>
          </a:prstGeom>
          <a:noFill/>
        </p:spPr>
        <p:txBody>
          <a:bodyPr wrap="square" lIns="45720" tIns="18288" rIns="45720" bIns="18288">
            <a:normAutofit/>
          </a:bodyPr>
          <a:lstStyle/>
          <a:p>
            <a:pPr algn="l"/>
            <a:r>
              <a:rPr sz="1150" b="1">
                <a:solidFill>
                  <a:srgbClr val="005096"/>
                </a:solidFill>
                <a:latin typeface="+mj-ea"/>
                <a:ea typeface="+mj-ea"/>
              </a:rPr>
              <a:t>把指数业务能力从“产品功能”升级为“可被智能体调用的企业能力”，让专业数据服务进入更广泛的 AI 生态。</a:t>
            </a:r>
          </a:p>
        </p:txBody>
      </p:sp>
    </p:spTree>
    <p:extLst>
      <p:ext uri="{BB962C8B-B14F-4D97-AF65-F5344CB8AC3E}">
        <p14:creationId xmlns:p14="http://schemas.microsoft.com/office/powerpoint/2010/main" val="1530611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9" name="TitleInjected"/>
          <p:cNvSpPr>
            <a:spLocks noGrp="1"/>
          </p:cNvSpPr>
          <p:nvPr>
            <p:ph type="title"/>
          </p:nvPr>
        </p:nvSpPr>
        <p:spPr>
          <a:xfrm>
            <a:off x="327780" y="210943"/>
            <a:ext cx="8374621" cy="268039"/>
          </a:xfrm>
          <a:noFill/>
          <a:ln>
            <a:noFill/>
          </a:ln>
        </p:spPr>
        <p:txBody>
          <a:bodyPr vert="horz" wrap="square" lIns="0" tIns="0" rIns="0" bIns="45678" numCol="1" anchor="t" anchorCtr="0" compatLnSpc="1"/>
          <a:lstStyle/>
          <a:p>
            <a:r>
              <a:rPr lang="zh-CN" altLang="en-US" sz="2298" b="1" dirty="0">
                <a:solidFill>
                  <a:srgbClr val="FFFFFF"/>
                </a:solidFill>
                <a:latin typeface="+mj-ea"/>
                <a:ea typeface="+mj-ea"/>
              </a:rPr>
              <a:t>以营销</a:t>
            </a:r>
            <a:r>
              <a:rPr lang="en-US" altLang="zh-CN" sz="2298" b="1" dirty="0">
                <a:solidFill>
                  <a:srgbClr val="FFFFFF"/>
                </a:solidFill>
                <a:latin typeface="+mj-ea"/>
                <a:ea typeface="+mj-ea"/>
              </a:rPr>
              <a:t>Skill</a:t>
            </a:r>
            <a:r>
              <a:rPr lang="zh-CN" altLang="en-US" sz="2298" b="1" dirty="0">
                <a:solidFill>
                  <a:srgbClr val="FFFFFF"/>
                </a:solidFill>
                <a:latin typeface="+mj-ea"/>
                <a:ea typeface="+mj-ea"/>
              </a:rPr>
              <a:t>为例：</a:t>
            </a:r>
            <a:r>
              <a:rPr lang="zh-CN" altLang="en-US" sz="2300" b="1">
                <a:solidFill>
                  <a:srgbClr val="FFFFFF"/>
                </a:solidFill>
                <a:latin typeface="+mj-ea"/>
                <a:ea typeface="+mj-ea"/>
              </a:rPr>
              <a:t>智能营销内容生产</a:t>
            </a:r>
            <a:r>
              <a:rPr lang="en" altLang="zh-CN" sz="2300" b="1">
                <a:solidFill>
                  <a:srgbClr val="FFFFFF"/>
                </a:solidFill>
                <a:latin typeface="+mj-ea"/>
                <a:ea typeface="+mj-ea"/>
              </a:rPr>
              <a:t>Agent</a:t>
            </a:r>
            <a:endParaRPr sz="2298" b="1" dirty="0">
              <a:solidFill>
                <a:srgbClr val="FFFFFF"/>
              </a:solidFill>
              <a:latin typeface="+mj-ea"/>
              <a:ea typeface="+mj-ea"/>
            </a:endParaRPr>
          </a:p>
        </p:txBody>
      </p:sp>
      <p:sp>
        <p:nvSpPr>
          <p:cNvPr id="2" name="TextBox 9999">
            <a:extLst>
              <a:ext uri="{FF2B5EF4-FFF2-40B4-BE49-F238E27FC236}">
                <a16:creationId xmlns:a16="http://schemas.microsoft.com/office/drawing/2014/main" id="{D2FBE9C9-1F08-A0E1-F671-8D784C8F7BEE}"/>
              </a:ext>
            </a:extLst>
          </p:cNvPr>
          <p:cNvSpPr txBox="1"/>
          <p:nvPr/>
        </p:nvSpPr>
        <p:spPr>
          <a:xfrm>
            <a:off x="451038" y="964109"/>
            <a:ext cx="8459497" cy="457200"/>
          </a:xfrm>
          <a:prstGeom prst="rect">
            <a:avLst/>
          </a:prstGeom>
          <a:noFill/>
        </p:spPr>
        <p:txBody>
          <a:bodyPr wrap="square" lIns="45720" tIns="18288" rIns="45720" bIns="18288">
            <a:noAutofit/>
          </a:bodyPr>
          <a:lstStyle/>
          <a:p>
            <a:pPr algn="l">
              <a:lnSpc>
                <a:spcPct val="150000"/>
              </a:lnSpc>
            </a:pPr>
            <a:r>
              <a:rPr lang="zh-CN" altLang="en-US" sz="1200">
                <a:solidFill>
                  <a:srgbClr val="005096"/>
                </a:solidFill>
                <a:latin typeface="+mj-ea"/>
                <a:ea typeface="+mj-ea"/>
              </a:rPr>
              <a:t>把营销素材、产品信息和投教话术封装为可编排的内容生产 </a:t>
            </a:r>
            <a:r>
              <a:rPr lang="en" sz="1200">
                <a:solidFill>
                  <a:srgbClr val="005096"/>
                </a:solidFill>
                <a:latin typeface="+mj-ea"/>
                <a:ea typeface="+mj-ea"/>
              </a:rPr>
              <a:t>Skill，</a:t>
            </a:r>
            <a:r>
              <a:rPr lang="zh-CN" altLang="en-US" sz="1200">
                <a:solidFill>
                  <a:srgbClr val="005096"/>
                </a:solidFill>
                <a:latin typeface="+mj-ea"/>
                <a:ea typeface="+mj-ea"/>
              </a:rPr>
              <a:t>支持文本、图片、视频等多模态内容可控生成与强质检</a:t>
            </a:r>
          </a:p>
          <a:p>
            <a:pPr algn="l">
              <a:lnSpc>
                <a:spcPct val="150000"/>
              </a:lnSpc>
            </a:pPr>
            <a:endParaRPr lang="zh-CN" altLang="en-US" sz="1200">
              <a:solidFill>
                <a:srgbClr val="005096"/>
              </a:solidFill>
              <a:latin typeface="+mj-ea"/>
              <a:ea typeface="+mj-ea"/>
            </a:endParaRPr>
          </a:p>
        </p:txBody>
      </p:sp>
      <p:sp>
        <p:nvSpPr>
          <p:cNvPr id="4" name="Rectangle 10000">
            <a:extLst>
              <a:ext uri="{FF2B5EF4-FFF2-40B4-BE49-F238E27FC236}">
                <a16:creationId xmlns:a16="http://schemas.microsoft.com/office/drawing/2014/main" id="{EEF54282-3754-6D05-04DE-25C8A0B7C166}"/>
              </a:ext>
            </a:extLst>
          </p:cNvPr>
          <p:cNvSpPr/>
          <p:nvPr/>
        </p:nvSpPr>
        <p:spPr>
          <a:xfrm>
            <a:off x="502920" y="1368552"/>
            <a:ext cx="2514600" cy="1364985"/>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7" name="Rectangle 10001">
            <a:extLst>
              <a:ext uri="{FF2B5EF4-FFF2-40B4-BE49-F238E27FC236}">
                <a16:creationId xmlns:a16="http://schemas.microsoft.com/office/drawing/2014/main" id="{2AAE876E-E0C1-840E-CB9B-8A9F73441B7D}"/>
              </a:ext>
            </a:extLst>
          </p:cNvPr>
          <p:cNvSpPr/>
          <p:nvPr/>
        </p:nvSpPr>
        <p:spPr>
          <a:xfrm>
            <a:off x="502920" y="1368552"/>
            <a:ext cx="2514600" cy="64008"/>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8" name="TextBox 10002">
            <a:extLst>
              <a:ext uri="{FF2B5EF4-FFF2-40B4-BE49-F238E27FC236}">
                <a16:creationId xmlns:a16="http://schemas.microsoft.com/office/drawing/2014/main" id="{91523631-FECE-8CD9-BA7B-4D3E1C0FCACD}"/>
              </a:ext>
            </a:extLst>
          </p:cNvPr>
          <p:cNvSpPr txBox="1"/>
          <p:nvPr/>
        </p:nvSpPr>
        <p:spPr>
          <a:xfrm>
            <a:off x="612648" y="1569720"/>
            <a:ext cx="2295144" cy="320040"/>
          </a:xfrm>
          <a:prstGeom prst="rect">
            <a:avLst/>
          </a:prstGeom>
          <a:noFill/>
        </p:spPr>
        <p:txBody>
          <a:bodyPr wrap="square" lIns="45720" tIns="18288" rIns="45720" bIns="18288">
            <a:normAutofit/>
          </a:bodyPr>
          <a:lstStyle/>
          <a:p>
            <a:pPr algn="l"/>
            <a:r>
              <a:rPr lang="zh-CN" altLang="en-US" sz="1300" b="1">
                <a:solidFill>
                  <a:srgbClr val="005096"/>
                </a:solidFill>
                <a:latin typeface="+mj-ea"/>
                <a:ea typeface="+mj-ea"/>
              </a:rPr>
              <a:t>可控裂变</a:t>
            </a:r>
            <a:endParaRPr sz="1300" b="1">
              <a:solidFill>
                <a:srgbClr val="005096"/>
              </a:solidFill>
              <a:latin typeface="+mj-ea"/>
              <a:ea typeface="+mj-ea"/>
            </a:endParaRPr>
          </a:p>
        </p:txBody>
      </p:sp>
      <p:sp>
        <p:nvSpPr>
          <p:cNvPr id="9" name="TextBox 10003">
            <a:extLst>
              <a:ext uri="{FF2B5EF4-FFF2-40B4-BE49-F238E27FC236}">
                <a16:creationId xmlns:a16="http://schemas.microsoft.com/office/drawing/2014/main" id="{FD2AD572-6F62-61FE-605F-9E34B1F4BE6F}"/>
              </a:ext>
            </a:extLst>
          </p:cNvPr>
          <p:cNvSpPr txBox="1"/>
          <p:nvPr/>
        </p:nvSpPr>
        <p:spPr>
          <a:xfrm>
            <a:off x="612648" y="1885188"/>
            <a:ext cx="2295144" cy="795527"/>
          </a:xfrm>
          <a:prstGeom prst="rect">
            <a:avLst/>
          </a:prstGeom>
          <a:noFill/>
        </p:spPr>
        <p:txBody>
          <a:bodyPr wrap="square" lIns="45720" tIns="18288" rIns="45720" bIns="18288">
            <a:normAutofit/>
          </a:bodyPr>
          <a:lstStyle/>
          <a:p>
            <a:pPr algn="just">
              <a:lnSpc>
                <a:spcPct val="150000"/>
              </a:lnSpc>
            </a:pPr>
            <a:r>
              <a:rPr lang="zh-CN" altLang="en-US" sz="1000" b="0">
                <a:solidFill>
                  <a:schemeClr val="accent4"/>
                </a:solidFill>
                <a:latin typeface="+mj-ea"/>
                <a:ea typeface="+mj-ea"/>
              </a:rPr>
              <a:t>基于任务树与模板驱动，将原始素材按用户分层、产品分层和产品粒度进行批量改写与扩展。</a:t>
            </a:r>
          </a:p>
        </p:txBody>
      </p:sp>
      <p:sp>
        <p:nvSpPr>
          <p:cNvPr id="10" name="Rectangle 10004">
            <a:extLst>
              <a:ext uri="{FF2B5EF4-FFF2-40B4-BE49-F238E27FC236}">
                <a16:creationId xmlns:a16="http://schemas.microsoft.com/office/drawing/2014/main" id="{02637DCE-43CE-BF39-A041-D82B68373052}"/>
              </a:ext>
            </a:extLst>
          </p:cNvPr>
          <p:cNvSpPr/>
          <p:nvPr/>
        </p:nvSpPr>
        <p:spPr>
          <a:xfrm>
            <a:off x="3310128" y="1368552"/>
            <a:ext cx="2514600" cy="1364985"/>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11" name="Rectangle 10005">
            <a:extLst>
              <a:ext uri="{FF2B5EF4-FFF2-40B4-BE49-F238E27FC236}">
                <a16:creationId xmlns:a16="http://schemas.microsoft.com/office/drawing/2014/main" id="{09ED10DB-F99F-BDA7-11D4-2B275E5D8A1A}"/>
              </a:ext>
            </a:extLst>
          </p:cNvPr>
          <p:cNvSpPr/>
          <p:nvPr/>
        </p:nvSpPr>
        <p:spPr>
          <a:xfrm>
            <a:off x="3310128" y="1368552"/>
            <a:ext cx="2514600" cy="64008"/>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12" name="TextBox 10006">
            <a:extLst>
              <a:ext uri="{FF2B5EF4-FFF2-40B4-BE49-F238E27FC236}">
                <a16:creationId xmlns:a16="http://schemas.microsoft.com/office/drawing/2014/main" id="{CD85DF8D-B780-BA9A-D9CA-BD84BDF37D01}"/>
              </a:ext>
            </a:extLst>
          </p:cNvPr>
          <p:cNvSpPr txBox="1"/>
          <p:nvPr/>
        </p:nvSpPr>
        <p:spPr>
          <a:xfrm>
            <a:off x="3419856" y="1569720"/>
            <a:ext cx="2295144" cy="320040"/>
          </a:xfrm>
          <a:prstGeom prst="rect">
            <a:avLst/>
          </a:prstGeom>
          <a:noFill/>
        </p:spPr>
        <p:txBody>
          <a:bodyPr wrap="square" lIns="45720" tIns="18288" rIns="45720" bIns="18288">
            <a:normAutofit/>
          </a:bodyPr>
          <a:lstStyle/>
          <a:p>
            <a:pPr algn="l"/>
            <a:r>
              <a:rPr lang="zh-CN" altLang="en-US" sz="1300" b="1">
                <a:solidFill>
                  <a:srgbClr val="005096"/>
                </a:solidFill>
                <a:latin typeface="+mj-ea"/>
                <a:ea typeface="+mj-ea"/>
              </a:rPr>
              <a:t>多模态生产</a:t>
            </a:r>
            <a:endParaRPr sz="1300" b="1">
              <a:solidFill>
                <a:srgbClr val="005096"/>
              </a:solidFill>
              <a:latin typeface="+mj-ea"/>
              <a:ea typeface="+mj-ea"/>
            </a:endParaRPr>
          </a:p>
        </p:txBody>
      </p:sp>
      <p:sp>
        <p:nvSpPr>
          <p:cNvPr id="13" name="TextBox 10007">
            <a:extLst>
              <a:ext uri="{FF2B5EF4-FFF2-40B4-BE49-F238E27FC236}">
                <a16:creationId xmlns:a16="http://schemas.microsoft.com/office/drawing/2014/main" id="{0D657605-0444-FD73-3FA7-BB420538A69C}"/>
              </a:ext>
            </a:extLst>
          </p:cNvPr>
          <p:cNvSpPr txBox="1"/>
          <p:nvPr/>
        </p:nvSpPr>
        <p:spPr>
          <a:xfrm>
            <a:off x="3419855" y="1885188"/>
            <a:ext cx="2351889" cy="795527"/>
          </a:xfrm>
          <a:prstGeom prst="rect">
            <a:avLst/>
          </a:prstGeom>
          <a:noFill/>
        </p:spPr>
        <p:txBody>
          <a:bodyPr wrap="square" lIns="45720" tIns="18288" rIns="45720" bIns="18288">
            <a:normAutofit/>
          </a:bodyPr>
          <a:lstStyle/>
          <a:p>
            <a:pPr algn="just">
              <a:lnSpc>
                <a:spcPct val="150000"/>
              </a:lnSpc>
            </a:pPr>
            <a:r>
              <a:rPr lang="zh-CN" altLang="en-US" sz="1000" b="0">
                <a:solidFill>
                  <a:schemeClr val="accent4"/>
                </a:solidFill>
                <a:latin typeface="+mj-ea"/>
                <a:ea typeface="+mj-ea"/>
              </a:rPr>
              <a:t>文本裂变</a:t>
            </a:r>
            <a:r>
              <a:rPr lang="en" sz="1000" b="0">
                <a:solidFill>
                  <a:schemeClr val="accent4"/>
                </a:solidFill>
                <a:latin typeface="+mj-ea"/>
                <a:ea typeface="+mj-ea"/>
              </a:rPr>
              <a:t>Agent、</a:t>
            </a:r>
            <a:r>
              <a:rPr lang="zh-CN" altLang="en-US" sz="1000">
                <a:solidFill>
                  <a:schemeClr val="accent4"/>
                </a:solidFill>
                <a:latin typeface="+mj-ea"/>
                <a:ea typeface="+mj-ea"/>
              </a:rPr>
              <a:t>图片</a:t>
            </a:r>
            <a:r>
              <a:rPr lang="zh-CN" altLang="en-US" sz="1000" b="0">
                <a:solidFill>
                  <a:schemeClr val="accent4"/>
                </a:solidFill>
                <a:latin typeface="+mj-ea"/>
                <a:ea typeface="+mj-ea"/>
              </a:rPr>
              <a:t>裂变</a:t>
            </a:r>
            <a:r>
              <a:rPr lang="en" sz="1000" b="0">
                <a:solidFill>
                  <a:schemeClr val="accent4"/>
                </a:solidFill>
                <a:latin typeface="+mj-ea"/>
                <a:ea typeface="+mj-ea"/>
              </a:rPr>
              <a:t>Agent、</a:t>
            </a:r>
            <a:r>
              <a:rPr lang="zh-CN" altLang="en-US" sz="1000" b="0">
                <a:solidFill>
                  <a:schemeClr val="accent4"/>
                </a:solidFill>
                <a:latin typeface="+mj-ea"/>
                <a:ea typeface="+mj-ea"/>
              </a:rPr>
              <a:t>视频裂变</a:t>
            </a:r>
            <a:r>
              <a:rPr lang="en" sz="1000" b="0">
                <a:solidFill>
                  <a:schemeClr val="accent4"/>
                </a:solidFill>
                <a:latin typeface="+mj-ea"/>
                <a:ea typeface="+mj-ea"/>
              </a:rPr>
              <a:t>Agent</a:t>
            </a:r>
            <a:r>
              <a:rPr lang="zh-CN" altLang="en-US" sz="1000" b="0">
                <a:solidFill>
                  <a:schemeClr val="accent4"/>
                </a:solidFill>
                <a:latin typeface="+mj-ea"/>
                <a:ea typeface="+mj-ea"/>
              </a:rPr>
              <a:t>分工协作，以</a:t>
            </a:r>
            <a:r>
              <a:rPr lang="en" sz="1000" b="0">
                <a:solidFill>
                  <a:schemeClr val="accent4"/>
                </a:solidFill>
                <a:latin typeface="+mj-ea"/>
                <a:ea typeface="+mj-ea"/>
              </a:rPr>
              <a:t>Storyboard</a:t>
            </a:r>
            <a:r>
              <a:rPr lang="zh-CN" altLang="en-US" sz="1000" b="0">
                <a:solidFill>
                  <a:schemeClr val="accent4"/>
                </a:solidFill>
                <a:latin typeface="+mj-ea"/>
                <a:ea typeface="+mj-ea"/>
              </a:rPr>
              <a:t>统一跨模态脚本表达。</a:t>
            </a:r>
          </a:p>
        </p:txBody>
      </p:sp>
      <p:sp>
        <p:nvSpPr>
          <p:cNvPr id="14" name="Rectangle 10008">
            <a:extLst>
              <a:ext uri="{FF2B5EF4-FFF2-40B4-BE49-F238E27FC236}">
                <a16:creationId xmlns:a16="http://schemas.microsoft.com/office/drawing/2014/main" id="{AB1AC2FF-F24E-8384-592C-B64342EFA2EB}"/>
              </a:ext>
            </a:extLst>
          </p:cNvPr>
          <p:cNvSpPr/>
          <p:nvPr/>
        </p:nvSpPr>
        <p:spPr>
          <a:xfrm>
            <a:off x="6117336" y="1368552"/>
            <a:ext cx="2514600" cy="1364985"/>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16" name="Rectangle 10009">
            <a:extLst>
              <a:ext uri="{FF2B5EF4-FFF2-40B4-BE49-F238E27FC236}">
                <a16:creationId xmlns:a16="http://schemas.microsoft.com/office/drawing/2014/main" id="{0C5113E6-B1A8-81F7-3EF8-98FD37318701}"/>
              </a:ext>
            </a:extLst>
          </p:cNvPr>
          <p:cNvSpPr/>
          <p:nvPr/>
        </p:nvSpPr>
        <p:spPr>
          <a:xfrm>
            <a:off x="6117336" y="1368552"/>
            <a:ext cx="2514600" cy="6400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18" name="TextBox 10010">
            <a:extLst>
              <a:ext uri="{FF2B5EF4-FFF2-40B4-BE49-F238E27FC236}">
                <a16:creationId xmlns:a16="http://schemas.microsoft.com/office/drawing/2014/main" id="{9E54D4CC-A75C-7205-06C0-79004D267F2A}"/>
              </a:ext>
            </a:extLst>
          </p:cNvPr>
          <p:cNvSpPr txBox="1"/>
          <p:nvPr/>
        </p:nvSpPr>
        <p:spPr>
          <a:xfrm>
            <a:off x="6227064" y="1569720"/>
            <a:ext cx="2295144" cy="320040"/>
          </a:xfrm>
          <a:prstGeom prst="rect">
            <a:avLst/>
          </a:prstGeom>
          <a:noFill/>
        </p:spPr>
        <p:txBody>
          <a:bodyPr wrap="square" lIns="45720" tIns="18288" rIns="45720" bIns="18288">
            <a:normAutofit/>
          </a:bodyPr>
          <a:lstStyle/>
          <a:p>
            <a:pPr algn="l"/>
            <a:r>
              <a:rPr lang="zh-CN" altLang="en-US" sz="1300" b="1">
                <a:solidFill>
                  <a:srgbClr val="005096"/>
                </a:solidFill>
                <a:latin typeface="+mj-ea"/>
                <a:ea typeface="+mj-ea"/>
              </a:rPr>
              <a:t>强约束质检</a:t>
            </a:r>
            <a:endParaRPr sz="1300" b="1">
              <a:solidFill>
                <a:srgbClr val="005096"/>
              </a:solidFill>
              <a:latin typeface="+mj-ea"/>
              <a:ea typeface="+mj-ea"/>
            </a:endParaRPr>
          </a:p>
        </p:txBody>
      </p:sp>
      <p:sp>
        <p:nvSpPr>
          <p:cNvPr id="19" name="TextBox 10011">
            <a:extLst>
              <a:ext uri="{FF2B5EF4-FFF2-40B4-BE49-F238E27FC236}">
                <a16:creationId xmlns:a16="http://schemas.microsoft.com/office/drawing/2014/main" id="{21F1CCC5-FD59-5789-23EE-71C2A1E43BD0}"/>
              </a:ext>
            </a:extLst>
          </p:cNvPr>
          <p:cNvSpPr txBox="1"/>
          <p:nvPr/>
        </p:nvSpPr>
        <p:spPr>
          <a:xfrm>
            <a:off x="6227064" y="1885188"/>
            <a:ext cx="2295144" cy="795527"/>
          </a:xfrm>
          <a:prstGeom prst="rect">
            <a:avLst/>
          </a:prstGeom>
          <a:noFill/>
        </p:spPr>
        <p:txBody>
          <a:bodyPr wrap="square" lIns="45720" tIns="18288" rIns="45720" bIns="18288">
            <a:normAutofit/>
          </a:bodyPr>
          <a:lstStyle/>
          <a:p>
            <a:pPr algn="just">
              <a:lnSpc>
                <a:spcPct val="150000"/>
              </a:lnSpc>
            </a:pPr>
            <a:r>
              <a:rPr lang="zh-CN" altLang="en-US" sz="1000" b="0">
                <a:solidFill>
                  <a:schemeClr val="accent4"/>
                </a:solidFill>
                <a:latin typeface="+mj-ea"/>
                <a:ea typeface="+mj-ea"/>
              </a:rPr>
              <a:t>质检</a:t>
            </a:r>
            <a:r>
              <a:rPr lang="en" sz="1000" b="0">
                <a:solidFill>
                  <a:schemeClr val="accent4"/>
                </a:solidFill>
                <a:latin typeface="+mj-ea"/>
                <a:ea typeface="+mj-ea"/>
              </a:rPr>
              <a:t>Agent</a:t>
            </a:r>
            <a:r>
              <a:rPr lang="zh-CN" altLang="en-US" sz="1000" b="0">
                <a:solidFill>
                  <a:schemeClr val="accent4"/>
                </a:solidFill>
                <a:latin typeface="+mj-ea"/>
                <a:ea typeface="+mj-ea"/>
              </a:rPr>
              <a:t>对判断性结论、产品名称、代码、费率等关键信息进行校验，通过后再进入发布流程。</a:t>
            </a:r>
          </a:p>
        </p:txBody>
      </p:sp>
      <p:sp>
        <p:nvSpPr>
          <p:cNvPr id="20" name="TextBox 10012">
            <a:extLst>
              <a:ext uri="{FF2B5EF4-FFF2-40B4-BE49-F238E27FC236}">
                <a16:creationId xmlns:a16="http://schemas.microsoft.com/office/drawing/2014/main" id="{66A919E3-9ADA-198E-F813-A6C9AB40BB1B}"/>
              </a:ext>
            </a:extLst>
          </p:cNvPr>
          <p:cNvSpPr txBox="1"/>
          <p:nvPr/>
        </p:nvSpPr>
        <p:spPr>
          <a:xfrm>
            <a:off x="612647" y="2862137"/>
            <a:ext cx="1417320" cy="292608"/>
          </a:xfrm>
          <a:prstGeom prst="rect">
            <a:avLst/>
          </a:prstGeom>
          <a:noFill/>
        </p:spPr>
        <p:txBody>
          <a:bodyPr wrap="square" lIns="45720" tIns="18288" rIns="45720" bIns="18288">
            <a:normAutofit/>
          </a:bodyPr>
          <a:lstStyle/>
          <a:p>
            <a:pPr algn="ctr"/>
            <a:r>
              <a:rPr lang="zh-CN" altLang="en-US" sz="1200" b="1">
                <a:solidFill>
                  <a:srgbClr val="005096"/>
                </a:solidFill>
                <a:latin typeface="+mj-ea"/>
                <a:ea typeface="+mj-ea"/>
              </a:rPr>
              <a:t>原始素材</a:t>
            </a:r>
          </a:p>
        </p:txBody>
      </p:sp>
      <p:sp>
        <p:nvSpPr>
          <p:cNvPr id="21" name="TextBox 10013">
            <a:extLst>
              <a:ext uri="{FF2B5EF4-FFF2-40B4-BE49-F238E27FC236}">
                <a16:creationId xmlns:a16="http://schemas.microsoft.com/office/drawing/2014/main" id="{57DAD66B-E83E-1091-D681-18EDEF8A1FF3}"/>
              </a:ext>
            </a:extLst>
          </p:cNvPr>
          <p:cNvSpPr txBox="1"/>
          <p:nvPr/>
        </p:nvSpPr>
        <p:spPr>
          <a:xfrm>
            <a:off x="2747466" y="2862137"/>
            <a:ext cx="1417320" cy="292608"/>
          </a:xfrm>
          <a:prstGeom prst="rect">
            <a:avLst/>
          </a:prstGeom>
          <a:noFill/>
        </p:spPr>
        <p:txBody>
          <a:bodyPr wrap="square" lIns="45720" tIns="18288" rIns="45720" bIns="18288">
            <a:normAutofit/>
          </a:bodyPr>
          <a:lstStyle/>
          <a:p>
            <a:pPr algn="ctr"/>
            <a:r>
              <a:rPr lang="zh-CN" altLang="en-US" sz="1200" b="1">
                <a:solidFill>
                  <a:srgbClr val="005096"/>
                </a:solidFill>
                <a:latin typeface="+mj-ea"/>
                <a:ea typeface="+mj-ea"/>
              </a:rPr>
              <a:t>任务编排</a:t>
            </a:r>
          </a:p>
        </p:txBody>
      </p:sp>
      <p:sp>
        <p:nvSpPr>
          <p:cNvPr id="22" name="TextBox 10014">
            <a:extLst>
              <a:ext uri="{FF2B5EF4-FFF2-40B4-BE49-F238E27FC236}">
                <a16:creationId xmlns:a16="http://schemas.microsoft.com/office/drawing/2014/main" id="{C2F94B76-A88F-D19F-80BD-4CE706E90D7D}"/>
              </a:ext>
            </a:extLst>
          </p:cNvPr>
          <p:cNvSpPr txBox="1"/>
          <p:nvPr/>
        </p:nvSpPr>
        <p:spPr>
          <a:xfrm>
            <a:off x="4914900" y="2862137"/>
            <a:ext cx="1417320" cy="292608"/>
          </a:xfrm>
          <a:prstGeom prst="rect">
            <a:avLst/>
          </a:prstGeom>
          <a:noFill/>
        </p:spPr>
        <p:txBody>
          <a:bodyPr wrap="square" lIns="45720" tIns="18288" rIns="45720" bIns="18288">
            <a:normAutofit/>
          </a:bodyPr>
          <a:lstStyle/>
          <a:p>
            <a:pPr algn="ctr"/>
            <a:r>
              <a:rPr lang="en" sz="1200" b="1">
                <a:solidFill>
                  <a:srgbClr val="005096"/>
                </a:solidFill>
                <a:latin typeface="+mj-ea"/>
                <a:ea typeface="+mj-ea"/>
              </a:rPr>
              <a:t>Agent</a:t>
            </a:r>
            <a:r>
              <a:rPr lang="zh-CN" altLang="en-US" sz="1200" b="1">
                <a:solidFill>
                  <a:srgbClr val="005096"/>
                </a:solidFill>
                <a:latin typeface="+mj-ea"/>
                <a:ea typeface="+mj-ea"/>
              </a:rPr>
              <a:t>生产</a:t>
            </a:r>
          </a:p>
        </p:txBody>
      </p:sp>
      <p:sp>
        <p:nvSpPr>
          <p:cNvPr id="23" name="TextBox 10015">
            <a:extLst>
              <a:ext uri="{FF2B5EF4-FFF2-40B4-BE49-F238E27FC236}">
                <a16:creationId xmlns:a16="http://schemas.microsoft.com/office/drawing/2014/main" id="{E4CCABE0-EBD7-C623-4B04-C0C936DF55C1}"/>
              </a:ext>
            </a:extLst>
          </p:cNvPr>
          <p:cNvSpPr txBox="1"/>
          <p:nvPr/>
        </p:nvSpPr>
        <p:spPr>
          <a:xfrm>
            <a:off x="7000348" y="2862137"/>
            <a:ext cx="1645920" cy="292608"/>
          </a:xfrm>
          <a:prstGeom prst="rect">
            <a:avLst/>
          </a:prstGeom>
          <a:noFill/>
        </p:spPr>
        <p:txBody>
          <a:bodyPr wrap="square" lIns="45720" tIns="18288" rIns="45720" bIns="18288">
            <a:normAutofit/>
          </a:bodyPr>
          <a:lstStyle/>
          <a:p>
            <a:pPr algn="ctr"/>
            <a:r>
              <a:rPr lang="zh-CN" altLang="en-US" sz="1200" b="1">
                <a:solidFill>
                  <a:srgbClr val="005096"/>
                </a:solidFill>
                <a:latin typeface="+mj-ea"/>
                <a:ea typeface="+mj-ea"/>
              </a:rPr>
              <a:t>质检回写</a:t>
            </a:r>
          </a:p>
        </p:txBody>
      </p:sp>
      <p:sp>
        <p:nvSpPr>
          <p:cNvPr id="24" name="Rounded Rectangle 10016">
            <a:extLst>
              <a:ext uri="{FF2B5EF4-FFF2-40B4-BE49-F238E27FC236}">
                <a16:creationId xmlns:a16="http://schemas.microsoft.com/office/drawing/2014/main" id="{46A7747E-8101-40FB-A075-5670FCC7AC8E}"/>
              </a:ext>
            </a:extLst>
          </p:cNvPr>
          <p:cNvSpPr/>
          <p:nvPr/>
        </p:nvSpPr>
        <p:spPr>
          <a:xfrm>
            <a:off x="521207"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050">
                <a:solidFill>
                  <a:srgbClr val="005096"/>
                </a:solidFill>
                <a:latin typeface="+mj-ea"/>
                <a:ea typeface="+mj-ea"/>
              </a:rPr>
              <a:t>素材库</a:t>
            </a:r>
          </a:p>
          <a:p>
            <a:pPr algn="ctr"/>
            <a:r>
              <a:rPr lang="zh-CN" altLang="en-US" sz="1050">
                <a:solidFill>
                  <a:srgbClr val="005096"/>
                </a:solidFill>
                <a:latin typeface="+mj-ea"/>
                <a:ea typeface="+mj-ea"/>
              </a:rPr>
              <a:t>模板库</a:t>
            </a:r>
            <a:endParaRPr sz="1050">
              <a:solidFill>
                <a:srgbClr val="005096"/>
              </a:solidFill>
              <a:latin typeface="+mj-ea"/>
              <a:ea typeface="+mj-ea"/>
            </a:endParaRPr>
          </a:p>
        </p:txBody>
      </p:sp>
      <p:sp>
        <p:nvSpPr>
          <p:cNvPr id="25" name="Rounded Rectangle 10017">
            <a:extLst>
              <a:ext uri="{FF2B5EF4-FFF2-40B4-BE49-F238E27FC236}">
                <a16:creationId xmlns:a16="http://schemas.microsoft.com/office/drawing/2014/main" id="{2357CDEC-4FA7-BE14-AC43-4B6FA6A4EFB7}"/>
              </a:ext>
            </a:extLst>
          </p:cNvPr>
          <p:cNvSpPr/>
          <p:nvPr/>
        </p:nvSpPr>
        <p:spPr>
          <a:xfrm>
            <a:off x="2656026"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 sz="1050">
                <a:solidFill>
                  <a:srgbClr val="005096"/>
                </a:solidFill>
                <a:latin typeface="+mj-ea"/>
                <a:ea typeface="+mj-ea"/>
              </a:rPr>
              <a:t>EWork</a:t>
            </a:r>
          </a:p>
          <a:p>
            <a:pPr algn="ctr"/>
            <a:r>
              <a:rPr lang="en" sz="1050">
                <a:solidFill>
                  <a:srgbClr val="005096"/>
                </a:solidFill>
                <a:latin typeface="+mj-ea"/>
                <a:ea typeface="+mj-ea"/>
              </a:rPr>
              <a:t>Workflow + Skill + Memory</a:t>
            </a:r>
          </a:p>
        </p:txBody>
      </p:sp>
      <p:sp>
        <p:nvSpPr>
          <p:cNvPr id="26" name="Rounded Rectangle 10018">
            <a:extLst>
              <a:ext uri="{FF2B5EF4-FFF2-40B4-BE49-F238E27FC236}">
                <a16:creationId xmlns:a16="http://schemas.microsoft.com/office/drawing/2014/main" id="{C5A07EAB-B69E-FC98-7F30-2D5D99707749}"/>
              </a:ext>
            </a:extLst>
          </p:cNvPr>
          <p:cNvSpPr/>
          <p:nvPr/>
        </p:nvSpPr>
        <p:spPr>
          <a:xfrm>
            <a:off x="4823460"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050">
                <a:solidFill>
                  <a:srgbClr val="005096"/>
                </a:solidFill>
                <a:latin typeface="+mj-ea"/>
                <a:ea typeface="+mj-ea"/>
              </a:rPr>
              <a:t>文本 </a:t>
            </a:r>
            <a:r>
              <a:rPr lang="en-US" altLang="zh-CN" sz="1050">
                <a:solidFill>
                  <a:srgbClr val="005096"/>
                </a:solidFill>
                <a:latin typeface="+mj-ea"/>
                <a:ea typeface="+mj-ea"/>
              </a:rPr>
              <a:t>/ </a:t>
            </a:r>
            <a:r>
              <a:rPr lang="zh-CN" altLang="en-US" sz="1050">
                <a:solidFill>
                  <a:srgbClr val="005096"/>
                </a:solidFill>
                <a:latin typeface="+mj-ea"/>
                <a:ea typeface="+mj-ea"/>
              </a:rPr>
              <a:t>图片 </a:t>
            </a:r>
            <a:r>
              <a:rPr lang="en-US" altLang="zh-CN" sz="1050">
                <a:solidFill>
                  <a:srgbClr val="005096"/>
                </a:solidFill>
                <a:latin typeface="+mj-ea"/>
                <a:ea typeface="+mj-ea"/>
              </a:rPr>
              <a:t>/ </a:t>
            </a:r>
            <a:r>
              <a:rPr lang="zh-CN" altLang="en-US" sz="1050">
                <a:solidFill>
                  <a:srgbClr val="005096"/>
                </a:solidFill>
                <a:latin typeface="+mj-ea"/>
                <a:ea typeface="+mj-ea"/>
              </a:rPr>
              <a:t>视频</a:t>
            </a:r>
          </a:p>
          <a:p>
            <a:pPr algn="ctr"/>
            <a:r>
              <a:rPr lang="en" sz="1050">
                <a:solidFill>
                  <a:srgbClr val="005096"/>
                </a:solidFill>
                <a:latin typeface="+mj-ea"/>
                <a:ea typeface="+mj-ea"/>
              </a:rPr>
              <a:t>Agent Pipeline</a:t>
            </a:r>
          </a:p>
        </p:txBody>
      </p:sp>
      <p:sp>
        <p:nvSpPr>
          <p:cNvPr id="27" name="Rounded Rectangle 10019">
            <a:extLst>
              <a:ext uri="{FF2B5EF4-FFF2-40B4-BE49-F238E27FC236}">
                <a16:creationId xmlns:a16="http://schemas.microsoft.com/office/drawing/2014/main" id="{187E025E-6B38-C94E-16FE-73D5748E380F}"/>
              </a:ext>
            </a:extLst>
          </p:cNvPr>
          <p:cNvSpPr/>
          <p:nvPr/>
        </p:nvSpPr>
        <p:spPr>
          <a:xfrm>
            <a:off x="7000348" y="3182177"/>
            <a:ext cx="1600200" cy="502920"/>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 sz="1050">
                <a:solidFill>
                  <a:srgbClr val="005096"/>
                </a:solidFill>
                <a:latin typeface="+mj-ea"/>
                <a:ea typeface="+mj-ea"/>
              </a:rPr>
              <a:t>LLM-as-Judge</a:t>
            </a:r>
          </a:p>
          <a:p>
            <a:pPr algn="ctr"/>
            <a:r>
              <a:rPr lang="zh-CN" altLang="en-US" sz="1050">
                <a:solidFill>
                  <a:srgbClr val="005096"/>
                </a:solidFill>
                <a:latin typeface="+mj-ea"/>
                <a:ea typeface="+mj-ea"/>
              </a:rPr>
              <a:t>通过 </a:t>
            </a:r>
            <a:r>
              <a:rPr lang="en-US" altLang="zh-CN" sz="1050">
                <a:solidFill>
                  <a:srgbClr val="005096"/>
                </a:solidFill>
                <a:latin typeface="+mj-ea"/>
                <a:ea typeface="+mj-ea"/>
              </a:rPr>
              <a:t>/ </a:t>
            </a:r>
            <a:r>
              <a:rPr lang="zh-CN" altLang="en-US" sz="1050">
                <a:solidFill>
                  <a:srgbClr val="005096"/>
                </a:solidFill>
                <a:latin typeface="+mj-ea"/>
                <a:ea typeface="+mj-ea"/>
              </a:rPr>
              <a:t>打回</a:t>
            </a:r>
          </a:p>
        </p:txBody>
      </p:sp>
      <p:sp>
        <p:nvSpPr>
          <p:cNvPr id="28" name="Right Arrow 10020">
            <a:extLst>
              <a:ext uri="{FF2B5EF4-FFF2-40B4-BE49-F238E27FC236}">
                <a16:creationId xmlns:a16="http://schemas.microsoft.com/office/drawing/2014/main" id="{6D47DA0E-22C8-8749-8A63-DD32E7EE1D98}"/>
              </a:ext>
            </a:extLst>
          </p:cNvPr>
          <p:cNvSpPr/>
          <p:nvPr/>
        </p:nvSpPr>
        <p:spPr>
          <a:xfrm>
            <a:off x="2272617" y="3304261"/>
            <a:ext cx="383409" cy="256032"/>
          </a:xfrm>
          <a:prstGeom prst="rightArrow">
            <a:avLst/>
          </a:prstGeom>
          <a:solidFill>
            <a:srgbClr val="00B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29" name="Right Arrow 10021">
            <a:extLst>
              <a:ext uri="{FF2B5EF4-FFF2-40B4-BE49-F238E27FC236}">
                <a16:creationId xmlns:a16="http://schemas.microsoft.com/office/drawing/2014/main" id="{D2A60D38-8C03-C979-CD9C-92CC6755551B}"/>
              </a:ext>
            </a:extLst>
          </p:cNvPr>
          <p:cNvSpPr/>
          <p:nvPr/>
        </p:nvSpPr>
        <p:spPr>
          <a:xfrm>
            <a:off x="4346174" y="3304261"/>
            <a:ext cx="429766" cy="256032"/>
          </a:xfrm>
          <a:prstGeom prst="rightArrow">
            <a:avLst/>
          </a:prstGeom>
          <a:solidFill>
            <a:srgbClr val="00B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30" name="Right Arrow 10022">
            <a:extLst>
              <a:ext uri="{FF2B5EF4-FFF2-40B4-BE49-F238E27FC236}">
                <a16:creationId xmlns:a16="http://schemas.microsoft.com/office/drawing/2014/main" id="{F18C221D-C004-E594-C528-7FEBB9531172}"/>
              </a:ext>
            </a:extLst>
          </p:cNvPr>
          <p:cNvSpPr/>
          <p:nvPr/>
        </p:nvSpPr>
        <p:spPr>
          <a:xfrm>
            <a:off x="6513608" y="3304261"/>
            <a:ext cx="448056" cy="256032"/>
          </a:xfrm>
          <a:prstGeom prst="rightArrow">
            <a:avLst/>
          </a:prstGeom>
          <a:solidFill>
            <a:srgbClr val="00B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31" name="Rectangle 10023">
            <a:extLst>
              <a:ext uri="{FF2B5EF4-FFF2-40B4-BE49-F238E27FC236}">
                <a16:creationId xmlns:a16="http://schemas.microsoft.com/office/drawing/2014/main" id="{4B696B75-FCAB-0FC3-2603-BE65DA1ABBE3}"/>
              </a:ext>
            </a:extLst>
          </p:cNvPr>
          <p:cNvSpPr/>
          <p:nvPr/>
        </p:nvSpPr>
        <p:spPr>
          <a:xfrm>
            <a:off x="502920" y="3768335"/>
            <a:ext cx="8119872" cy="502920"/>
          </a:xfrm>
          <a:prstGeom prst="rect">
            <a:avLst/>
          </a:prstGeom>
          <a:solidFill>
            <a:srgbClr val="B7DDFF">
              <a:alpha val="23137"/>
            </a:srgbClr>
          </a:solidFill>
          <a:ln>
            <a:noFill/>
          </a:ln>
        </p:spPr>
        <p:txBody>
          <a:bodyPr anchor="ctr"/>
          <a:lstStyle/>
          <a:p>
            <a:pPr algn="r"/>
            <a:endParaRPr sz="1200" b="1">
              <a:solidFill>
                <a:schemeClr val="accent1"/>
              </a:solidFill>
              <a:latin typeface="+mj-ea"/>
              <a:ea typeface="+mj-ea"/>
            </a:endParaRPr>
          </a:p>
        </p:txBody>
      </p:sp>
      <p:sp>
        <p:nvSpPr>
          <p:cNvPr id="32" name="TextBox 10024">
            <a:extLst>
              <a:ext uri="{FF2B5EF4-FFF2-40B4-BE49-F238E27FC236}">
                <a16:creationId xmlns:a16="http://schemas.microsoft.com/office/drawing/2014/main" id="{527C4BFC-936C-A683-BB95-2A6BBDD4938B}"/>
              </a:ext>
            </a:extLst>
          </p:cNvPr>
          <p:cNvSpPr txBox="1"/>
          <p:nvPr/>
        </p:nvSpPr>
        <p:spPr>
          <a:xfrm>
            <a:off x="728958" y="3926022"/>
            <a:ext cx="1476755" cy="340894"/>
          </a:xfrm>
          <a:prstGeom prst="rect">
            <a:avLst/>
          </a:prstGeom>
          <a:noFill/>
        </p:spPr>
        <p:txBody>
          <a:bodyPr wrap="square" lIns="45720" tIns="18288" rIns="45720" bIns="18288">
            <a:normAutofit/>
          </a:bodyPr>
          <a:lstStyle/>
          <a:p>
            <a:pPr algn="l"/>
            <a:r>
              <a:rPr lang="zh-CN" altLang="en-US" sz="1100" b="1">
                <a:solidFill>
                  <a:srgbClr val="005096"/>
                </a:solidFill>
                <a:latin typeface="+mj-ea"/>
                <a:ea typeface="+mj-ea"/>
              </a:rPr>
              <a:t>生产链路</a:t>
            </a:r>
          </a:p>
        </p:txBody>
      </p:sp>
      <p:sp>
        <p:nvSpPr>
          <p:cNvPr id="33" name="TextBox 10025">
            <a:extLst>
              <a:ext uri="{FF2B5EF4-FFF2-40B4-BE49-F238E27FC236}">
                <a16:creationId xmlns:a16="http://schemas.microsoft.com/office/drawing/2014/main" id="{0855C92A-E8D3-CE80-81E4-5A0093BF2156}"/>
              </a:ext>
            </a:extLst>
          </p:cNvPr>
          <p:cNvSpPr txBox="1"/>
          <p:nvPr/>
        </p:nvSpPr>
        <p:spPr>
          <a:xfrm>
            <a:off x="1696828" y="3926022"/>
            <a:ext cx="6949440" cy="256032"/>
          </a:xfrm>
          <a:prstGeom prst="rect">
            <a:avLst/>
          </a:prstGeom>
          <a:noFill/>
        </p:spPr>
        <p:txBody>
          <a:bodyPr wrap="square" lIns="45720" tIns="18288" rIns="45720" bIns="18288">
            <a:normAutofit/>
          </a:bodyPr>
          <a:lstStyle/>
          <a:p>
            <a:pPr algn="l"/>
            <a:r>
              <a:rPr lang="zh-CN" altLang="en-US" sz="1000" b="0">
                <a:solidFill>
                  <a:srgbClr val="3C3C3C"/>
                </a:solidFill>
                <a:latin typeface="+mj-ea"/>
                <a:ea typeface="+mj-ea"/>
              </a:rPr>
              <a:t>人工 </a:t>
            </a:r>
            <a:r>
              <a:rPr lang="en-US" altLang="zh-CN" sz="1000" b="0">
                <a:solidFill>
                  <a:srgbClr val="3C3C3C"/>
                </a:solidFill>
                <a:latin typeface="+mj-ea"/>
                <a:ea typeface="+mj-ea"/>
              </a:rPr>
              <a:t>/ </a:t>
            </a:r>
            <a:r>
              <a:rPr lang="en" sz="1000" b="0">
                <a:solidFill>
                  <a:srgbClr val="3C3C3C"/>
                </a:solidFill>
                <a:latin typeface="+mj-ea"/>
                <a:ea typeface="+mj-ea"/>
              </a:rPr>
              <a:t>API </a:t>
            </a:r>
            <a:r>
              <a:rPr lang="zh-CN" altLang="en-US" sz="1000" b="0">
                <a:solidFill>
                  <a:srgbClr val="3C3C3C"/>
                </a:solidFill>
                <a:latin typeface="+mj-ea"/>
                <a:ea typeface="+mj-ea"/>
              </a:rPr>
              <a:t>触发 → </a:t>
            </a:r>
            <a:r>
              <a:rPr lang="en" sz="1000" b="0">
                <a:solidFill>
                  <a:srgbClr val="3C3C3C"/>
                </a:solidFill>
                <a:latin typeface="+mj-ea"/>
                <a:ea typeface="+mj-ea"/>
              </a:rPr>
              <a:t>EWork </a:t>
            </a:r>
            <a:r>
              <a:rPr lang="zh-CN" altLang="en-US" sz="1000" b="0">
                <a:solidFill>
                  <a:srgbClr val="3C3C3C"/>
                </a:solidFill>
                <a:latin typeface="+mj-ea"/>
                <a:ea typeface="+mj-ea"/>
              </a:rPr>
              <a:t>编排 → 内容裂变 </a:t>
            </a:r>
            <a:r>
              <a:rPr lang="en" sz="1000" b="0">
                <a:solidFill>
                  <a:srgbClr val="3C3C3C"/>
                </a:solidFill>
                <a:latin typeface="+mj-ea"/>
                <a:ea typeface="+mj-ea"/>
              </a:rPr>
              <a:t>Agent </a:t>
            </a:r>
            <a:r>
              <a:rPr lang="zh-CN" altLang="en-US" sz="1000" b="0">
                <a:solidFill>
                  <a:srgbClr val="3C3C3C"/>
                </a:solidFill>
                <a:latin typeface="+mj-ea"/>
                <a:ea typeface="+mj-ea"/>
              </a:rPr>
              <a:t>执行 → 多模态模型生成 → 质检 </a:t>
            </a:r>
            <a:r>
              <a:rPr lang="en" sz="1000" b="0">
                <a:solidFill>
                  <a:srgbClr val="3C3C3C"/>
                </a:solidFill>
                <a:latin typeface="+mj-ea"/>
                <a:ea typeface="+mj-ea"/>
              </a:rPr>
              <a:t>Agent </a:t>
            </a:r>
            <a:r>
              <a:rPr lang="zh-CN" altLang="en-US" sz="1000" b="0">
                <a:solidFill>
                  <a:srgbClr val="3C3C3C"/>
                </a:solidFill>
                <a:latin typeface="+mj-ea"/>
                <a:ea typeface="+mj-ea"/>
              </a:rPr>
              <a:t>校验 → 制品库与日志回写</a:t>
            </a:r>
          </a:p>
        </p:txBody>
      </p:sp>
      <p:sp>
        <p:nvSpPr>
          <p:cNvPr id="34" name="TextBox 10026">
            <a:extLst>
              <a:ext uri="{FF2B5EF4-FFF2-40B4-BE49-F238E27FC236}">
                <a16:creationId xmlns:a16="http://schemas.microsoft.com/office/drawing/2014/main" id="{F20F9AB1-DC50-417E-6975-D90215841FF6}"/>
              </a:ext>
            </a:extLst>
          </p:cNvPr>
          <p:cNvSpPr txBox="1"/>
          <p:nvPr/>
        </p:nvSpPr>
        <p:spPr>
          <a:xfrm>
            <a:off x="567509" y="4401590"/>
            <a:ext cx="8226553" cy="237744"/>
          </a:xfrm>
          <a:prstGeom prst="rect">
            <a:avLst/>
          </a:prstGeom>
          <a:noFill/>
        </p:spPr>
        <p:txBody>
          <a:bodyPr wrap="square" lIns="45720" tIns="18288" rIns="45720" bIns="18288">
            <a:normAutofit fontScale="85000" lnSpcReduction="10000"/>
          </a:bodyPr>
          <a:lstStyle/>
          <a:p>
            <a:pPr algn="l"/>
            <a:r>
              <a:rPr lang="zh-CN" altLang="en-US" sz="1150" b="1">
                <a:solidFill>
                  <a:srgbClr val="005096"/>
                </a:solidFill>
                <a:latin typeface="+mj-ea"/>
                <a:ea typeface="+mj-ea"/>
              </a:rPr>
              <a:t>把营销内容生产从“人工逐个改写”升级为“可编排、可质检、可复用的智能内容流水线”，让业务素材快速适配不同人群、产品和渠道。</a:t>
            </a:r>
            <a:endParaRPr sz="1150" b="1">
              <a:solidFill>
                <a:srgbClr val="005096"/>
              </a:solidFill>
              <a:latin typeface="+mj-ea"/>
              <a:ea typeface="+mj-ea"/>
            </a:endParaRPr>
          </a:p>
        </p:txBody>
      </p:sp>
    </p:spTree>
    <p:extLst>
      <p:ext uri="{BB962C8B-B14F-4D97-AF65-F5344CB8AC3E}">
        <p14:creationId xmlns:p14="http://schemas.microsoft.com/office/powerpoint/2010/main" val="2388017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229" y="0"/>
            <a:ext cx="7308433" cy="792163"/>
          </a:xfrm>
          <a:prstGeom prst="rect">
            <a:avLst/>
          </a:prstGeom>
          <a:noFill/>
        </p:spPr>
        <p:txBody>
          <a:bodyPr wrap="square" rtlCol="0" anchor="ctr">
            <a:noAutofit/>
          </a:bodyPr>
          <a:lstStyle/>
          <a:p>
            <a:pPr algn="l"/>
            <a:endParaRPr lang="zh-CN" altLang="en-US" sz="2300" b="1" dirty="0">
              <a:solidFill>
                <a:srgbClr val="FFFFFF"/>
              </a:solidFill>
              <a:latin typeface="华文黑体_易方达" pitchFamily="2" charset="-122"/>
              <a:ea typeface="华文黑体_易方达" pitchFamily="2" charset="-122"/>
              <a:cs typeface="MS PGothic" charset="0"/>
              <a:sym typeface="+mn-ea"/>
            </a:endParaRPr>
          </a:p>
        </p:txBody>
      </p:sp>
      <p:sp>
        <p:nvSpPr>
          <p:cNvPr id="109" name="文本框 108"/>
          <p:cNvSpPr txBox="1"/>
          <p:nvPr/>
        </p:nvSpPr>
        <p:spPr>
          <a:xfrm>
            <a:off x="157829" y="810814"/>
            <a:ext cx="2963233" cy="386009"/>
          </a:xfrm>
          <a:prstGeom prst="rect">
            <a:avLst/>
          </a:prstGeom>
          <a:noFill/>
        </p:spPr>
        <p:txBody>
          <a:bodyPr wrap="square" rtlCol="0" anchor="t">
            <a:noAutofit/>
          </a:bodyPr>
          <a:lstStyle/>
          <a:p>
            <a:pPr algn="l">
              <a:lnSpc>
                <a:spcPct val="150000"/>
              </a:lnSpc>
            </a:pPr>
            <a:endParaRPr lang="zh-CN" altLang="en-US" sz="1200" dirty="0">
              <a:solidFill>
                <a:srgbClr val="005096"/>
              </a:solidFill>
              <a:latin typeface="华文黑体_易方达" pitchFamily="2" charset="-122"/>
              <a:ea typeface="华文黑体_易方达" pitchFamily="2" charset="-122"/>
              <a:cs typeface="华文黑体_易方达" pitchFamily="2" charset="-122"/>
              <a:sym typeface="+mn-ea"/>
            </a:endParaRPr>
          </a:p>
        </p:txBody>
      </p:sp>
      <p:sp>
        <p:nvSpPr>
          <p:cNvPr id="32" name="Title 1"/>
          <p:cNvSpPr txBox="1"/>
          <p:nvPr/>
        </p:nvSpPr>
        <p:spPr bwMode="auto">
          <a:xfrm>
            <a:off x="367045" y="211437"/>
            <a:ext cx="6293079" cy="267799"/>
          </a:xfrm>
          <a:prstGeom prst="rect">
            <a:avLst/>
          </a:prstGeom>
          <a:noFill/>
          <a:ln>
            <a:noFill/>
          </a:ln>
        </p:spPr>
        <p:txBody>
          <a:bodyPr vert="horz" wrap="square" lIns="0" tIns="0" rIns="0" bIns="45678" numCol="1" anchor="t" anchorCtr="0" compatLnSpc="1"/>
          <a:lstStyle>
            <a:lvl1pPr algn="l" rtl="0" eaLnBrk="1" fontAlgn="base" hangingPunct="1">
              <a:spcBef>
                <a:spcPct val="0"/>
              </a:spcBef>
              <a:spcAft>
                <a:spcPct val="0"/>
              </a:spcAft>
              <a:defRPr sz="900" b="0" i="0" baseline="0">
                <a:solidFill>
                  <a:schemeClr val="bg1"/>
                </a:solidFill>
                <a:latin typeface="Arial" charset="0"/>
                <a:ea typeface="华文黑体" charset="-122"/>
                <a:cs typeface="华文细黑"/>
              </a:defRPr>
            </a:lvl1pPr>
            <a:lvl2pPr algn="l" rtl="0" eaLnBrk="1" fontAlgn="base" hangingPunct="1">
              <a:spcBef>
                <a:spcPct val="0"/>
              </a:spcBef>
              <a:spcAft>
                <a:spcPct val="0"/>
              </a:spcAft>
              <a:defRPr sz="3600">
                <a:solidFill>
                  <a:schemeClr val="tx1"/>
                </a:solidFill>
                <a:latin typeface="黑体" charset="-122"/>
                <a:ea typeface="黑体" charset="-122"/>
                <a:cs typeface="MS PGothic" charset="0"/>
              </a:defRPr>
            </a:lvl2pPr>
            <a:lvl3pPr algn="l" rtl="0" eaLnBrk="1" fontAlgn="base" hangingPunct="1">
              <a:spcBef>
                <a:spcPct val="0"/>
              </a:spcBef>
              <a:spcAft>
                <a:spcPct val="0"/>
              </a:spcAft>
              <a:defRPr sz="3600">
                <a:solidFill>
                  <a:schemeClr val="tx1"/>
                </a:solidFill>
                <a:latin typeface="黑体" charset="-122"/>
                <a:ea typeface="黑体" charset="-122"/>
                <a:cs typeface="MS PGothic" charset="0"/>
              </a:defRPr>
            </a:lvl3pPr>
            <a:lvl4pPr algn="l" rtl="0" eaLnBrk="1" fontAlgn="base" hangingPunct="1">
              <a:spcBef>
                <a:spcPct val="0"/>
              </a:spcBef>
              <a:spcAft>
                <a:spcPct val="0"/>
              </a:spcAft>
              <a:defRPr sz="3600">
                <a:solidFill>
                  <a:schemeClr val="tx1"/>
                </a:solidFill>
                <a:latin typeface="黑体" charset="-122"/>
                <a:ea typeface="黑体" charset="-122"/>
                <a:cs typeface="MS PGothic" charset="0"/>
              </a:defRPr>
            </a:lvl4pPr>
            <a:lvl5pPr algn="l" rtl="0" eaLnBrk="1" fontAlgn="base" hangingPunct="1">
              <a:spcBef>
                <a:spcPct val="0"/>
              </a:spcBef>
              <a:spcAft>
                <a:spcPct val="0"/>
              </a:spcAft>
              <a:defRPr sz="3600">
                <a:solidFill>
                  <a:schemeClr val="tx1"/>
                </a:solidFill>
                <a:latin typeface="黑体" charset="-122"/>
                <a:ea typeface="黑体" charset="-122"/>
                <a:cs typeface="MS PGothic" charset="0"/>
              </a:defRPr>
            </a:lvl5pPr>
            <a:lvl6pPr marL="457200" algn="l" rtl="0" eaLnBrk="1" fontAlgn="base" hangingPunct="1">
              <a:spcBef>
                <a:spcPct val="0"/>
              </a:spcBef>
              <a:spcAft>
                <a:spcPct val="0"/>
              </a:spcAft>
              <a:defRPr sz="3600">
                <a:solidFill>
                  <a:srgbClr val="5F294F"/>
                </a:solidFill>
                <a:latin typeface="Arial Narrow" charset="0"/>
                <a:ea typeface="MS PGothic" charset="0"/>
                <a:cs typeface="MS PGothic" charset="0"/>
              </a:defRPr>
            </a:lvl6pPr>
            <a:lvl7pPr marL="914400" algn="l" rtl="0" eaLnBrk="1" fontAlgn="base" hangingPunct="1">
              <a:spcBef>
                <a:spcPct val="0"/>
              </a:spcBef>
              <a:spcAft>
                <a:spcPct val="0"/>
              </a:spcAft>
              <a:defRPr sz="3600">
                <a:solidFill>
                  <a:srgbClr val="5F294F"/>
                </a:solidFill>
                <a:latin typeface="Arial Narrow" charset="0"/>
                <a:ea typeface="MS PGothic" charset="0"/>
                <a:cs typeface="MS PGothic" charset="0"/>
              </a:defRPr>
            </a:lvl7pPr>
            <a:lvl8pPr marL="1371600" algn="l" rtl="0" eaLnBrk="1" fontAlgn="base" hangingPunct="1">
              <a:spcBef>
                <a:spcPct val="0"/>
              </a:spcBef>
              <a:spcAft>
                <a:spcPct val="0"/>
              </a:spcAft>
              <a:defRPr sz="3600">
                <a:solidFill>
                  <a:srgbClr val="5F294F"/>
                </a:solidFill>
                <a:latin typeface="Arial Narrow" charset="0"/>
                <a:ea typeface="MS PGothic" charset="0"/>
                <a:cs typeface="MS PGothic" charset="0"/>
              </a:defRPr>
            </a:lvl8pPr>
            <a:lvl9pPr marL="1828800" algn="l" rtl="0" eaLnBrk="1" fontAlgn="base" hangingPunct="1">
              <a:spcBef>
                <a:spcPct val="0"/>
              </a:spcBef>
              <a:spcAft>
                <a:spcPct val="0"/>
              </a:spcAft>
              <a:defRPr sz="3600">
                <a:solidFill>
                  <a:srgbClr val="5F294F"/>
                </a:solidFill>
                <a:latin typeface="Arial Narrow" charset="0"/>
                <a:ea typeface="MS PGothic" charset="0"/>
                <a:cs typeface="MS PGothic" charset="0"/>
              </a:defRPr>
            </a:lvl9pPr>
          </a:lstStyle>
          <a:p>
            <a:r>
              <a:rPr lang="en-US" altLang="zh-CN" sz="2300" b="1" kern="0" dirty="0">
                <a:solidFill>
                  <a:srgbClr val="FFFFFF"/>
                </a:solidFill>
                <a:latin typeface="华文黑体_易方达" pitchFamily="2" charset="-122"/>
                <a:ea typeface="华文黑体_易方达" pitchFamily="2" charset="-122"/>
              </a:rPr>
              <a:t>EWork</a:t>
            </a:r>
            <a:r>
              <a:rPr lang="zh-CN" altLang="en-US" sz="2300" b="1" kern="0" dirty="0">
                <a:solidFill>
                  <a:srgbClr val="FFFFFF"/>
                </a:solidFill>
                <a:latin typeface="华文黑体_易方达" pitchFamily="2" charset="-122"/>
                <a:ea typeface="华文黑体_易方达" pitchFamily="2" charset="-122"/>
              </a:rPr>
              <a:t>在日常使用生产中持续沉淀技能</a:t>
            </a:r>
          </a:p>
        </p:txBody>
      </p:sp>
      <p:sp>
        <p:nvSpPr>
          <p:cNvPr id="117" name="文本框 116"/>
          <p:cNvSpPr txBox="1"/>
          <p:nvPr/>
        </p:nvSpPr>
        <p:spPr>
          <a:xfrm>
            <a:off x="367044" y="829466"/>
            <a:ext cx="8363530" cy="655059"/>
          </a:xfrm>
          <a:prstGeom prst="rect">
            <a:avLst/>
          </a:prstGeom>
          <a:noFill/>
        </p:spPr>
        <p:txBody>
          <a:bodyPr wrap="square" rtlCol="0" anchor="t">
            <a:noAutofit/>
          </a:bodyPr>
          <a:lstStyle/>
          <a:p>
            <a:pPr>
              <a:lnSpc>
                <a:spcPct val="150000"/>
              </a:lnSpc>
            </a:pPr>
            <a:r>
              <a:rPr lang="en-GB" altLang="zh-CN" sz="1200" dirty="0" err="1">
                <a:solidFill>
                  <a:srgbClr val="005096"/>
                </a:solidFill>
                <a:latin typeface="华文黑体_易方达" pitchFamily="2" charset="-122"/>
                <a:ea typeface="华文黑体_易方达" pitchFamily="2" charset="-122"/>
                <a:cs typeface="华文黑体_易方达" pitchFamily="2" charset="-122"/>
                <a:sym typeface="+mn-ea"/>
              </a:rPr>
              <a:t>EWork</a:t>
            </a:r>
            <a:r>
              <a:rPr lang="zh-CN" altLang="en-US" sz="1200" dirty="0">
                <a:solidFill>
                  <a:srgbClr val="005096"/>
                </a:solidFill>
                <a:latin typeface="华文黑体_易方达" pitchFamily="2" charset="-122"/>
                <a:ea typeface="华文黑体_易方达" pitchFamily="2" charset="-122"/>
                <a:cs typeface="华文黑体_易方达" pitchFamily="2" charset="-122"/>
                <a:sym typeface="+mn-ea"/>
              </a:rPr>
              <a:t>平台中提供有专业的</a:t>
            </a:r>
            <a:r>
              <a:rPr lang="en-US" altLang="zh-CN" sz="1200" dirty="0">
                <a:solidFill>
                  <a:srgbClr val="005096"/>
                </a:solidFill>
                <a:latin typeface="华文黑体_易方达" pitchFamily="2" charset="-122"/>
                <a:ea typeface="华文黑体_易方达" pitchFamily="2" charset="-122"/>
                <a:cs typeface="华文黑体_易方达" pitchFamily="2" charset="-122"/>
                <a:sym typeface="+mn-ea"/>
              </a:rPr>
              <a:t>Skill</a:t>
            </a:r>
            <a:r>
              <a:rPr lang="zh-CN" altLang="en-US" sz="1200" dirty="0">
                <a:solidFill>
                  <a:srgbClr val="005096"/>
                </a:solidFill>
                <a:latin typeface="华文黑体_易方达" pitchFamily="2" charset="-122"/>
                <a:ea typeface="华文黑体_易方达" pitchFamily="2" charset="-122"/>
                <a:cs typeface="华文黑体_易方达" pitchFamily="2" charset="-122"/>
                <a:sym typeface="+mn-ea"/>
              </a:rPr>
              <a:t>技能市场模块，旨在激励公司各业务板块的业务专家、金科各团队技术专家共同安全合规地引入、建设、使用</a:t>
            </a:r>
            <a:r>
              <a:rPr lang="en-GB" altLang="zh-CN" sz="1200" dirty="0">
                <a:solidFill>
                  <a:srgbClr val="005096"/>
                </a:solidFill>
                <a:latin typeface="华文黑体_易方达" pitchFamily="2" charset="-122"/>
                <a:ea typeface="华文黑体_易方达" pitchFamily="2" charset="-122"/>
                <a:cs typeface="华文黑体_易方达" pitchFamily="2" charset="-122"/>
                <a:sym typeface="+mn-ea"/>
              </a:rPr>
              <a:t>skill</a:t>
            </a:r>
            <a:r>
              <a:rPr lang="zh-CN" altLang="en-GB" sz="1200" dirty="0">
                <a:solidFill>
                  <a:srgbClr val="005096"/>
                </a:solidFill>
                <a:latin typeface="华文黑体_易方达" pitchFamily="2" charset="-122"/>
                <a:ea typeface="华文黑体_易方达" pitchFamily="2" charset="-122"/>
                <a:cs typeface="华文黑体_易方达" pitchFamily="2" charset="-122"/>
                <a:sym typeface="+mn-ea"/>
              </a:rPr>
              <a:t>，</a:t>
            </a:r>
            <a:r>
              <a:rPr lang="zh-CN" altLang="en-US" sz="1200" dirty="0">
                <a:solidFill>
                  <a:srgbClr val="005096"/>
                </a:solidFill>
                <a:latin typeface="华文黑体_易方达" pitchFamily="2" charset="-122"/>
                <a:ea typeface="华文黑体_易方达" pitchFamily="2" charset="-122"/>
                <a:cs typeface="华文黑体_易方达" pitchFamily="2" charset="-122"/>
                <a:sym typeface="+mn-ea"/>
              </a:rPr>
              <a:t>沉淀公司</a:t>
            </a:r>
            <a:r>
              <a:rPr lang="en-GB" altLang="zh-CN" sz="1200" dirty="0">
                <a:solidFill>
                  <a:srgbClr val="005096"/>
                </a:solidFill>
                <a:latin typeface="华文黑体_易方达" pitchFamily="2" charset="-122"/>
                <a:ea typeface="华文黑体_易方达" pitchFamily="2" charset="-122"/>
                <a:cs typeface="华文黑体_易方达" pitchFamily="2" charset="-122"/>
                <a:sym typeface="+mn-ea"/>
              </a:rPr>
              <a:t>AI</a:t>
            </a:r>
            <a:r>
              <a:rPr lang="zh-CN" altLang="en-US" sz="1200" dirty="0">
                <a:solidFill>
                  <a:srgbClr val="005096"/>
                </a:solidFill>
                <a:latin typeface="华文黑体_易方达" pitchFamily="2" charset="-122"/>
                <a:ea typeface="华文黑体_易方达" pitchFamily="2" charset="-122"/>
                <a:cs typeface="华文黑体_易方达" pitchFamily="2" charset="-122"/>
                <a:sym typeface="+mn-ea"/>
              </a:rPr>
              <a:t>平台能力，更好地赋能每一位公司员工。</a:t>
            </a:r>
          </a:p>
          <a:p>
            <a:pPr>
              <a:lnSpc>
                <a:spcPct val="150000"/>
              </a:lnSpc>
            </a:pPr>
            <a:endParaRPr lang="zh-CN" altLang="en-US" sz="1200" dirty="0">
              <a:solidFill>
                <a:srgbClr val="005096"/>
              </a:solidFill>
              <a:latin typeface="华文黑体_易方达" pitchFamily="2" charset="-122"/>
              <a:ea typeface="华文黑体_易方达" pitchFamily="2" charset="-122"/>
              <a:cs typeface="华文黑体_易方达" pitchFamily="2" charset="-122"/>
              <a:sym typeface="+mn-ea"/>
            </a:endParaRPr>
          </a:p>
        </p:txBody>
      </p:sp>
      <p:grpSp>
        <p:nvGrpSpPr>
          <p:cNvPr id="87" name="组合 86"/>
          <p:cNvGrpSpPr/>
          <p:nvPr/>
        </p:nvGrpSpPr>
        <p:grpSpPr>
          <a:xfrm>
            <a:off x="722331" y="1635972"/>
            <a:ext cx="3411108" cy="866856"/>
            <a:chOff x="432520" y="1610680"/>
            <a:chExt cx="3414266" cy="867659"/>
          </a:xfrm>
        </p:grpSpPr>
        <p:sp>
          <p:nvSpPr>
            <p:cNvPr id="2" name="文本框 1"/>
            <p:cNvSpPr txBox="1"/>
            <p:nvPr/>
          </p:nvSpPr>
          <p:spPr>
            <a:xfrm>
              <a:off x="432520" y="1610680"/>
              <a:ext cx="3414266" cy="867659"/>
            </a:xfrm>
            <a:prstGeom prst="rect">
              <a:avLst/>
            </a:prstGeom>
            <a:solidFill>
              <a:srgbClr val="B7DDFF">
                <a:alpha val="23137"/>
              </a:srgbClr>
            </a:solidFill>
            <a:ln>
              <a:noFill/>
            </a:ln>
          </p:spPr>
          <p:txBody>
            <a:bodyPr anchor="ctr"/>
            <a:lstStyle>
              <a:defPPr>
                <a:defRPr lang="en-US"/>
              </a:defPPr>
              <a:lvl1pPr algn="r">
                <a:defRPr sz="1200" b="1">
                  <a:solidFill>
                    <a:schemeClr val="accent1"/>
                  </a:solidFill>
                  <a:latin typeface="+mj-ea"/>
                  <a:ea typeface="+mj-ea"/>
                </a:defRPr>
              </a:lvl1pPr>
            </a:lstStyle>
            <a:p>
              <a:endParaRPr lang="en-US" altLang="zh-CN" dirty="0">
                <a:sym typeface="+mn-lt"/>
              </a:endParaRPr>
            </a:p>
          </p:txBody>
        </p:sp>
        <p:sp>
          <p:nvSpPr>
            <p:cNvPr id="3" name="矩形 2"/>
            <p:cNvSpPr/>
            <p:nvPr/>
          </p:nvSpPr>
          <p:spPr>
            <a:xfrm>
              <a:off x="1091518" y="1694721"/>
              <a:ext cx="2096271" cy="253916"/>
            </a:xfrm>
            <a:prstGeom prst="rect">
              <a:avLst/>
            </a:prstGeom>
          </p:spPr>
          <p:txBody>
            <a:bodyPr wrap="square">
              <a:spAutoFit/>
            </a:bodyPr>
            <a:lstStyle/>
            <a:p>
              <a:pPr algn="ctr"/>
              <a:r>
                <a:rPr lang="zh-CN" altLang="en-US" sz="1050" dirty="0">
                  <a:solidFill>
                    <a:schemeClr val="accent1"/>
                  </a:solidFill>
                  <a:latin typeface="+mn-lt"/>
                  <a:ea typeface="+mn-ea"/>
                  <a:cs typeface="+mn-ea"/>
                  <a:sym typeface="+mn-lt"/>
                </a:rPr>
                <a:t>作为技能用户</a:t>
              </a:r>
              <a:endParaRPr lang="zh-CN" altLang="en-US" sz="2400" dirty="0">
                <a:solidFill>
                  <a:schemeClr val="accent1"/>
                </a:solidFill>
                <a:latin typeface="+mn-lt"/>
                <a:ea typeface="+mn-ea"/>
                <a:cs typeface="+mn-ea"/>
                <a:sym typeface="+mn-lt"/>
              </a:endParaRPr>
            </a:p>
          </p:txBody>
        </p:sp>
        <p:cxnSp>
          <p:nvCxnSpPr>
            <p:cNvPr id="5" name="直接连接符 59"/>
            <p:cNvCxnSpPr/>
            <p:nvPr/>
          </p:nvCxnSpPr>
          <p:spPr bwMode="auto">
            <a:xfrm>
              <a:off x="1871492" y="1994677"/>
              <a:ext cx="536322" cy="340"/>
            </a:xfrm>
            <a:prstGeom prst="line">
              <a:avLst/>
            </a:prstGeom>
            <a:ln>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32520" y="2028697"/>
              <a:ext cx="3414266" cy="307777"/>
            </a:xfrm>
            <a:prstGeom prst="rect">
              <a:avLst/>
            </a:prstGeom>
          </p:spPr>
          <p:txBody>
            <a:bodyPr wrap="square">
              <a:spAutoFit/>
            </a:bodyPr>
            <a:lstStyle/>
            <a:p>
              <a:pPr algn="ctr"/>
              <a:r>
                <a:rPr lang="zh-CN" altLang="en-US" sz="1400" dirty="0">
                  <a:solidFill>
                    <a:schemeClr val="accent1"/>
                  </a:solidFill>
                  <a:latin typeface="+mn-lt"/>
                  <a:ea typeface="+mn-ea"/>
                  <a:cs typeface="+mn-ea"/>
                  <a:sym typeface="+mn-lt"/>
                </a:rPr>
                <a:t>浏览、查找、下载安装和使用技能</a:t>
              </a:r>
            </a:p>
          </p:txBody>
        </p:sp>
      </p:grpSp>
      <p:grpSp>
        <p:nvGrpSpPr>
          <p:cNvPr id="88" name="组合 87"/>
          <p:cNvGrpSpPr/>
          <p:nvPr/>
        </p:nvGrpSpPr>
        <p:grpSpPr>
          <a:xfrm>
            <a:off x="722331" y="2629577"/>
            <a:ext cx="3411108" cy="866856"/>
            <a:chOff x="432520" y="2663817"/>
            <a:chExt cx="3414266" cy="867659"/>
          </a:xfrm>
        </p:grpSpPr>
        <p:sp>
          <p:nvSpPr>
            <p:cNvPr id="9" name="文本框 8"/>
            <p:cNvSpPr txBox="1"/>
            <p:nvPr/>
          </p:nvSpPr>
          <p:spPr>
            <a:xfrm>
              <a:off x="432520" y="2663817"/>
              <a:ext cx="3414266" cy="867659"/>
            </a:xfrm>
            <a:prstGeom prst="rect">
              <a:avLst/>
            </a:prstGeom>
            <a:solidFill>
              <a:srgbClr val="B7DDFF">
                <a:alpha val="23137"/>
              </a:srgbClr>
            </a:solidFill>
            <a:ln>
              <a:noFill/>
            </a:ln>
          </p:spPr>
          <p:txBody>
            <a:bodyPr anchor="ctr"/>
            <a:lstStyle>
              <a:defPPr>
                <a:defRPr lang="en-US"/>
              </a:defPPr>
              <a:lvl1pPr algn="r">
                <a:defRPr sz="1200" b="1">
                  <a:solidFill>
                    <a:schemeClr val="accent1"/>
                  </a:solidFill>
                  <a:latin typeface="+mj-ea"/>
                  <a:ea typeface="+mj-ea"/>
                </a:defRPr>
              </a:lvl1pPr>
            </a:lstStyle>
            <a:p>
              <a:endParaRPr lang="en-US" altLang="zh-CN" dirty="0">
                <a:sym typeface="+mn-lt"/>
              </a:endParaRPr>
            </a:p>
          </p:txBody>
        </p:sp>
        <p:sp>
          <p:nvSpPr>
            <p:cNvPr id="12" name="矩形 11"/>
            <p:cNvSpPr/>
            <p:nvPr/>
          </p:nvSpPr>
          <p:spPr>
            <a:xfrm>
              <a:off x="1091518" y="2776098"/>
              <a:ext cx="2096271" cy="253916"/>
            </a:xfrm>
            <a:prstGeom prst="rect">
              <a:avLst/>
            </a:prstGeom>
          </p:spPr>
          <p:txBody>
            <a:bodyPr wrap="square">
              <a:spAutoFit/>
            </a:bodyPr>
            <a:lstStyle/>
            <a:p>
              <a:pPr algn="ctr"/>
              <a:r>
                <a:rPr lang="zh-CN" altLang="en-US" sz="1050" dirty="0">
                  <a:solidFill>
                    <a:schemeClr val="accent2"/>
                  </a:solidFill>
                  <a:latin typeface="+mn-lt"/>
                  <a:ea typeface="+mn-ea"/>
                  <a:cs typeface="+mn-ea"/>
                  <a:sym typeface="+mn-lt"/>
                </a:rPr>
                <a:t>作为技能创作者</a:t>
              </a:r>
              <a:endParaRPr lang="zh-CN" altLang="en-US" sz="2400" dirty="0">
                <a:solidFill>
                  <a:schemeClr val="accent2"/>
                </a:solidFill>
                <a:latin typeface="+mn-lt"/>
                <a:ea typeface="+mn-ea"/>
                <a:cs typeface="+mn-ea"/>
                <a:sym typeface="+mn-lt"/>
              </a:endParaRPr>
            </a:p>
          </p:txBody>
        </p:sp>
        <p:cxnSp>
          <p:nvCxnSpPr>
            <p:cNvPr id="14" name="直接连接符 59"/>
            <p:cNvCxnSpPr/>
            <p:nvPr/>
          </p:nvCxnSpPr>
          <p:spPr bwMode="auto">
            <a:xfrm>
              <a:off x="1871492" y="3054060"/>
              <a:ext cx="536322" cy="340"/>
            </a:xfrm>
            <a:prstGeom prst="line">
              <a:avLst/>
            </a:prstGeom>
            <a:ln>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32520" y="3110074"/>
              <a:ext cx="3414266" cy="307777"/>
            </a:xfrm>
            <a:prstGeom prst="rect">
              <a:avLst/>
            </a:prstGeom>
          </p:spPr>
          <p:txBody>
            <a:bodyPr wrap="square">
              <a:spAutoFit/>
            </a:bodyPr>
            <a:lstStyle/>
            <a:p>
              <a:pPr algn="ctr"/>
              <a:r>
                <a:rPr lang="zh-CN" altLang="en-US" sz="1400" dirty="0">
                  <a:solidFill>
                    <a:schemeClr val="accent2"/>
                  </a:solidFill>
                  <a:latin typeface="+mn-lt"/>
                  <a:ea typeface="+mn-ea"/>
                  <a:cs typeface="+mn-ea"/>
                  <a:sym typeface="+mn-lt"/>
                </a:rPr>
                <a:t>协作、共建、共享和管理技能与套件</a:t>
              </a:r>
            </a:p>
          </p:txBody>
        </p:sp>
      </p:grpSp>
      <p:grpSp>
        <p:nvGrpSpPr>
          <p:cNvPr id="89" name="组合 88"/>
          <p:cNvGrpSpPr/>
          <p:nvPr/>
        </p:nvGrpSpPr>
        <p:grpSpPr>
          <a:xfrm>
            <a:off x="722331" y="3621253"/>
            <a:ext cx="3411108" cy="866856"/>
            <a:chOff x="432520" y="3698035"/>
            <a:chExt cx="3414266" cy="867659"/>
          </a:xfrm>
        </p:grpSpPr>
        <p:sp>
          <p:nvSpPr>
            <p:cNvPr id="10" name="文本框 9"/>
            <p:cNvSpPr txBox="1"/>
            <p:nvPr/>
          </p:nvSpPr>
          <p:spPr>
            <a:xfrm>
              <a:off x="432520" y="3698035"/>
              <a:ext cx="3414266" cy="867659"/>
            </a:xfrm>
            <a:prstGeom prst="rect">
              <a:avLst/>
            </a:prstGeom>
            <a:solidFill>
              <a:srgbClr val="B7DDFF">
                <a:alpha val="23137"/>
              </a:srgbClr>
            </a:solidFill>
            <a:ln>
              <a:noFill/>
            </a:ln>
          </p:spPr>
          <p:txBody>
            <a:bodyPr anchor="ctr"/>
            <a:lstStyle>
              <a:defPPr>
                <a:defRPr lang="en-US"/>
              </a:defPPr>
              <a:lvl1pPr algn="r">
                <a:defRPr sz="1200" b="1">
                  <a:solidFill>
                    <a:schemeClr val="accent1"/>
                  </a:solidFill>
                  <a:latin typeface="+mj-ea"/>
                  <a:ea typeface="+mj-ea"/>
                </a:defRPr>
              </a:lvl1pPr>
            </a:lstStyle>
            <a:p>
              <a:endParaRPr lang="en-US" altLang="zh-CN" dirty="0">
                <a:sym typeface="+mn-lt"/>
              </a:endParaRPr>
            </a:p>
          </p:txBody>
        </p:sp>
        <p:sp>
          <p:nvSpPr>
            <p:cNvPr id="17" name="矩形 16"/>
            <p:cNvSpPr/>
            <p:nvPr/>
          </p:nvSpPr>
          <p:spPr>
            <a:xfrm>
              <a:off x="1091518" y="3817718"/>
              <a:ext cx="2096271" cy="253916"/>
            </a:xfrm>
            <a:prstGeom prst="rect">
              <a:avLst/>
            </a:prstGeom>
          </p:spPr>
          <p:txBody>
            <a:bodyPr wrap="square">
              <a:spAutoFit/>
            </a:bodyPr>
            <a:lstStyle/>
            <a:p>
              <a:pPr algn="ctr"/>
              <a:r>
                <a:rPr lang="zh-CN" altLang="en-US" sz="1050" dirty="0">
                  <a:solidFill>
                    <a:schemeClr val="accent3"/>
                  </a:solidFill>
                  <a:latin typeface="+mn-lt"/>
                  <a:ea typeface="+mn-ea"/>
                  <a:cs typeface="+mn-ea"/>
                  <a:sym typeface="+mn-lt"/>
                </a:rPr>
                <a:t>作为技能管理员</a:t>
              </a:r>
              <a:endParaRPr lang="zh-CN" altLang="en-US" sz="2400" dirty="0">
                <a:solidFill>
                  <a:schemeClr val="accent3"/>
                </a:solidFill>
                <a:latin typeface="+mn-lt"/>
                <a:ea typeface="+mn-ea"/>
                <a:cs typeface="+mn-ea"/>
                <a:sym typeface="+mn-lt"/>
              </a:endParaRPr>
            </a:p>
          </p:txBody>
        </p:sp>
        <p:cxnSp>
          <p:nvCxnSpPr>
            <p:cNvPr id="18" name="直接连接符 59"/>
            <p:cNvCxnSpPr/>
            <p:nvPr/>
          </p:nvCxnSpPr>
          <p:spPr bwMode="auto">
            <a:xfrm>
              <a:off x="1871492" y="4095680"/>
              <a:ext cx="536322" cy="340"/>
            </a:xfrm>
            <a:prstGeom prst="line">
              <a:avLst/>
            </a:prstGeom>
            <a:ln>
              <a:solidFill>
                <a:schemeClr val="accent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432520" y="4151694"/>
              <a:ext cx="3414266" cy="307777"/>
            </a:xfrm>
            <a:prstGeom prst="rect">
              <a:avLst/>
            </a:prstGeom>
          </p:spPr>
          <p:txBody>
            <a:bodyPr wrap="square">
              <a:spAutoFit/>
            </a:bodyPr>
            <a:lstStyle/>
            <a:p>
              <a:pPr algn="ctr"/>
              <a:r>
                <a:rPr lang="zh-CN" altLang="en-US" sz="1400" dirty="0">
                  <a:solidFill>
                    <a:schemeClr val="accent3"/>
                  </a:solidFill>
                  <a:latin typeface="+mn-lt"/>
                  <a:ea typeface="+mn-ea"/>
                  <a:cs typeface="+mn-ea"/>
                  <a:sym typeface="+mn-lt"/>
                </a:rPr>
                <a:t>审批、管理技能和数据分析</a:t>
              </a:r>
            </a:p>
          </p:txBody>
        </p:sp>
      </p:grpSp>
      <p:grpSp>
        <p:nvGrpSpPr>
          <p:cNvPr id="43" name="组合 42"/>
          <p:cNvGrpSpPr/>
          <p:nvPr/>
        </p:nvGrpSpPr>
        <p:grpSpPr>
          <a:xfrm>
            <a:off x="4431472" y="1659154"/>
            <a:ext cx="3901482" cy="815407"/>
            <a:chOff x="378412" y="3697824"/>
            <a:chExt cx="3905094" cy="816162"/>
          </a:xfrm>
        </p:grpSpPr>
        <p:grpSp>
          <p:nvGrpSpPr>
            <p:cNvPr id="44" name="组合 43"/>
            <p:cNvGrpSpPr/>
            <p:nvPr/>
          </p:nvGrpSpPr>
          <p:grpSpPr>
            <a:xfrm>
              <a:off x="378412" y="3697824"/>
              <a:ext cx="1275914" cy="816162"/>
              <a:chOff x="378412" y="3697824"/>
              <a:chExt cx="1275914" cy="816162"/>
            </a:xfrm>
          </p:grpSpPr>
          <p:sp>
            <p:nvSpPr>
              <p:cNvPr id="55" name="文本框 54"/>
              <p:cNvSpPr txBox="1"/>
              <p:nvPr/>
            </p:nvSpPr>
            <p:spPr>
              <a:xfrm>
                <a:off x="389171" y="3697824"/>
                <a:ext cx="1254398" cy="816162"/>
              </a:xfrm>
              <a:prstGeom prst="rect">
                <a:avLst/>
              </a:prstGeom>
              <a:gradFill flip="none" rotWithShape="1">
                <a:gsLst>
                  <a:gs pos="0">
                    <a:srgbClr val="074E88"/>
                  </a:gs>
                  <a:gs pos="100000">
                    <a:srgbClr val="0171AD"/>
                  </a:gs>
                </a:gsLst>
                <a:path path="circle">
                  <a:fillToRect l="100000" t="100000"/>
                </a:path>
                <a:tileRect r="-100000" b="-100000"/>
              </a:gradFill>
            </p:spPr>
            <p:txBody>
              <a:bodyPr wrap="square" lIns="0" tIns="0" rIns="0" bIns="0" rtlCol="0" anchor="ctr" anchorCtr="1">
                <a:noAutofit/>
              </a:bodyPr>
              <a:lstStyle/>
              <a:p>
                <a:pPr algn="ctr" defTabSz="913130" fontAlgn="auto">
                  <a:lnSpc>
                    <a:spcPct val="150000"/>
                  </a:lnSpc>
                  <a:spcBef>
                    <a:spcPts val="0"/>
                  </a:spcBef>
                  <a:spcAft>
                    <a:spcPts val="0"/>
                  </a:spcAft>
                  <a:defRPr/>
                </a:pPr>
                <a:endParaRPr lang="en-US" altLang="zh-CN" sz="1000" kern="0" dirty="0">
                  <a:solidFill>
                    <a:srgbClr val="FFFFFF"/>
                  </a:solidFill>
                  <a:latin typeface="华文黑体_易方达" pitchFamily="2" charset="-122"/>
                  <a:ea typeface="华文黑体_易方达" pitchFamily="2" charset="-122"/>
                  <a:cs typeface="+mn-ea"/>
                  <a:sym typeface="+mn-lt"/>
                </a:endParaRPr>
              </a:p>
            </p:txBody>
          </p:sp>
          <p:sp>
            <p:nvSpPr>
              <p:cNvPr id="56" name="矩形 55"/>
              <p:cNvSpPr/>
              <p:nvPr/>
            </p:nvSpPr>
            <p:spPr>
              <a:xfrm>
                <a:off x="378412" y="3744028"/>
                <a:ext cx="1275914" cy="253916"/>
              </a:xfrm>
              <a:prstGeom prst="rect">
                <a:avLst/>
              </a:prstGeom>
            </p:spPr>
            <p:txBody>
              <a:bodyPr wrap="square">
                <a:spAutoFit/>
              </a:bodyPr>
              <a:lstStyle/>
              <a:p>
                <a:pPr algn="ctr" defTabSz="913130" fontAlgn="auto">
                  <a:spcBef>
                    <a:spcPts val="0"/>
                  </a:spcBef>
                  <a:spcAft>
                    <a:spcPts val="0"/>
                  </a:spcAft>
                  <a:defRPr/>
                </a:pPr>
                <a:r>
                  <a:rPr lang="zh-CN" altLang="en-US" sz="1050" kern="0" dirty="0">
                    <a:solidFill>
                      <a:srgbClr val="FFFFFF"/>
                    </a:solidFill>
                    <a:latin typeface="华文黑体_易方达" pitchFamily="2" charset="-122"/>
                    <a:ea typeface="华文黑体_易方达" pitchFamily="2" charset="-122"/>
                    <a:cs typeface="+mn-ea"/>
                    <a:sym typeface="+mn-lt"/>
                  </a:rPr>
                  <a:t>公司公开技能</a:t>
                </a:r>
                <a:endParaRPr lang="zh-CN" altLang="en-US" sz="1800" kern="0" dirty="0">
                  <a:solidFill>
                    <a:srgbClr val="FFFFFF"/>
                  </a:solidFill>
                  <a:latin typeface="华文黑体_易方达" pitchFamily="2" charset="-122"/>
                  <a:ea typeface="华文黑体_易方达" pitchFamily="2" charset="-122"/>
                  <a:cs typeface="+mn-ea"/>
                  <a:sym typeface="+mn-lt"/>
                </a:endParaRPr>
              </a:p>
            </p:txBody>
          </p:sp>
          <p:sp>
            <p:nvSpPr>
              <p:cNvPr id="57" name="矩形 56"/>
              <p:cNvSpPr/>
              <p:nvPr/>
            </p:nvSpPr>
            <p:spPr>
              <a:xfrm>
                <a:off x="389170" y="4022330"/>
                <a:ext cx="1254398" cy="461665"/>
              </a:xfrm>
              <a:prstGeom prst="rect">
                <a:avLst/>
              </a:prstGeom>
            </p:spPr>
            <p:txBody>
              <a:bodyPr wrap="square">
                <a:spAutoFit/>
              </a:bodyPr>
              <a:lstStyle/>
              <a:p>
                <a:pPr algn="ctr" defTabSz="913130" fontAlgn="auto">
                  <a:spcBef>
                    <a:spcPts val="0"/>
                  </a:spcBef>
                  <a:spcAft>
                    <a:spcPts val="0"/>
                  </a:spcAft>
                  <a:defRPr/>
                </a:pPr>
                <a:r>
                  <a:rPr lang="en-US" altLang="zh-CN" sz="2400" b="1" kern="0" dirty="0">
                    <a:solidFill>
                      <a:srgbClr val="FFFFFF"/>
                    </a:solidFill>
                    <a:latin typeface="+mj-lt"/>
                    <a:ea typeface="华文黑体_易方达" pitchFamily="2" charset="-122"/>
                    <a:cs typeface="+mn-ea"/>
                    <a:sym typeface="+mn-lt"/>
                  </a:rPr>
                  <a:t>数百</a:t>
                </a:r>
                <a:endParaRPr lang="zh-CN" altLang="en-US" sz="2400" b="1" kern="0" dirty="0">
                  <a:solidFill>
                    <a:srgbClr val="FFFFFF"/>
                  </a:solidFill>
                  <a:latin typeface="+mj-lt"/>
                  <a:ea typeface="华文黑体_易方达" pitchFamily="2" charset="-122"/>
                  <a:cs typeface="+mn-ea"/>
                  <a:sym typeface="+mn-lt"/>
                </a:endParaRPr>
              </a:p>
            </p:txBody>
          </p:sp>
          <p:cxnSp>
            <p:nvCxnSpPr>
              <p:cNvPr id="58" name="直接连接符 59"/>
              <p:cNvCxnSpPr/>
              <p:nvPr/>
            </p:nvCxnSpPr>
            <p:spPr bwMode="auto">
              <a:xfrm>
                <a:off x="821888" y="4025459"/>
                <a:ext cx="388963" cy="0"/>
              </a:xfrm>
              <a:prstGeom prst="line">
                <a:avLst/>
              </a:prstGeom>
              <a:noFill/>
              <a:ln w="9525" cap="flat" cmpd="sng" algn="ctr">
                <a:solidFill>
                  <a:srgbClr val="FFFFFF">
                    <a:lumMod val="75000"/>
                  </a:srgbClr>
                </a:solidFill>
                <a:prstDash val="solid"/>
                <a:headEnd type="none" w="med" len="med"/>
                <a:tailEnd type="none" w="med" len="med"/>
              </a:ln>
              <a:effectLst/>
            </p:spPr>
          </p:cxnSp>
        </p:grpSp>
        <p:grpSp>
          <p:nvGrpSpPr>
            <p:cNvPr id="45" name="组合 44"/>
            <p:cNvGrpSpPr/>
            <p:nvPr/>
          </p:nvGrpSpPr>
          <p:grpSpPr>
            <a:xfrm>
              <a:off x="1710898" y="3697824"/>
              <a:ext cx="1254398" cy="816162"/>
              <a:chOff x="1710898" y="3697824"/>
              <a:chExt cx="1254398" cy="816162"/>
            </a:xfrm>
          </p:grpSpPr>
          <p:sp>
            <p:nvSpPr>
              <p:cNvPr id="51" name="文本框 50"/>
              <p:cNvSpPr txBox="1"/>
              <p:nvPr/>
            </p:nvSpPr>
            <p:spPr>
              <a:xfrm>
                <a:off x="1710898" y="3697824"/>
                <a:ext cx="1254398" cy="816162"/>
              </a:xfrm>
              <a:prstGeom prst="rect">
                <a:avLst/>
              </a:prstGeom>
              <a:gradFill flip="none" rotWithShape="1">
                <a:gsLst>
                  <a:gs pos="0">
                    <a:srgbClr val="074E88"/>
                  </a:gs>
                  <a:gs pos="100000">
                    <a:srgbClr val="0171AD"/>
                  </a:gs>
                </a:gsLst>
                <a:path path="circle">
                  <a:fillToRect l="100000" t="100000"/>
                </a:path>
                <a:tileRect r="-100000" b="-100000"/>
              </a:gradFill>
            </p:spPr>
            <p:txBody>
              <a:bodyPr wrap="square" lIns="0" tIns="0" rIns="0" bIns="0" rtlCol="0" anchor="ctr" anchorCtr="1">
                <a:noAutofit/>
              </a:bodyPr>
              <a:lstStyle/>
              <a:p>
                <a:pPr algn="ctr" defTabSz="913130" fontAlgn="auto">
                  <a:lnSpc>
                    <a:spcPct val="150000"/>
                  </a:lnSpc>
                  <a:spcBef>
                    <a:spcPts val="0"/>
                  </a:spcBef>
                  <a:spcAft>
                    <a:spcPts val="0"/>
                  </a:spcAft>
                  <a:defRPr/>
                </a:pPr>
                <a:endParaRPr lang="en-US" altLang="zh-CN" sz="1000" kern="0" dirty="0">
                  <a:solidFill>
                    <a:srgbClr val="FFFFFF"/>
                  </a:solidFill>
                  <a:latin typeface="华文黑体_易方达" pitchFamily="2" charset="-122"/>
                  <a:ea typeface="华文黑体_易方达" pitchFamily="2" charset="-122"/>
                  <a:cs typeface="+mn-ea"/>
                  <a:sym typeface="+mn-lt"/>
                </a:endParaRPr>
              </a:p>
            </p:txBody>
          </p:sp>
          <p:sp>
            <p:nvSpPr>
              <p:cNvPr id="52" name="矩形 51"/>
              <p:cNvSpPr/>
              <p:nvPr/>
            </p:nvSpPr>
            <p:spPr>
              <a:xfrm>
                <a:off x="1710898" y="3744028"/>
                <a:ext cx="1254396" cy="253916"/>
              </a:xfrm>
              <a:prstGeom prst="rect">
                <a:avLst/>
              </a:prstGeom>
            </p:spPr>
            <p:txBody>
              <a:bodyPr wrap="square">
                <a:spAutoFit/>
              </a:bodyPr>
              <a:lstStyle/>
              <a:p>
                <a:pPr algn="ctr" defTabSz="913130" fontAlgn="auto">
                  <a:spcBef>
                    <a:spcPts val="0"/>
                  </a:spcBef>
                  <a:spcAft>
                    <a:spcPts val="0"/>
                  </a:spcAft>
                  <a:defRPr/>
                </a:pPr>
                <a:r>
                  <a:rPr lang="zh-CN" altLang="en-US" sz="1050" kern="0" dirty="0">
                    <a:solidFill>
                      <a:srgbClr val="FFFFFF"/>
                    </a:solidFill>
                    <a:latin typeface="华文黑体_易方达" pitchFamily="2" charset="-122"/>
                    <a:ea typeface="华文黑体_易方达" pitchFamily="2" charset="-122"/>
                    <a:cs typeface="+mn-ea"/>
                    <a:sym typeface="+mn-lt"/>
                  </a:rPr>
                  <a:t>群组可见技能</a:t>
                </a:r>
                <a:endParaRPr lang="zh-CN" altLang="en-US" sz="1800" kern="0" dirty="0">
                  <a:solidFill>
                    <a:srgbClr val="FFFFFF"/>
                  </a:solidFill>
                  <a:latin typeface="华文黑体_易方达" pitchFamily="2" charset="-122"/>
                  <a:ea typeface="华文黑体_易方达" pitchFamily="2" charset="-122"/>
                  <a:cs typeface="+mn-ea"/>
                  <a:sym typeface="+mn-lt"/>
                </a:endParaRPr>
              </a:p>
            </p:txBody>
          </p:sp>
          <p:sp>
            <p:nvSpPr>
              <p:cNvPr id="53" name="矩形 52"/>
              <p:cNvSpPr/>
              <p:nvPr/>
            </p:nvSpPr>
            <p:spPr>
              <a:xfrm>
                <a:off x="1720997" y="4022560"/>
                <a:ext cx="1234198" cy="461665"/>
              </a:xfrm>
              <a:prstGeom prst="rect">
                <a:avLst/>
              </a:prstGeom>
            </p:spPr>
            <p:txBody>
              <a:bodyPr wrap="square">
                <a:spAutoFit/>
              </a:bodyPr>
              <a:lstStyle/>
              <a:p>
                <a:pPr algn="ctr" defTabSz="913130" fontAlgn="auto">
                  <a:spcBef>
                    <a:spcPts val="0"/>
                  </a:spcBef>
                  <a:spcAft>
                    <a:spcPts val="0"/>
                  </a:spcAft>
                  <a:defRPr/>
                </a:pPr>
                <a:r>
                  <a:rPr lang="en-US" altLang="zh-CN" sz="2400" b="1" kern="0" dirty="0">
                    <a:solidFill>
                      <a:srgbClr val="FFFFFF"/>
                    </a:solidFill>
                    <a:latin typeface="+mj-lt"/>
                    <a:ea typeface="华文黑体_易方达" pitchFamily="2" charset="-122"/>
                    <a:cs typeface="+mn-ea"/>
                    <a:sym typeface="+mn-lt"/>
                  </a:rPr>
                  <a:t>近两百</a:t>
                </a:r>
                <a:endParaRPr lang="zh-CN" altLang="en-US" sz="2400" b="1" kern="0" dirty="0">
                  <a:solidFill>
                    <a:srgbClr val="FFFFFF"/>
                  </a:solidFill>
                  <a:latin typeface="+mj-lt"/>
                  <a:ea typeface="华文黑体_易方达" pitchFamily="2" charset="-122"/>
                  <a:cs typeface="+mn-ea"/>
                  <a:sym typeface="+mn-lt"/>
                </a:endParaRPr>
              </a:p>
            </p:txBody>
          </p:sp>
          <p:cxnSp>
            <p:nvCxnSpPr>
              <p:cNvPr id="54" name="直接连接符 60"/>
              <p:cNvCxnSpPr/>
              <p:nvPr/>
            </p:nvCxnSpPr>
            <p:spPr bwMode="auto">
              <a:xfrm>
                <a:off x="2143614" y="4025459"/>
                <a:ext cx="388963" cy="0"/>
              </a:xfrm>
              <a:prstGeom prst="line">
                <a:avLst/>
              </a:prstGeom>
              <a:noFill/>
              <a:ln w="9525" cap="flat" cmpd="sng" algn="ctr">
                <a:solidFill>
                  <a:srgbClr val="FFFFFF">
                    <a:lumMod val="75000"/>
                  </a:srgbClr>
                </a:solidFill>
                <a:prstDash val="solid"/>
                <a:headEnd type="none" w="med" len="med"/>
                <a:tailEnd type="none" w="med" len="med"/>
              </a:ln>
              <a:effectLst/>
            </p:spPr>
          </p:cxnSp>
        </p:grpSp>
        <p:grpSp>
          <p:nvGrpSpPr>
            <p:cNvPr id="46" name="组合 45"/>
            <p:cNvGrpSpPr/>
            <p:nvPr/>
          </p:nvGrpSpPr>
          <p:grpSpPr>
            <a:xfrm>
              <a:off x="3029107" y="3697824"/>
              <a:ext cx="1254399" cy="816162"/>
              <a:chOff x="3029107" y="3697824"/>
              <a:chExt cx="1254399" cy="816162"/>
            </a:xfrm>
          </p:grpSpPr>
          <p:sp>
            <p:nvSpPr>
              <p:cNvPr id="47" name="文本框 46"/>
              <p:cNvSpPr txBox="1"/>
              <p:nvPr/>
            </p:nvSpPr>
            <p:spPr>
              <a:xfrm>
                <a:off x="3029108" y="3697824"/>
                <a:ext cx="1254398" cy="816162"/>
              </a:xfrm>
              <a:prstGeom prst="rect">
                <a:avLst/>
              </a:prstGeom>
              <a:gradFill flip="none" rotWithShape="1">
                <a:gsLst>
                  <a:gs pos="0">
                    <a:srgbClr val="074E88"/>
                  </a:gs>
                  <a:gs pos="100000">
                    <a:srgbClr val="0171AD"/>
                  </a:gs>
                </a:gsLst>
                <a:path path="circle">
                  <a:fillToRect l="100000" t="100000"/>
                </a:path>
                <a:tileRect r="-100000" b="-100000"/>
              </a:gradFill>
            </p:spPr>
            <p:txBody>
              <a:bodyPr wrap="square" lIns="0" tIns="0" rIns="0" bIns="0" rtlCol="0" anchor="ctr" anchorCtr="1">
                <a:noAutofit/>
              </a:bodyPr>
              <a:lstStyle/>
              <a:p>
                <a:pPr algn="ctr" defTabSz="913130" fontAlgn="auto">
                  <a:lnSpc>
                    <a:spcPct val="150000"/>
                  </a:lnSpc>
                  <a:spcBef>
                    <a:spcPts val="0"/>
                  </a:spcBef>
                  <a:spcAft>
                    <a:spcPts val="0"/>
                  </a:spcAft>
                  <a:defRPr/>
                </a:pPr>
                <a:endParaRPr lang="en-US" altLang="zh-CN" sz="1000" kern="0" dirty="0">
                  <a:solidFill>
                    <a:srgbClr val="FFFFFF"/>
                  </a:solidFill>
                  <a:latin typeface="华文黑体_易方达" pitchFamily="2" charset="-122"/>
                  <a:ea typeface="华文黑体_易方达" pitchFamily="2" charset="-122"/>
                  <a:cs typeface="+mn-ea"/>
                  <a:sym typeface="+mn-lt"/>
                </a:endParaRPr>
              </a:p>
            </p:txBody>
          </p:sp>
          <p:sp>
            <p:nvSpPr>
              <p:cNvPr id="48" name="矩形 47"/>
              <p:cNvSpPr/>
              <p:nvPr/>
            </p:nvSpPr>
            <p:spPr>
              <a:xfrm>
                <a:off x="3055176" y="3744028"/>
                <a:ext cx="1158842" cy="253916"/>
              </a:xfrm>
              <a:prstGeom prst="rect">
                <a:avLst/>
              </a:prstGeom>
            </p:spPr>
            <p:txBody>
              <a:bodyPr wrap="square">
                <a:spAutoFit/>
              </a:bodyPr>
              <a:lstStyle/>
              <a:p>
                <a:pPr algn="ctr" defTabSz="913130" fontAlgn="auto">
                  <a:spcBef>
                    <a:spcPts val="0"/>
                  </a:spcBef>
                  <a:spcAft>
                    <a:spcPts val="0"/>
                  </a:spcAft>
                  <a:defRPr/>
                </a:pPr>
                <a:r>
                  <a:rPr lang="zh-CN" altLang="en-US" sz="1050" kern="0" dirty="0">
                    <a:solidFill>
                      <a:srgbClr val="FFFFFF"/>
                    </a:solidFill>
                    <a:latin typeface="华文黑体_易方达" pitchFamily="2" charset="-122"/>
                    <a:ea typeface="华文黑体_易方达" pitchFamily="2" charset="-122"/>
                    <a:cs typeface="+mn-ea"/>
                    <a:sym typeface="+mn-lt"/>
                  </a:rPr>
                  <a:t>私有技能</a:t>
                </a:r>
                <a:endParaRPr lang="zh-CN" altLang="en-US" sz="1800" kern="0" dirty="0">
                  <a:solidFill>
                    <a:srgbClr val="FFFFFF"/>
                  </a:solidFill>
                  <a:latin typeface="华文黑体_易方达" pitchFamily="2" charset="-122"/>
                  <a:ea typeface="华文黑体_易方达" pitchFamily="2" charset="-122"/>
                  <a:cs typeface="+mn-ea"/>
                  <a:sym typeface="+mn-lt"/>
                </a:endParaRPr>
              </a:p>
            </p:txBody>
          </p:sp>
          <p:sp>
            <p:nvSpPr>
              <p:cNvPr id="49" name="矩形 48"/>
              <p:cNvSpPr/>
              <p:nvPr/>
            </p:nvSpPr>
            <p:spPr>
              <a:xfrm>
                <a:off x="3029107" y="4014316"/>
                <a:ext cx="1254399" cy="461665"/>
              </a:xfrm>
              <a:prstGeom prst="rect">
                <a:avLst/>
              </a:prstGeom>
            </p:spPr>
            <p:txBody>
              <a:bodyPr wrap="square">
                <a:spAutoFit/>
              </a:bodyPr>
              <a:lstStyle/>
              <a:p>
                <a:pPr algn="ctr" defTabSz="913130" fontAlgn="auto">
                  <a:spcBef>
                    <a:spcPts val="0"/>
                  </a:spcBef>
                  <a:spcAft>
                    <a:spcPts val="0"/>
                  </a:spcAft>
                  <a:defRPr/>
                </a:pPr>
                <a:r>
                  <a:rPr lang="en-US" altLang="zh-CN" sz="2400" b="1" kern="0" dirty="0">
                    <a:solidFill>
                      <a:srgbClr val="FFFFFF"/>
                    </a:solidFill>
                    <a:latin typeface="+mj-lt"/>
                    <a:ea typeface="华文黑体_易方达" pitchFamily="2" charset="-122"/>
                    <a:cs typeface="+mn-ea"/>
                    <a:sym typeface="+mn-lt"/>
                  </a:rPr>
                  <a:t>数百</a:t>
                </a:r>
                <a:endParaRPr lang="zh-CN" altLang="en-US" sz="2400" b="1" kern="0" dirty="0">
                  <a:solidFill>
                    <a:srgbClr val="FFFFFF"/>
                  </a:solidFill>
                  <a:latin typeface="+mj-lt"/>
                  <a:ea typeface="华文黑体_易方达" pitchFamily="2" charset="-122"/>
                  <a:cs typeface="+mn-ea"/>
                  <a:sym typeface="+mn-lt"/>
                </a:endParaRPr>
              </a:p>
            </p:txBody>
          </p:sp>
          <p:cxnSp>
            <p:nvCxnSpPr>
              <p:cNvPr id="50" name="直接连接符 61"/>
              <p:cNvCxnSpPr/>
              <p:nvPr/>
            </p:nvCxnSpPr>
            <p:spPr bwMode="auto">
              <a:xfrm>
                <a:off x="3461825" y="4025459"/>
                <a:ext cx="388963" cy="0"/>
              </a:xfrm>
              <a:prstGeom prst="line">
                <a:avLst/>
              </a:prstGeom>
              <a:noFill/>
              <a:ln w="9525" cap="flat" cmpd="sng" algn="ctr">
                <a:solidFill>
                  <a:srgbClr val="FFFFFF">
                    <a:lumMod val="75000"/>
                  </a:srgbClr>
                </a:solidFill>
                <a:prstDash val="solid"/>
                <a:headEnd type="none" w="med" len="med"/>
                <a:tailEnd type="none" w="med" len="med"/>
              </a:ln>
              <a:effectLst/>
            </p:spPr>
          </p:cxnSp>
        </p:grpSp>
      </p:grpSp>
      <p:grpSp>
        <p:nvGrpSpPr>
          <p:cNvPr id="59" name="组合 58"/>
          <p:cNvGrpSpPr/>
          <p:nvPr/>
        </p:nvGrpSpPr>
        <p:grpSpPr>
          <a:xfrm>
            <a:off x="4442220" y="2648324"/>
            <a:ext cx="3916729" cy="829361"/>
            <a:chOff x="387858" y="3842626"/>
            <a:chExt cx="4360163" cy="830129"/>
          </a:xfrm>
        </p:grpSpPr>
        <p:sp>
          <p:nvSpPr>
            <p:cNvPr id="60" name="文本框 59"/>
            <p:cNvSpPr txBox="1"/>
            <p:nvPr/>
          </p:nvSpPr>
          <p:spPr>
            <a:xfrm>
              <a:off x="395288" y="3842626"/>
              <a:ext cx="1392545" cy="816162"/>
            </a:xfrm>
            <a:prstGeom prst="rect">
              <a:avLst/>
            </a:prstGeom>
            <a:gradFill flip="none" rotWithShape="1">
              <a:gsLst>
                <a:gs pos="0">
                  <a:schemeClr val="accent2"/>
                </a:gs>
                <a:gs pos="100000">
                  <a:schemeClr val="accent2">
                    <a:lumMod val="60000"/>
                    <a:lumOff val="40000"/>
                  </a:schemeClr>
                </a:gs>
              </a:gsLst>
              <a:path path="circle">
                <a:fillToRect l="100000" t="100000"/>
              </a:path>
              <a:tileRect r="-100000" b="-100000"/>
            </a:gradFill>
          </p:spPr>
          <p:txBody>
            <a:bodyPr wrap="square" lIns="0" tIns="0" rIns="0" bIns="0" rtlCol="0" anchor="ctr" anchorCtr="1">
              <a:noAutofit/>
            </a:bodyPr>
            <a:lstStyle/>
            <a:p>
              <a:pPr algn="ctr">
                <a:lnSpc>
                  <a:spcPct val="150000"/>
                </a:lnSpc>
              </a:pPr>
              <a:endParaRPr lang="en-US" altLang="zh-CN" sz="1000" dirty="0">
                <a:solidFill>
                  <a:schemeClr val="bg1"/>
                </a:solidFill>
                <a:latin typeface="+mn-lt"/>
                <a:ea typeface="+mn-ea"/>
                <a:cs typeface="+mn-ea"/>
                <a:sym typeface="+mn-lt"/>
              </a:endParaRPr>
            </a:p>
          </p:txBody>
        </p:sp>
        <p:sp>
          <p:nvSpPr>
            <p:cNvPr id="61" name="文本框 60"/>
            <p:cNvSpPr txBox="1"/>
            <p:nvPr/>
          </p:nvSpPr>
          <p:spPr>
            <a:xfrm>
              <a:off x="1863659" y="3842626"/>
              <a:ext cx="1392545" cy="816162"/>
            </a:xfrm>
            <a:prstGeom prst="rect">
              <a:avLst/>
            </a:prstGeom>
            <a:gradFill flip="none" rotWithShape="1">
              <a:gsLst>
                <a:gs pos="0">
                  <a:schemeClr val="accent2"/>
                </a:gs>
                <a:gs pos="100000">
                  <a:schemeClr val="accent2">
                    <a:lumMod val="60000"/>
                    <a:lumOff val="40000"/>
                  </a:schemeClr>
                </a:gs>
              </a:gsLst>
              <a:path path="circle">
                <a:fillToRect l="100000" t="100000"/>
              </a:path>
              <a:tileRect r="-100000" b="-100000"/>
            </a:gradFill>
          </p:spPr>
          <p:txBody>
            <a:bodyPr wrap="square" lIns="0" tIns="0" rIns="0" bIns="0" rtlCol="0" anchor="ctr" anchorCtr="1">
              <a:noAutofit/>
            </a:bodyPr>
            <a:lstStyle/>
            <a:p>
              <a:pPr algn="ctr">
                <a:lnSpc>
                  <a:spcPct val="150000"/>
                </a:lnSpc>
              </a:pPr>
              <a:endParaRPr lang="en-US" altLang="zh-CN" sz="1000" dirty="0">
                <a:solidFill>
                  <a:schemeClr val="bg1"/>
                </a:solidFill>
                <a:latin typeface="+mn-lt"/>
                <a:ea typeface="+mn-ea"/>
                <a:cs typeface="+mn-ea"/>
                <a:sym typeface="+mn-lt"/>
              </a:endParaRPr>
            </a:p>
          </p:txBody>
        </p:sp>
        <p:sp>
          <p:nvSpPr>
            <p:cNvPr id="62" name="文本框 61"/>
            <p:cNvSpPr txBox="1"/>
            <p:nvPr/>
          </p:nvSpPr>
          <p:spPr>
            <a:xfrm>
              <a:off x="3324601" y="3856593"/>
              <a:ext cx="1392545" cy="816162"/>
            </a:xfrm>
            <a:prstGeom prst="rect">
              <a:avLst/>
            </a:prstGeom>
            <a:gradFill flip="none" rotWithShape="1">
              <a:gsLst>
                <a:gs pos="0">
                  <a:schemeClr val="accent2"/>
                </a:gs>
                <a:gs pos="100000">
                  <a:schemeClr val="accent2">
                    <a:lumMod val="60000"/>
                    <a:lumOff val="40000"/>
                  </a:schemeClr>
                </a:gs>
              </a:gsLst>
              <a:path path="circle">
                <a:fillToRect l="100000" t="100000"/>
              </a:path>
              <a:tileRect r="-100000" b="-100000"/>
            </a:gradFill>
          </p:spPr>
          <p:txBody>
            <a:bodyPr wrap="square" lIns="0" tIns="0" rIns="0" bIns="0" rtlCol="0" anchor="ctr" anchorCtr="1">
              <a:noAutofit/>
            </a:bodyPr>
            <a:lstStyle/>
            <a:p>
              <a:pPr algn="ctr">
                <a:lnSpc>
                  <a:spcPct val="150000"/>
                </a:lnSpc>
              </a:pPr>
              <a:endParaRPr lang="en-US" altLang="zh-CN" sz="1000" dirty="0">
                <a:solidFill>
                  <a:schemeClr val="bg1"/>
                </a:solidFill>
                <a:latin typeface="+mn-lt"/>
                <a:ea typeface="+mn-ea"/>
                <a:cs typeface="+mn-ea"/>
                <a:sym typeface="+mn-lt"/>
              </a:endParaRPr>
            </a:p>
          </p:txBody>
        </p:sp>
        <p:sp>
          <p:nvSpPr>
            <p:cNvPr id="63" name="矩形 62"/>
            <p:cNvSpPr/>
            <p:nvPr/>
          </p:nvSpPr>
          <p:spPr>
            <a:xfrm>
              <a:off x="387858" y="3886713"/>
              <a:ext cx="1407404" cy="253916"/>
            </a:xfrm>
            <a:prstGeom prst="rect">
              <a:avLst/>
            </a:prstGeom>
          </p:spPr>
          <p:txBody>
            <a:bodyPr wrap="square">
              <a:spAutoFit/>
            </a:bodyPr>
            <a:lstStyle/>
            <a:p>
              <a:pPr algn="ctr"/>
              <a:r>
                <a:rPr lang="zh-CN" altLang="en-US" sz="1050" dirty="0">
                  <a:solidFill>
                    <a:schemeClr val="bg1"/>
                  </a:solidFill>
                  <a:latin typeface="+mn-lt"/>
                  <a:ea typeface="+mn-ea"/>
                  <a:cs typeface="+mn-ea"/>
                  <a:sym typeface="+mn-lt"/>
                </a:rPr>
                <a:t>技能创作者</a:t>
              </a:r>
              <a:endParaRPr lang="zh-CN" altLang="en-US" sz="2400" dirty="0">
                <a:solidFill>
                  <a:schemeClr val="bg1"/>
                </a:solidFill>
                <a:latin typeface="+mn-lt"/>
                <a:ea typeface="+mn-ea"/>
                <a:cs typeface="+mn-ea"/>
                <a:sym typeface="+mn-lt"/>
              </a:endParaRPr>
            </a:p>
          </p:txBody>
        </p:sp>
        <p:sp>
          <p:nvSpPr>
            <p:cNvPr id="64" name="矩形 63"/>
            <p:cNvSpPr/>
            <p:nvPr/>
          </p:nvSpPr>
          <p:spPr>
            <a:xfrm>
              <a:off x="547949" y="4193307"/>
              <a:ext cx="1087222" cy="461665"/>
            </a:xfrm>
            <a:prstGeom prst="rect">
              <a:avLst/>
            </a:prstGeom>
          </p:spPr>
          <p:txBody>
            <a:bodyPr wrap="square">
              <a:spAutoFit/>
            </a:bodyPr>
            <a:lstStyle/>
            <a:p>
              <a:pPr algn="ctr"/>
              <a:r>
                <a:rPr lang="en-US" altLang="zh-CN" sz="2400" b="1" dirty="0">
                  <a:solidFill>
                    <a:schemeClr val="bg1"/>
                  </a:solidFill>
                  <a:latin typeface="+mn-lt"/>
                  <a:ea typeface="+mn-ea"/>
                  <a:cs typeface="+mn-ea"/>
                  <a:sym typeface="+mn-lt"/>
                </a:rPr>
                <a:t>近两百</a:t>
              </a:r>
              <a:endParaRPr lang="zh-CN" altLang="en-US" sz="2400" b="1" dirty="0">
                <a:solidFill>
                  <a:schemeClr val="bg1"/>
                </a:solidFill>
                <a:latin typeface="+mn-lt"/>
                <a:ea typeface="+mn-ea"/>
                <a:cs typeface="+mn-ea"/>
                <a:sym typeface="+mn-lt"/>
              </a:endParaRPr>
            </a:p>
          </p:txBody>
        </p:sp>
        <p:sp>
          <p:nvSpPr>
            <p:cNvPr id="65" name="矩形 64"/>
            <p:cNvSpPr/>
            <p:nvPr/>
          </p:nvSpPr>
          <p:spPr>
            <a:xfrm>
              <a:off x="1866641" y="3886713"/>
              <a:ext cx="1386581" cy="253916"/>
            </a:xfrm>
            <a:prstGeom prst="rect">
              <a:avLst/>
            </a:prstGeom>
          </p:spPr>
          <p:txBody>
            <a:bodyPr wrap="square" lIns="71933" rIns="71933">
              <a:spAutoFit/>
            </a:bodyPr>
            <a:lstStyle/>
            <a:p>
              <a:pPr algn="ctr"/>
              <a:r>
                <a:rPr lang="zh-CN" altLang="en-US" sz="1050" dirty="0">
                  <a:solidFill>
                    <a:schemeClr val="bg1"/>
                  </a:solidFill>
                  <a:latin typeface="+mn-lt"/>
                  <a:ea typeface="+mn-ea"/>
                  <a:cs typeface="+mn-ea"/>
                  <a:sym typeface="+mn-lt"/>
                </a:rPr>
                <a:t>非金科创作者</a:t>
              </a:r>
              <a:endParaRPr lang="zh-CN" altLang="en-US" sz="2400" dirty="0">
                <a:solidFill>
                  <a:schemeClr val="bg1"/>
                </a:solidFill>
                <a:latin typeface="+mn-lt"/>
                <a:ea typeface="+mn-ea"/>
                <a:cs typeface="+mn-ea"/>
                <a:sym typeface="+mn-lt"/>
              </a:endParaRPr>
            </a:p>
          </p:txBody>
        </p:sp>
        <p:sp>
          <p:nvSpPr>
            <p:cNvPr id="66" name="矩形 65"/>
            <p:cNvSpPr/>
            <p:nvPr/>
          </p:nvSpPr>
          <p:spPr>
            <a:xfrm>
              <a:off x="2016320" y="4193307"/>
              <a:ext cx="1087222" cy="461665"/>
            </a:xfrm>
            <a:prstGeom prst="rect">
              <a:avLst/>
            </a:prstGeom>
          </p:spPr>
          <p:txBody>
            <a:bodyPr wrap="square">
              <a:spAutoFit/>
            </a:bodyPr>
            <a:lstStyle/>
            <a:p>
              <a:pPr algn="ctr"/>
              <a:r>
                <a:rPr lang="en-US" altLang="zh-CN" sz="2400" b="1" dirty="0">
                  <a:solidFill>
                    <a:schemeClr val="bg1"/>
                  </a:solidFill>
                  <a:latin typeface="+mn-lt"/>
                  <a:ea typeface="+mn-ea"/>
                  <a:cs typeface="+mn-ea"/>
                  <a:sym typeface="+mn-lt"/>
                </a:rPr>
                <a:t>近百</a:t>
              </a:r>
              <a:endParaRPr lang="zh-CN" altLang="en-US" sz="2400" b="1" dirty="0">
                <a:solidFill>
                  <a:schemeClr val="bg1"/>
                </a:solidFill>
                <a:latin typeface="+mn-lt"/>
                <a:ea typeface="+mn-ea"/>
                <a:cs typeface="+mn-ea"/>
                <a:sym typeface="+mn-lt"/>
              </a:endParaRPr>
            </a:p>
          </p:txBody>
        </p:sp>
        <p:sp>
          <p:nvSpPr>
            <p:cNvPr id="67" name="矩形 66"/>
            <p:cNvSpPr/>
            <p:nvPr/>
          </p:nvSpPr>
          <p:spPr>
            <a:xfrm>
              <a:off x="3293725" y="3886713"/>
              <a:ext cx="1454296" cy="253916"/>
            </a:xfrm>
            <a:prstGeom prst="rect">
              <a:avLst/>
            </a:prstGeom>
          </p:spPr>
          <p:txBody>
            <a:bodyPr wrap="square">
              <a:spAutoFit/>
            </a:bodyPr>
            <a:lstStyle/>
            <a:p>
              <a:pPr algn="ctr"/>
              <a:r>
                <a:rPr lang="zh-CN" altLang="en-US" sz="1050" dirty="0">
                  <a:solidFill>
                    <a:schemeClr val="bg1"/>
                  </a:solidFill>
                  <a:latin typeface="+mn-lt"/>
                  <a:ea typeface="+mn-ea"/>
                  <a:cs typeface="+mn-ea"/>
                  <a:sym typeface="+mn-lt"/>
                </a:rPr>
                <a:t>涉及部门</a:t>
              </a:r>
            </a:p>
          </p:txBody>
        </p:sp>
        <p:sp>
          <p:nvSpPr>
            <p:cNvPr id="68" name="矩形 67"/>
            <p:cNvSpPr/>
            <p:nvPr/>
          </p:nvSpPr>
          <p:spPr>
            <a:xfrm>
              <a:off x="3477262" y="4193307"/>
              <a:ext cx="1087222" cy="461665"/>
            </a:xfrm>
            <a:prstGeom prst="rect">
              <a:avLst/>
            </a:prstGeom>
          </p:spPr>
          <p:txBody>
            <a:bodyPr wrap="square">
              <a:spAutoFit/>
            </a:bodyPr>
            <a:lstStyle/>
            <a:p>
              <a:pPr algn="ctr"/>
              <a:r>
                <a:rPr lang="en-US" altLang="zh-CN" sz="2400" b="1" dirty="0">
                  <a:solidFill>
                    <a:schemeClr val="bg1"/>
                  </a:solidFill>
                  <a:latin typeface="+mn-lt"/>
                  <a:ea typeface="+mn-ea"/>
                  <a:cs typeface="+mn-ea"/>
                  <a:sym typeface="+mn-lt"/>
                </a:rPr>
                <a:t>数十</a:t>
              </a:r>
              <a:endParaRPr lang="zh-CN" altLang="en-US" sz="2400" b="1" dirty="0">
                <a:solidFill>
                  <a:schemeClr val="bg1"/>
                </a:solidFill>
                <a:latin typeface="+mn-lt"/>
                <a:ea typeface="+mn-ea"/>
                <a:cs typeface="+mn-ea"/>
                <a:sym typeface="+mn-lt"/>
              </a:endParaRPr>
            </a:p>
          </p:txBody>
        </p:sp>
        <p:cxnSp>
          <p:nvCxnSpPr>
            <p:cNvPr id="69" name="直接连接符 75"/>
            <p:cNvCxnSpPr/>
            <p:nvPr/>
          </p:nvCxnSpPr>
          <p:spPr bwMode="auto">
            <a:xfrm>
              <a:off x="875660" y="4176722"/>
              <a:ext cx="431800" cy="0"/>
            </a:xfrm>
            <a:prstGeom prst="line">
              <a:avLst/>
            </a:prstGeom>
            <a:ln>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0" name="直接连接符 76"/>
            <p:cNvCxnSpPr/>
            <p:nvPr/>
          </p:nvCxnSpPr>
          <p:spPr bwMode="auto">
            <a:xfrm>
              <a:off x="2344031" y="4176722"/>
              <a:ext cx="431800" cy="0"/>
            </a:xfrm>
            <a:prstGeom prst="line">
              <a:avLst/>
            </a:prstGeom>
            <a:ln>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1" name="直接连接符 77"/>
            <p:cNvCxnSpPr/>
            <p:nvPr/>
          </p:nvCxnSpPr>
          <p:spPr bwMode="auto">
            <a:xfrm>
              <a:off x="3804973" y="4176722"/>
              <a:ext cx="431800" cy="0"/>
            </a:xfrm>
            <a:prstGeom prst="line">
              <a:avLst/>
            </a:prstGeom>
            <a:ln>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grpSp>
        <p:nvGrpSpPr>
          <p:cNvPr id="74" name="组合 73"/>
          <p:cNvGrpSpPr/>
          <p:nvPr/>
        </p:nvGrpSpPr>
        <p:grpSpPr>
          <a:xfrm>
            <a:off x="4448895" y="3640172"/>
            <a:ext cx="3916729" cy="829361"/>
            <a:chOff x="387858" y="3842626"/>
            <a:chExt cx="4360163" cy="830129"/>
          </a:xfrm>
        </p:grpSpPr>
        <p:sp>
          <p:nvSpPr>
            <p:cNvPr id="75" name="文本框 74"/>
            <p:cNvSpPr txBox="1"/>
            <p:nvPr/>
          </p:nvSpPr>
          <p:spPr>
            <a:xfrm>
              <a:off x="395288" y="3842626"/>
              <a:ext cx="1392545" cy="816162"/>
            </a:xfrm>
            <a:prstGeom prst="rect">
              <a:avLst/>
            </a:prstGeom>
            <a:gradFill flip="none" rotWithShape="1">
              <a:gsLst>
                <a:gs pos="0">
                  <a:schemeClr val="accent2"/>
                </a:gs>
                <a:gs pos="100000">
                  <a:schemeClr val="accent2">
                    <a:lumMod val="60000"/>
                    <a:lumOff val="40000"/>
                  </a:schemeClr>
                </a:gs>
              </a:gsLst>
              <a:path path="circle">
                <a:fillToRect l="100000" t="100000"/>
              </a:path>
              <a:tileRect r="-100000" b="-100000"/>
            </a:gradFill>
          </p:spPr>
          <p:txBody>
            <a:bodyPr wrap="square" lIns="0" tIns="0" rIns="0" bIns="0" rtlCol="0" anchor="ctr" anchorCtr="1">
              <a:noAutofit/>
            </a:bodyPr>
            <a:lstStyle/>
            <a:p>
              <a:pPr algn="ctr">
                <a:lnSpc>
                  <a:spcPct val="150000"/>
                </a:lnSpc>
              </a:pPr>
              <a:endParaRPr lang="en-US" altLang="zh-CN" sz="1000" dirty="0">
                <a:solidFill>
                  <a:schemeClr val="bg1"/>
                </a:solidFill>
                <a:latin typeface="+mn-lt"/>
                <a:ea typeface="+mn-ea"/>
                <a:cs typeface="+mn-ea"/>
                <a:sym typeface="+mn-lt"/>
              </a:endParaRPr>
            </a:p>
          </p:txBody>
        </p:sp>
        <p:sp>
          <p:nvSpPr>
            <p:cNvPr id="76" name="文本框 75"/>
            <p:cNvSpPr txBox="1"/>
            <p:nvPr/>
          </p:nvSpPr>
          <p:spPr>
            <a:xfrm>
              <a:off x="1863659" y="3842626"/>
              <a:ext cx="1392545" cy="816162"/>
            </a:xfrm>
            <a:prstGeom prst="rect">
              <a:avLst/>
            </a:prstGeom>
            <a:gradFill flip="none" rotWithShape="1">
              <a:gsLst>
                <a:gs pos="0">
                  <a:schemeClr val="accent2"/>
                </a:gs>
                <a:gs pos="100000">
                  <a:schemeClr val="accent2">
                    <a:lumMod val="60000"/>
                    <a:lumOff val="40000"/>
                  </a:schemeClr>
                </a:gs>
              </a:gsLst>
              <a:path path="circle">
                <a:fillToRect l="100000" t="100000"/>
              </a:path>
              <a:tileRect r="-100000" b="-100000"/>
            </a:gradFill>
          </p:spPr>
          <p:txBody>
            <a:bodyPr wrap="square" lIns="0" tIns="0" rIns="0" bIns="0" rtlCol="0" anchor="ctr" anchorCtr="1">
              <a:noAutofit/>
            </a:bodyPr>
            <a:lstStyle/>
            <a:p>
              <a:pPr algn="ctr">
                <a:lnSpc>
                  <a:spcPct val="150000"/>
                </a:lnSpc>
              </a:pPr>
              <a:endParaRPr lang="en-US" altLang="zh-CN" sz="1000" dirty="0">
                <a:solidFill>
                  <a:schemeClr val="bg1"/>
                </a:solidFill>
                <a:latin typeface="+mn-lt"/>
                <a:ea typeface="+mn-ea"/>
                <a:cs typeface="+mn-ea"/>
                <a:sym typeface="+mn-lt"/>
              </a:endParaRPr>
            </a:p>
          </p:txBody>
        </p:sp>
        <p:sp>
          <p:nvSpPr>
            <p:cNvPr id="77" name="文本框 76"/>
            <p:cNvSpPr txBox="1"/>
            <p:nvPr/>
          </p:nvSpPr>
          <p:spPr>
            <a:xfrm>
              <a:off x="3324601" y="3856593"/>
              <a:ext cx="1392545" cy="816162"/>
            </a:xfrm>
            <a:prstGeom prst="rect">
              <a:avLst/>
            </a:prstGeom>
            <a:gradFill flip="none" rotWithShape="1">
              <a:gsLst>
                <a:gs pos="0">
                  <a:schemeClr val="accent2"/>
                </a:gs>
                <a:gs pos="100000">
                  <a:schemeClr val="accent2">
                    <a:lumMod val="60000"/>
                    <a:lumOff val="40000"/>
                  </a:schemeClr>
                </a:gs>
              </a:gsLst>
              <a:path path="circle">
                <a:fillToRect l="100000" t="100000"/>
              </a:path>
              <a:tileRect r="-100000" b="-100000"/>
            </a:gradFill>
          </p:spPr>
          <p:txBody>
            <a:bodyPr wrap="square" lIns="0" tIns="0" rIns="0" bIns="0" rtlCol="0" anchor="ctr" anchorCtr="1">
              <a:noAutofit/>
            </a:bodyPr>
            <a:lstStyle/>
            <a:p>
              <a:pPr algn="ctr">
                <a:lnSpc>
                  <a:spcPct val="150000"/>
                </a:lnSpc>
              </a:pPr>
              <a:endParaRPr lang="en-US" altLang="zh-CN" sz="1000" dirty="0">
                <a:solidFill>
                  <a:schemeClr val="bg1"/>
                </a:solidFill>
                <a:latin typeface="+mn-lt"/>
                <a:ea typeface="+mn-ea"/>
                <a:cs typeface="+mn-ea"/>
                <a:sym typeface="+mn-lt"/>
              </a:endParaRPr>
            </a:p>
          </p:txBody>
        </p:sp>
        <p:sp>
          <p:nvSpPr>
            <p:cNvPr id="78" name="矩形 77"/>
            <p:cNvSpPr/>
            <p:nvPr/>
          </p:nvSpPr>
          <p:spPr>
            <a:xfrm>
              <a:off x="387858" y="3886713"/>
              <a:ext cx="1407404" cy="253916"/>
            </a:xfrm>
            <a:prstGeom prst="rect">
              <a:avLst/>
            </a:prstGeom>
          </p:spPr>
          <p:txBody>
            <a:bodyPr wrap="square">
              <a:spAutoFit/>
            </a:bodyPr>
            <a:lstStyle/>
            <a:p>
              <a:pPr algn="ctr"/>
              <a:r>
                <a:rPr lang="zh-CN" altLang="en-US" sz="1050" dirty="0">
                  <a:solidFill>
                    <a:schemeClr val="bg1"/>
                  </a:solidFill>
                  <a:latin typeface="+mn-lt"/>
                  <a:ea typeface="+mn-ea"/>
                  <a:cs typeface="+mn-ea"/>
                  <a:sym typeface="+mn-lt"/>
                </a:rPr>
                <a:t>技能下载安装</a:t>
              </a:r>
              <a:endParaRPr lang="zh-CN" altLang="en-US" sz="2400" dirty="0">
                <a:solidFill>
                  <a:schemeClr val="bg1"/>
                </a:solidFill>
                <a:latin typeface="+mn-lt"/>
                <a:ea typeface="+mn-ea"/>
                <a:cs typeface="+mn-ea"/>
                <a:sym typeface="+mn-lt"/>
              </a:endParaRPr>
            </a:p>
          </p:txBody>
        </p:sp>
        <p:sp>
          <p:nvSpPr>
            <p:cNvPr id="79" name="矩形 78"/>
            <p:cNvSpPr/>
            <p:nvPr/>
          </p:nvSpPr>
          <p:spPr>
            <a:xfrm>
              <a:off x="547949" y="4193307"/>
              <a:ext cx="1087222" cy="461665"/>
            </a:xfrm>
            <a:prstGeom prst="rect">
              <a:avLst/>
            </a:prstGeom>
          </p:spPr>
          <p:txBody>
            <a:bodyPr wrap="square">
              <a:spAutoFit/>
            </a:bodyPr>
            <a:lstStyle/>
            <a:p>
              <a:pPr algn="ctr"/>
              <a:r>
                <a:rPr lang="en-US" altLang="zh-CN" sz="2400" b="1" dirty="0">
                  <a:solidFill>
                    <a:schemeClr val="bg1"/>
                  </a:solidFill>
                  <a:latin typeface="+mn-lt"/>
                  <a:ea typeface="+mn-ea"/>
                  <a:cs typeface="+mn-ea"/>
                  <a:sym typeface="+mn-lt"/>
                </a:rPr>
                <a:t>万级</a:t>
              </a:r>
              <a:endParaRPr lang="zh-CN" altLang="en-US" sz="2400" b="1" dirty="0">
                <a:solidFill>
                  <a:schemeClr val="bg1"/>
                </a:solidFill>
                <a:latin typeface="+mn-lt"/>
                <a:ea typeface="+mn-ea"/>
                <a:cs typeface="+mn-ea"/>
                <a:sym typeface="+mn-lt"/>
              </a:endParaRPr>
            </a:p>
          </p:txBody>
        </p:sp>
        <p:sp>
          <p:nvSpPr>
            <p:cNvPr id="80" name="矩形 79"/>
            <p:cNvSpPr/>
            <p:nvPr/>
          </p:nvSpPr>
          <p:spPr>
            <a:xfrm>
              <a:off x="1866641" y="3886713"/>
              <a:ext cx="1386581" cy="253916"/>
            </a:xfrm>
            <a:prstGeom prst="rect">
              <a:avLst/>
            </a:prstGeom>
          </p:spPr>
          <p:txBody>
            <a:bodyPr wrap="square" lIns="71933" rIns="71933">
              <a:spAutoFit/>
            </a:bodyPr>
            <a:lstStyle/>
            <a:p>
              <a:pPr algn="ctr"/>
              <a:r>
                <a:rPr lang="zh-CN" altLang="en-US" sz="1050" dirty="0">
                  <a:solidFill>
                    <a:schemeClr val="bg1"/>
                  </a:solidFill>
                  <a:latin typeface="+mn-lt"/>
                  <a:ea typeface="+mn-ea"/>
                  <a:cs typeface="+mn-ea"/>
                  <a:sym typeface="+mn-lt"/>
                </a:rPr>
                <a:t>技能套件</a:t>
              </a:r>
              <a:endParaRPr lang="zh-CN" altLang="en-US" sz="2400" dirty="0">
                <a:solidFill>
                  <a:schemeClr val="bg1"/>
                </a:solidFill>
                <a:latin typeface="+mn-lt"/>
                <a:ea typeface="+mn-ea"/>
                <a:cs typeface="+mn-ea"/>
                <a:sym typeface="+mn-lt"/>
              </a:endParaRPr>
            </a:p>
          </p:txBody>
        </p:sp>
        <p:sp>
          <p:nvSpPr>
            <p:cNvPr id="81" name="矩形 80"/>
            <p:cNvSpPr/>
            <p:nvPr/>
          </p:nvSpPr>
          <p:spPr>
            <a:xfrm>
              <a:off x="2016320" y="4193307"/>
              <a:ext cx="1087222" cy="461665"/>
            </a:xfrm>
            <a:prstGeom prst="rect">
              <a:avLst/>
            </a:prstGeom>
          </p:spPr>
          <p:txBody>
            <a:bodyPr wrap="square">
              <a:spAutoFit/>
            </a:bodyPr>
            <a:lstStyle/>
            <a:p>
              <a:pPr algn="ctr"/>
              <a:r>
                <a:rPr lang="en-US" altLang="zh-CN" sz="2400" b="1" dirty="0">
                  <a:solidFill>
                    <a:schemeClr val="bg1"/>
                  </a:solidFill>
                  <a:latin typeface="+mn-lt"/>
                  <a:ea typeface="+mn-ea"/>
                  <a:cs typeface="+mn-ea"/>
                  <a:sym typeface="+mn-lt"/>
                </a:rPr>
                <a:t>十余个</a:t>
              </a:r>
              <a:endParaRPr lang="zh-CN" altLang="en-US" sz="2400" b="1" dirty="0">
                <a:solidFill>
                  <a:schemeClr val="bg1"/>
                </a:solidFill>
                <a:latin typeface="+mn-lt"/>
                <a:ea typeface="+mn-ea"/>
                <a:cs typeface="+mn-ea"/>
                <a:sym typeface="+mn-lt"/>
              </a:endParaRPr>
            </a:p>
          </p:txBody>
        </p:sp>
        <p:sp>
          <p:nvSpPr>
            <p:cNvPr id="82" name="矩形 81"/>
            <p:cNvSpPr/>
            <p:nvPr/>
          </p:nvSpPr>
          <p:spPr>
            <a:xfrm>
              <a:off x="3293725" y="3886713"/>
              <a:ext cx="1454296" cy="253916"/>
            </a:xfrm>
            <a:prstGeom prst="rect">
              <a:avLst/>
            </a:prstGeom>
          </p:spPr>
          <p:txBody>
            <a:bodyPr wrap="square">
              <a:spAutoFit/>
            </a:bodyPr>
            <a:lstStyle/>
            <a:p>
              <a:pPr algn="ctr"/>
              <a:r>
                <a:rPr lang="zh-CN" altLang="en-US" sz="1050" dirty="0">
                  <a:solidFill>
                    <a:schemeClr val="bg1"/>
                  </a:solidFill>
                  <a:latin typeface="+mn-lt"/>
                  <a:ea typeface="+mn-ea"/>
                  <a:cs typeface="+mn-ea"/>
                  <a:sym typeface="+mn-lt"/>
                </a:rPr>
                <a:t>技能调用次数</a:t>
              </a:r>
            </a:p>
          </p:txBody>
        </p:sp>
        <p:sp>
          <p:nvSpPr>
            <p:cNvPr id="83" name="矩形 82"/>
            <p:cNvSpPr/>
            <p:nvPr/>
          </p:nvSpPr>
          <p:spPr>
            <a:xfrm>
              <a:off x="3477262" y="4193307"/>
              <a:ext cx="1087222" cy="461665"/>
            </a:xfrm>
            <a:prstGeom prst="rect">
              <a:avLst/>
            </a:prstGeom>
          </p:spPr>
          <p:txBody>
            <a:bodyPr wrap="square">
              <a:spAutoFit/>
            </a:bodyPr>
            <a:lstStyle/>
            <a:p>
              <a:pPr algn="ctr"/>
              <a:r>
                <a:rPr lang="en-US" altLang="zh-CN" sz="2400" b="1" dirty="0">
                  <a:solidFill>
                    <a:schemeClr val="bg1"/>
                  </a:solidFill>
                  <a:latin typeface="+mn-lt"/>
                  <a:ea typeface="+mn-ea"/>
                  <a:cs typeface="+mn-ea"/>
                  <a:sym typeface="+mn-lt"/>
                </a:rPr>
                <a:t>数万次</a:t>
              </a:r>
              <a:endParaRPr lang="zh-CN" altLang="en-US" sz="2400" b="1" dirty="0">
                <a:solidFill>
                  <a:schemeClr val="bg1"/>
                </a:solidFill>
                <a:latin typeface="+mn-lt"/>
                <a:ea typeface="+mn-ea"/>
                <a:cs typeface="+mn-ea"/>
                <a:sym typeface="+mn-lt"/>
              </a:endParaRPr>
            </a:p>
          </p:txBody>
        </p:sp>
        <p:cxnSp>
          <p:nvCxnSpPr>
            <p:cNvPr id="84" name="直接连接符 75"/>
            <p:cNvCxnSpPr/>
            <p:nvPr/>
          </p:nvCxnSpPr>
          <p:spPr bwMode="auto">
            <a:xfrm>
              <a:off x="875660" y="4176722"/>
              <a:ext cx="431800" cy="0"/>
            </a:xfrm>
            <a:prstGeom prst="line">
              <a:avLst/>
            </a:prstGeom>
            <a:ln>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5" name="直接连接符 76"/>
            <p:cNvCxnSpPr/>
            <p:nvPr/>
          </p:nvCxnSpPr>
          <p:spPr bwMode="auto">
            <a:xfrm>
              <a:off x="2344031" y="4176722"/>
              <a:ext cx="431800" cy="0"/>
            </a:xfrm>
            <a:prstGeom prst="line">
              <a:avLst/>
            </a:prstGeom>
            <a:ln>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6" name="直接连接符 77"/>
            <p:cNvCxnSpPr/>
            <p:nvPr/>
          </p:nvCxnSpPr>
          <p:spPr bwMode="auto">
            <a:xfrm>
              <a:off x="3804973" y="4176722"/>
              <a:ext cx="431800" cy="0"/>
            </a:xfrm>
            <a:prstGeom prst="line">
              <a:avLst/>
            </a:prstGeom>
            <a:ln>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EWork</a:t>
            </a:r>
            <a:r>
              <a:rPr lang="zh-CN" altLang="en-US" dirty="0"/>
              <a:t>从平台试点到业务负载运作</a:t>
            </a:r>
          </a:p>
        </p:txBody>
      </p:sp>
      <p:sp>
        <p:nvSpPr>
          <p:cNvPr id="9" name="AutoShape 5"/>
          <p:cNvSpPr/>
          <p:nvPr/>
        </p:nvSpPr>
        <p:spPr>
          <a:xfrm>
            <a:off x="461872" y="1209298"/>
            <a:ext cx="1922897" cy="997594"/>
          </a:xfrm>
          <a:prstGeom prst="roundRect">
            <a:avLst>
              <a:gd name="adj" fmla="val 4347"/>
            </a:avLst>
          </a:prstGeom>
          <a:solidFill>
            <a:srgbClr val="000000">
              <a:alpha val="0"/>
            </a:srgbClr>
          </a:solidFill>
        </p:spPr>
        <p:txBody>
          <a:bodyPr/>
          <a:lstStyle/>
          <a:p>
            <a:endParaRPr lang="zh-CN" altLang="en-US" sz="1100" b="1">
              <a:latin typeface="+mj-ea"/>
              <a:ea typeface="+mj-ea"/>
            </a:endParaRPr>
          </a:p>
        </p:txBody>
      </p:sp>
      <p:sp>
        <p:nvSpPr>
          <p:cNvPr id="10" name="AutoShape 6"/>
          <p:cNvSpPr/>
          <p:nvPr/>
        </p:nvSpPr>
        <p:spPr>
          <a:xfrm>
            <a:off x="2565493" y="1209298"/>
            <a:ext cx="1922897" cy="997594"/>
          </a:xfrm>
          <a:prstGeom prst="roundRect">
            <a:avLst>
              <a:gd name="adj" fmla="val 4347"/>
            </a:avLst>
          </a:prstGeom>
          <a:solidFill>
            <a:srgbClr val="000000">
              <a:alpha val="0"/>
            </a:srgbClr>
          </a:solidFill>
        </p:spPr>
        <p:txBody>
          <a:bodyPr/>
          <a:lstStyle/>
          <a:p>
            <a:endParaRPr lang="zh-CN" altLang="en-US" sz="1100" b="1">
              <a:latin typeface="+mj-ea"/>
              <a:ea typeface="+mj-ea"/>
            </a:endParaRPr>
          </a:p>
        </p:txBody>
      </p:sp>
      <p:sp>
        <p:nvSpPr>
          <p:cNvPr id="12" name="AutoShape 7"/>
          <p:cNvSpPr/>
          <p:nvPr/>
        </p:nvSpPr>
        <p:spPr>
          <a:xfrm>
            <a:off x="4676342" y="1209298"/>
            <a:ext cx="1922897" cy="997594"/>
          </a:xfrm>
          <a:prstGeom prst="roundRect">
            <a:avLst>
              <a:gd name="adj" fmla="val 4347"/>
            </a:avLst>
          </a:prstGeom>
          <a:solidFill>
            <a:srgbClr val="000000">
              <a:alpha val="0"/>
            </a:srgbClr>
          </a:solidFill>
        </p:spPr>
        <p:txBody>
          <a:bodyPr/>
          <a:lstStyle/>
          <a:p>
            <a:endParaRPr lang="zh-CN" altLang="en-US" sz="1100" b="1">
              <a:latin typeface="+mj-ea"/>
              <a:ea typeface="+mj-ea"/>
            </a:endParaRPr>
          </a:p>
        </p:txBody>
      </p:sp>
      <p:sp>
        <p:nvSpPr>
          <p:cNvPr id="40" name="TextBox 22"/>
          <p:cNvSpPr txBox="1"/>
          <p:nvPr/>
        </p:nvSpPr>
        <p:spPr>
          <a:xfrm>
            <a:off x="461872" y="1223756"/>
            <a:ext cx="2024102" cy="383134"/>
          </a:xfrm>
          <a:prstGeom prst="roundRect">
            <a:avLst>
              <a:gd name="adj" fmla="val 13207"/>
            </a:avLst>
          </a:prstGeom>
          <a:solidFill>
            <a:srgbClr val="000000">
              <a:alpha val="0"/>
            </a:srgbClr>
          </a:solidFill>
        </p:spPr>
        <p:txBody>
          <a:bodyPr lIns="0" tIns="0" rIns="0" bIns="0" rtlCol="0" anchor="ctr"/>
          <a:lstStyle/>
          <a:p>
            <a:pPr indent="0" algn="ctr">
              <a:lnSpc>
                <a:spcPct val="100000"/>
              </a:lnSpc>
              <a:defRPr/>
            </a:pPr>
            <a:r>
              <a:rPr lang="en-US" altLang="zh-CN" b="1">
                <a:solidFill>
                  <a:schemeClr val="accent3"/>
                </a:solidFill>
                <a:highlight>
                  <a:srgbClr val="000000">
                    <a:alpha val="0"/>
                  </a:srgbClr>
                </a:highlight>
                <a:latin typeface="+mj-ea"/>
                <a:ea typeface="+mj-ea"/>
              </a:rPr>
              <a:t>百余</a:t>
            </a:r>
            <a:r>
              <a:rPr lang="en-US" b="1">
                <a:solidFill>
                  <a:schemeClr val="accent3"/>
                </a:solidFill>
                <a:highlight>
                  <a:srgbClr val="000000">
                    <a:alpha val="0"/>
                  </a:srgbClr>
                </a:highlight>
                <a:latin typeface="+mj-ea"/>
                <a:ea typeface="+mj-ea"/>
              </a:rPr>
              <a:t/>
            </a:r>
            <a:r>
              <a:rPr lang="en-US" altLang="zh-CN" b="1">
                <a:solidFill>
                  <a:schemeClr val="accent3"/>
                </a:solidFill>
                <a:highlight>
                  <a:srgbClr val="000000">
                    <a:alpha val="0"/>
                  </a:srgbClr>
                </a:highlight>
                <a:latin typeface="+mj-ea"/>
                <a:ea typeface="+mj-ea"/>
              </a:rPr>
              <a:t/>
            </a:r>
            <a:endParaRPr lang="en-US" sz="800" b="1">
              <a:solidFill>
                <a:schemeClr val="accent3"/>
              </a:solidFill>
              <a:latin typeface="+mj-ea"/>
              <a:ea typeface="+mj-ea"/>
            </a:endParaRPr>
          </a:p>
        </p:txBody>
      </p:sp>
      <p:sp>
        <p:nvSpPr>
          <p:cNvPr id="41" name="TextBox 23"/>
          <p:cNvSpPr txBox="1"/>
          <p:nvPr/>
        </p:nvSpPr>
        <p:spPr>
          <a:xfrm>
            <a:off x="461872" y="1787615"/>
            <a:ext cx="1922897" cy="209639"/>
          </a:xfrm>
          <a:prstGeom prst="rect">
            <a:avLst/>
          </a:prstGeom>
          <a:solidFill>
            <a:srgbClr val="000000">
              <a:alpha val="0"/>
            </a:srgbClr>
          </a:solidFill>
        </p:spPr>
        <p:txBody>
          <a:bodyPr lIns="0" tIns="0" rIns="0" bIns="0" rtlCol="0" anchor="ctr"/>
          <a:lstStyle/>
          <a:p>
            <a:pPr indent="0" algn="ctr">
              <a:lnSpc>
                <a:spcPct val="150000"/>
              </a:lnSpc>
              <a:defRPr/>
            </a:pPr>
            <a:r>
              <a:rPr lang="en-US" sz="1200" b="1">
                <a:solidFill>
                  <a:schemeClr val="accent4"/>
                </a:solidFill>
                <a:latin typeface="+mj-ea"/>
                <a:ea typeface="+mj-ea"/>
              </a:rPr>
              <a:t>活跃智能体</a:t>
            </a:r>
            <a:r>
              <a:rPr lang="zh-CN" altLang="en-US" sz="1200" b="1">
                <a:solidFill>
                  <a:schemeClr val="accent4"/>
                </a:solidFill>
                <a:latin typeface="+mj-ea"/>
                <a:ea typeface="+mj-ea"/>
              </a:rPr>
              <a:t> </a:t>
            </a:r>
            <a:r>
              <a:rPr lang="en-US" altLang="zh-CN" sz="1200" b="1">
                <a:solidFill>
                  <a:schemeClr val="accent4"/>
                </a:solidFill>
                <a:latin typeface="+mj-ea"/>
                <a:ea typeface="+mj-ea"/>
              </a:rPr>
              <a:t>/</a:t>
            </a:r>
            <a:r>
              <a:rPr lang="zh-CN" altLang="en-US" sz="1200" b="1">
                <a:solidFill>
                  <a:schemeClr val="accent4"/>
                </a:solidFill>
                <a:latin typeface="+mj-ea"/>
                <a:ea typeface="+mj-ea"/>
              </a:rPr>
              <a:t> </a:t>
            </a:r>
            <a:r>
              <a:rPr lang="en-US" altLang="zh-CN" sz="1200" b="1">
                <a:solidFill>
                  <a:schemeClr val="accent4"/>
                </a:solidFill>
                <a:latin typeface="+mj-ea"/>
                <a:ea typeface="+mj-ea"/>
              </a:rPr>
              <a:t>Agent</a:t>
            </a:r>
            <a:endParaRPr lang="en-US" sz="800" b="1">
              <a:solidFill>
                <a:schemeClr val="accent4"/>
              </a:solidFill>
              <a:latin typeface="+mj-ea"/>
              <a:ea typeface="+mj-ea"/>
            </a:endParaRPr>
          </a:p>
        </p:txBody>
      </p:sp>
      <p:sp>
        <p:nvSpPr>
          <p:cNvPr id="42" name="TextBox 24"/>
          <p:cNvSpPr txBox="1"/>
          <p:nvPr/>
        </p:nvSpPr>
        <p:spPr>
          <a:xfrm>
            <a:off x="2565493" y="1223756"/>
            <a:ext cx="2024102" cy="383134"/>
          </a:xfrm>
          <a:prstGeom prst="roundRect">
            <a:avLst>
              <a:gd name="adj" fmla="val 13207"/>
            </a:avLst>
          </a:prstGeom>
          <a:solidFill>
            <a:srgbClr val="000000">
              <a:alpha val="0"/>
            </a:srgbClr>
          </a:solidFill>
        </p:spPr>
        <p:txBody>
          <a:bodyPr lIns="0" tIns="0" rIns="0" bIns="0" rtlCol="0" anchor="ctr"/>
          <a:lstStyle/>
          <a:p>
            <a:pPr indent="0" algn="ctr">
              <a:lnSpc>
                <a:spcPct val="100000"/>
              </a:lnSpc>
              <a:defRPr/>
            </a:pPr>
            <a:r>
              <a:rPr lang="en-US" altLang="zh-CN" b="1">
                <a:solidFill>
                  <a:schemeClr val="accent3"/>
                </a:solidFill>
                <a:highlight>
                  <a:srgbClr val="000000">
                    <a:alpha val="0"/>
                  </a:srgbClr>
                </a:highlight>
                <a:latin typeface="+mj-ea"/>
                <a:ea typeface="+mj-ea"/>
              </a:rPr>
              <a:t>千亿级</a:t>
            </a:r>
            <a:r>
              <a:rPr lang="zh-CN" altLang="en-US" b="1">
                <a:solidFill>
                  <a:schemeClr val="accent3"/>
                </a:solidFill>
                <a:highlight>
                  <a:srgbClr val="000000">
                    <a:alpha val="0"/>
                  </a:srgbClr>
                </a:highlight>
                <a:latin typeface="+mj-ea"/>
                <a:ea typeface="+mj-ea"/>
              </a:rPr>
              <a:t/>
            </a:r>
            <a:r>
              <a:rPr lang="en-US" altLang="zh-CN" b="1">
                <a:solidFill>
                  <a:schemeClr val="accent3"/>
                </a:solidFill>
                <a:highlight>
                  <a:srgbClr val="000000">
                    <a:alpha val="0"/>
                  </a:srgbClr>
                </a:highlight>
                <a:latin typeface="+mj-ea"/>
                <a:ea typeface="+mj-ea"/>
              </a:rPr>
              <a:t/>
            </a:r>
            <a:endParaRPr lang="en-US" sz="800" b="1">
              <a:solidFill>
                <a:schemeClr val="accent3"/>
              </a:solidFill>
              <a:latin typeface="+mj-ea"/>
              <a:ea typeface="+mj-ea"/>
            </a:endParaRPr>
          </a:p>
        </p:txBody>
      </p:sp>
      <p:sp>
        <p:nvSpPr>
          <p:cNvPr id="43" name="TextBox 25"/>
          <p:cNvSpPr txBox="1"/>
          <p:nvPr/>
        </p:nvSpPr>
        <p:spPr>
          <a:xfrm>
            <a:off x="2565493" y="1787615"/>
            <a:ext cx="1922897" cy="209639"/>
          </a:xfrm>
          <a:prstGeom prst="rect">
            <a:avLst/>
          </a:prstGeom>
          <a:solidFill>
            <a:srgbClr val="000000">
              <a:alpha val="0"/>
            </a:srgbClr>
          </a:solidFill>
        </p:spPr>
        <p:txBody>
          <a:bodyPr lIns="0" tIns="0" rIns="0" bIns="0" rtlCol="0" anchor="ctr"/>
          <a:lstStyle/>
          <a:p>
            <a:pPr indent="0" algn="ctr">
              <a:lnSpc>
                <a:spcPct val="150000"/>
              </a:lnSpc>
              <a:defRPr/>
            </a:pPr>
            <a:r>
              <a:rPr lang="en-US" altLang="zh-CN" sz="1200" b="1">
                <a:solidFill>
                  <a:schemeClr val="accent4"/>
                </a:solidFill>
                <a:latin typeface="+mj-ea"/>
                <a:ea typeface="+mj-ea"/>
              </a:rPr>
              <a:t>统计期Token用量</a:t>
            </a:r>
            <a:r>
              <a:rPr lang="zh-CN" altLang="en-US" sz="1200" b="1">
                <a:solidFill>
                  <a:schemeClr val="accent4"/>
                </a:solidFill>
                <a:latin typeface="+mj-ea"/>
                <a:ea typeface="+mj-ea"/>
              </a:rPr>
              <a:t/>
            </a:r>
            <a:r>
              <a:rPr lang="en-US" altLang="zh-CN" sz="1200" b="1">
                <a:solidFill>
                  <a:schemeClr val="accent4"/>
                </a:solidFill>
                <a:latin typeface="+mj-ea"/>
                <a:ea typeface="+mj-ea"/>
              </a:rPr>
              <a:t/>
            </a:r>
            <a:r>
              <a:rPr lang="zh-CN" altLang="en-US" sz="1200" b="1">
                <a:solidFill>
                  <a:schemeClr val="accent4"/>
                </a:solidFill>
                <a:latin typeface="+mj-ea"/>
                <a:ea typeface="+mj-ea"/>
              </a:rPr>
              <a:t/>
            </a:r>
            <a:endParaRPr lang="en-US" sz="800" b="1">
              <a:solidFill>
                <a:schemeClr val="accent4"/>
              </a:solidFill>
              <a:latin typeface="+mj-ea"/>
              <a:ea typeface="+mj-ea"/>
            </a:endParaRPr>
          </a:p>
        </p:txBody>
      </p:sp>
      <p:sp>
        <p:nvSpPr>
          <p:cNvPr id="44" name="TextBox 26"/>
          <p:cNvSpPr txBox="1"/>
          <p:nvPr/>
        </p:nvSpPr>
        <p:spPr>
          <a:xfrm>
            <a:off x="4676342" y="1223756"/>
            <a:ext cx="2024102" cy="383134"/>
          </a:xfrm>
          <a:prstGeom prst="roundRect">
            <a:avLst>
              <a:gd name="adj" fmla="val 13207"/>
            </a:avLst>
          </a:prstGeom>
          <a:solidFill>
            <a:srgbClr val="000000">
              <a:alpha val="0"/>
            </a:srgbClr>
          </a:solidFill>
        </p:spPr>
        <p:txBody>
          <a:bodyPr lIns="0" tIns="0" rIns="0" bIns="0" rtlCol="0" anchor="ctr"/>
          <a:lstStyle/>
          <a:p>
            <a:pPr indent="0" algn="ctr">
              <a:lnSpc>
                <a:spcPct val="100000"/>
              </a:lnSpc>
              <a:defRPr/>
            </a:pPr>
            <a:r>
              <a:rPr lang="en-US" altLang="zh-CN" b="1">
                <a:solidFill>
                  <a:schemeClr val="accent3"/>
                </a:solidFill>
                <a:highlight>
                  <a:srgbClr val="000000">
                    <a:alpha val="0"/>
                  </a:srgbClr>
                </a:highlight>
                <a:latin typeface="+mj-ea"/>
                <a:ea typeface="+mj-ea"/>
              </a:rPr>
              <a:t>万亿级</a:t>
            </a:r>
            <a:r>
              <a:rPr lang="zh-CN" altLang="en-US" b="1">
                <a:solidFill>
                  <a:schemeClr val="accent3"/>
                </a:solidFill>
                <a:highlight>
                  <a:srgbClr val="000000">
                    <a:alpha val="0"/>
                  </a:srgbClr>
                </a:highlight>
                <a:latin typeface="+mj-ea"/>
                <a:ea typeface="+mj-ea"/>
              </a:rPr>
              <a:t/>
            </a:r>
            <a:r>
              <a:rPr lang="en-US" altLang="zh-CN" b="1">
                <a:solidFill>
                  <a:schemeClr val="accent3"/>
                </a:solidFill>
                <a:highlight>
                  <a:srgbClr val="000000">
                    <a:alpha val="0"/>
                  </a:srgbClr>
                </a:highlight>
                <a:latin typeface="+mj-ea"/>
                <a:ea typeface="+mj-ea"/>
              </a:rPr>
              <a:t/>
            </a:r>
            <a:endParaRPr lang="en-US" sz="800" b="1">
              <a:solidFill>
                <a:schemeClr val="accent3"/>
              </a:solidFill>
              <a:latin typeface="+mj-ea"/>
              <a:ea typeface="+mj-ea"/>
            </a:endParaRPr>
          </a:p>
        </p:txBody>
      </p:sp>
      <p:sp>
        <p:nvSpPr>
          <p:cNvPr id="45" name="TextBox 27"/>
          <p:cNvSpPr txBox="1"/>
          <p:nvPr/>
        </p:nvSpPr>
        <p:spPr>
          <a:xfrm>
            <a:off x="4676342" y="1787615"/>
            <a:ext cx="1922897" cy="209639"/>
          </a:xfrm>
          <a:prstGeom prst="rect">
            <a:avLst/>
          </a:prstGeom>
          <a:solidFill>
            <a:srgbClr val="000000">
              <a:alpha val="0"/>
            </a:srgbClr>
          </a:solidFill>
        </p:spPr>
        <p:txBody>
          <a:bodyPr lIns="0" tIns="0" rIns="0" bIns="0" rtlCol="0" anchor="ctr"/>
          <a:lstStyle/>
          <a:p>
            <a:pPr indent="0" algn="ctr">
              <a:lnSpc>
                <a:spcPct val="150000"/>
              </a:lnSpc>
              <a:defRPr/>
            </a:pPr>
            <a:r>
              <a:rPr lang="en-US" altLang="zh-CN" sz="1200" b="1">
                <a:solidFill>
                  <a:schemeClr val="accent4"/>
                </a:solidFill>
                <a:latin typeface="+mj-ea"/>
                <a:ea typeface="+mj-ea"/>
              </a:rPr>
              <a:t>预计Token用量</a:t>
            </a:r>
            <a:r>
              <a:rPr lang="zh-CN" altLang="en-US" sz="1200" b="1">
                <a:solidFill>
                  <a:schemeClr val="accent4"/>
                </a:solidFill>
                <a:latin typeface="+mj-ea"/>
                <a:ea typeface="+mj-ea"/>
              </a:rPr>
              <a:t/>
            </a:r>
            <a:r>
              <a:rPr lang="en-US" altLang="zh-CN" sz="1200" b="1">
                <a:solidFill>
                  <a:schemeClr val="accent4"/>
                </a:solidFill>
                <a:latin typeface="+mj-ea"/>
                <a:ea typeface="+mj-ea"/>
              </a:rPr>
              <a:t/>
            </a:r>
            <a:r>
              <a:rPr lang="zh-CN" altLang="en-US" sz="1200" b="1">
                <a:solidFill>
                  <a:schemeClr val="accent4"/>
                </a:solidFill>
                <a:latin typeface="+mj-ea"/>
                <a:ea typeface="+mj-ea"/>
              </a:rPr>
              <a:t/>
            </a:r>
            <a:endParaRPr lang="en-US" sz="800" b="1">
              <a:solidFill>
                <a:schemeClr val="accent4"/>
              </a:solidFill>
              <a:latin typeface="+mj-ea"/>
              <a:ea typeface="+mj-ea"/>
            </a:endParaRPr>
          </a:p>
        </p:txBody>
      </p:sp>
      <p:sp>
        <p:nvSpPr>
          <p:cNvPr id="46" name="TextBox 28"/>
          <p:cNvSpPr txBox="1"/>
          <p:nvPr/>
        </p:nvSpPr>
        <p:spPr>
          <a:xfrm>
            <a:off x="6779963" y="1223756"/>
            <a:ext cx="2024102" cy="397592"/>
          </a:xfrm>
          <a:prstGeom prst="roundRect">
            <a:avLst>
              <a:gd name="adj" fmla="val 12727"/>
            </a:avLst>
          </a:prstGeom>
          <a:solidFill>
            <a:srgbClr val="000000">
              <a:alpha val="0"/>
            </a:srgbClr>
          </a:solidFill>
        </p:spPr>
        <p:txBody>
          <a:bodyPr lIns="0" tIns="0" rIns="0" bIns="0" rtlCol="0" anchor="ctr"/>
          <a:lstStyle/>
          <a:p>
            <a:pPr indent="0" algn="ctr">
              <a:lnSpc>
                <a:spcPct val="100000"/>
              </a:lnSpc>
              <a:defRPr/>
            </a:pPr>
            <a:r>
              <a:rPr lang="en-US" altLang="zh-CN" b="1" dirty="0">
                <a:solidFill>
                  <a:schemeClr val="accent3"/>
                </a:solidFill>
                <a:highlight>
                  <a:srgbClr val="000000">
                    <a:alpha val="0"/>
                  </a:srgbClr>
                </a:highlight>
                <a:latin typeface="+mj-ea"/>
                <a:ea typeface="+mj-ea"/>
              </a:rPr>
              <a:t>较高</a:t>
            </a:r>
            <a:endParaRPr lang="en-US" sz="800" b="1" dirty="0">
              <a:solidFill>
                <a:schemeClr val="accent3"/>
              </a:solidFill>
              <a:latin typeface="+mj-ea"/>
              <a:ea typeface="+mj-ea"/>
            </a:endParaRPr>
          </a:p>
        </p:txBody>
      </p:sp>
      <p:sp>
        <p:nvSpPr>
          <p:cNvPr id="47" name="TextBox 29"/>
          <p:cNvSpPr txBox="1"/>
          <p:nvPr/>
        </p:nvSpPr>
        <p:spPr>
          <a:xfrm>
            <a:off x="6779963" y="1802072"/>
            <a:ext cx="1922897" cy="209639"/>
          </a:xfrm>
          <a:prstGeom prst="rect">
            <a:avLst/>
          </a:prstGeom>
          <a:solidFill>
            <a:srgbClr val="000000">
              <a:alpha val="0"/>
            </a:srgbClr>
          </a:solidFill>
        </p:spPr>
        <p:txBody>
          <a:bodyPr lIns="0" tIns="0" rIns="0" bIns="0" rtlCol="0" anchor="ctr"/>
          <a:lstStyle/>
          <a:p>
            <a:pPr indent="0" algn="ctr">
              <a:lnSpc>
                <a:spcPct val="150000"/>
              </a:lnSpc>
              <a:defRPr/>
            </a:pPr>
            <a:r>
              <a:rPr lang="en-US" sz="1200" b="1">
                <a:solidFill>
                  <a:schemeClr val="accent4"/>
                </a:solidFill>
                <a:latin typeface="+mj-ea"/>
                <a:ea typeface="+mj-ea"/>
              </a:rPr>
              <a:t>风险拦截率</a:t>
            </a:r>
            <a:endParaRPr lang="en-US" sz="800" b="1">
              <a:solidFill>
                <a:schemeClr val="accent4"/>
              </a:solidFill>
              <a:latin typeface="+mj-ea"/>
              <a:ea typeface="+mj-ea"/>
            </a:endParaRPr>
          </a:p>
        </p:txBody>
      </p:sp>
      <p:cxnSp>
        <p:nvCxnSpPr>
          <p:cNvPr id="53" name="直线连接符 52"/>
          <p:cNvCxnSpPr/>
          <p:nvPr/>
        </p:nvCxnSpPr>
        <p:spPr bwMode="auto">
          <a:xfrm>
            <a:off x="2465059" y="1130850"/>
            <a:ext cx="0" cy="880861"/>
          </a:xfrm>
          <a:prstGeom prst="line">
            <a:avLst/>
          </a:prstGeom>
          <a:solidFill>
            <a:schemeClr val="accent1"/>
          </a:solidFill>
          <a:ln w="28575" cap="flat" cmpd="sng" algn="ctr">
            <a:solidFill>
              <a:schemeClr val="accent6"/>
            </a:solidFill>
            <a:prstDash val="solid"/>
            <a:round/>
            <a:headEnd type="none" w="med" len="med"/>
            <a:tailEnd type="none" w="med" len="med"/>
          </a:ln>
        </p:spPr>
      </p:cxnSp>
      <p:cxnSp>
        <p:nvCxnSpPr>
          <p:cNvPr id="54" name="直线连接符 53"/>
          <p:cNvCxnSpPr/>
          <p:nvPr/>
        </p:nvCxnSpPr>
        <p:spPr bwMode="auto">
          <a:xfrm>
            <a:off x="4607125" y="1130850"/>
            <a:ext cx="0" cy="880861"/>
          </a:xfrm>
          <a:prstGeom prst="line">
            <a:avLst/>
          </a:prstGeom>
          <a:solidFill>
            <a:schemeClr val="accent1"/>
          </a:solidFill>
          <a:ln w="28575" cap="flat" cmpd="sng" algn="ctr">
            <a:solidFill>
              <a:schemeClr val="accent6"/>
            </a:solidFill>
            <a:prstDash val="solid"/>
            <a:round/>
            <a:headEnd type="none" w="med" len="med"/>
            <a:tailEnd type="none" w="med" len="med"/>
          </a:ln>
        </p:spPr>
      </p:cxnSp>
      <p:cxnSp>
        <p:nvCxnSpPr>
          <p:cNvPr id="55" name="直线连接符 54"/>
          <p:cNvCxnSpPr/>
          <p:nvPr/>
        </p:nvCxnSpPr>
        <p:spPr bwMode="auto">
          <a:xfrm>
            <a:off x="6791525" y="1130850"/>
            <a:ext cx="0" cy="880861"/>
          </a:xfrm>
          <a:prstGeom prst="line">
            <a:avLst/>
          </a:prstGeom>
          <a:solidFill>
            <a:schemeClr val="accent1"/>
          </a:solidFill>
          <a:ln w="28575" cap="flat" cmpd="sng" algn="ctr">
            <a:solidFill>
              <a:schemeClr val="accent6"/>
            </a:solidFill>
            <a:prstDash val="solid"/>
            <a:round/>
            <a:headEnd type="none" w="med" len="med"/>
            <a:tailEnd type="none" w="med" len="med"/>
          </a:ln>
        </p:spPr>
      </p:cxnSp>
      <p:sp>
        <p:nvSpPr>
          <p:cNvPr id="4" name="矩形 3"/>
          <p:cNvSpPr/>
          <p:nvPr/>
        </p:nvSpPr>
        <p:spPr>
          <a:xfrm>
            <a:off x="461872" y="2437755"/>
            <a:ext cx="1428750" cy="438150"/>
          </a:xfrm>
          <a:prstGeom prst="rect">
            <a:avLst/>
          </a:prstGeom>
          <a:solidFill>
            <a:srgbClr val="005096"/>
          </a:solidFill>
          <a:ln w="0">
            <a:solidFill>
              <a:srgbClr val="000000">
                <a:alpha val="0"/>
              </a:srgbClr>
            </a:solidFill>
            <a:prstDash val="solid"/>
          </a:ln>
        </p:spPr>
        <p:txBody>
          <a:bodyPr/>
          <a:lstStyle/>
          <a:p>
            <a:endParaRPr lang="zh-CN" altLang="en-US" sz="2000">
              <a:latin typeface="+mj-ea"/>
              <a:ea typeface="+mj-ea"/>
            </a:endParaRPr>
          </a:p>
        </p:txBody>
      </p:sp>
      <p:sp>
        <p:nvSpPr>
          <p:cNvPr id="5" name="矩形 4"/>
          <p:cNvSpPr/>
          <p:nvPr/>
        </p:nvSpPr>
        <p:spPr>
          <a:xfrm>
            <a:off x="652372" y="2552055"/>
            <a:ext cx="1047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PingFang SC"/>
                <a:ea typeface="PingFang SC"/>
                <a:cs typeface="PingFang SC"/>
              </a:defRPr>
            </a:pPr>
            <a:r>
              <a:rPr sz="1200" b="1">
                <a:solidFill>
                  <a:srgbClr val="FFFFFF"/>
                </a:solidFill>
                <a:latin typeface="+mj-ea"/>
                <a:ea typeface="+mj-ea"/>
                <a:cs typeface="PingFang SC"/>
              </a:rPr>
              <a:t>投研</a:t>
            </a:r>
          </a:p>
        </p:txBody>
      </p:sp>
      <p:sp>
        <p:nvSpPr>
          <p:cNvPr id="7" name="矩形 6"/>
          <p:cNvSpPr/>
          <p:nvPr/>
        </p:nvSpPr>
        <p:spPr>
          <a:xfrm>
            <a:off x="1890622" y="2437755"/>
            <a:ext cx="6762750" cy="438150"/>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8" name="矩形 7"/>
          <p:cNvSpPr/>
          <p:nvPr/>
        </p:nvSpPr>
        <p:spPr>
          <a:xfrm>
            <a:off x="2138272" y="2561580"/>
            <a:ext cx="666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B243F"/>
                </a:solidFill>
                <a:latin typeface="PingFang SC"/>
                <a:ea typeface="PingFang SC"/>
                <a:cs typeface="PingFang SC"/>
              </a:defRPr>
            </a:pPr>
            <a:r>
              <a:rPr sz="1200" b="0">
                <a:solidFill>
                  <a:srgbClr val="0B243F"/>
                </a:solidFill>
                <a:latin typeface="+mj-ea"/>
                <a:ea typeface="+mj-ea"/>
                <a:cs typeface="PingFang SC"/>
              </a:rPr>
              <a:t>权益研究 / 宏观多资产 / 固收研究 / 运作支持</a:t>
            </a:r>
          </a:p>
        </p:txBody>
      </p:sp>
      <p:sp>
        <p:nvSpPr>
          <p:cNvPr id="11" name="矩形 10"/>
          <p:cNvSpPr/>
          <p:nvPr/>
        </p:nvSpPr>
        <p:spPr>
          <a:xfrm>
            <a:off x="461872" y="3010679"/>
            <a:ext cx="1428750" cy="438150"/>
          </a:xfrm>
          <a:prstGeom prst="rect">
            <a:avLst/>
          </a:prstGeom>
          <a:solidFill>
            <a:srgbClr val="12B8D7"/>
          </a:solidFill>
          <a:ln w="0">
            <a:solidFill>
              <a:srgbClr val="000000">
                <a:alpha val="0"/>
              </a:srgbClr>
            </a:solidFill>
            <a:prstDash val="solid"/>
          </a:ln>
        </p:spPr>
        <p:txBody>
          <a:bodyPr/>
          <a:lstStyle/>
          <a:p>
            <a:endParaRPr lang="zh-CN" altLang="en-US" sz="2000">
              <a:latin typeface="+mj-ea"/>
              <a:ea typeface="+mj-ea"/>
            </a:endParaRPr>
          </a:p>
        </p:txBody>
      </p:sp>
      <p:sp>
        <p:nvSpPr>
          <p:cNvPr id="13" name="矩形 12"/>
          <p:cNvSpPr/>
          <p:nvPr/>
        </p:nvSpPr>
        <p:spPr>
          <a:xfrm>
            <a:off x="652372" y="3124979"/>
            <a:ext cx="1047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PingFang SC"/>
                <a:ea typeface="PingFang SC"/>
                <a:cs typeface="PingFang SC"/>
              </a:defRPr>
            </a:pPr>
            <a:r>
              <a:rPr sz="1200" b="1">
                <a:solidFill>
                  <a:srgbClr val="FFFFFF"/>
                </a:solidFill>
                <a:latin typeface="+mj-ea"/>
                <a:ea typeface="+mj-ea"/>
                <a:cs typeface="PingFang SC"/>
              </a:rPr>
              <a:t>市场客服</a:t>
            </a:r>
          </a:p>
        </p:txBody>
      </p:sp>
      <p:sp>
        <p:nvSpPr>
          <p:cNvPr id="14" name="矩形 13"/>
          <p:cNvSpPr/>
          <p:nvPr/>
        </p:nvSpPr>
        <p:spPr>
          <a:xfrm>
            <a:off x="1890622" y="3010679"/>
            <a:ext cx="6762750" cy="438150"/>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矩形 14"/>
          <p:cNvSpPr/>
          <p:nvPr/>
        </p:nvSpPr>
        <p:spPr>
          <a:xfrm>
            <a:off x="2138272" y="3134504"/>
            <a:ext cx="666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B243F"/>
                </a:solidFill>
                <a:latin typeface="PingFang SC"/>
                <a:ea typeface="PingFang SC"/>
                <a:cs typeface="PingFang SC"/>
              </a:defRPr>
            </a:pPr>
            <a:r>
              <a:rPr sz="1200" b="0" dirty="0" err="1">
                <a:solidFill>
                  <a:srgbClr val="0B243F"/>
                </a:solidFill>
                <a:latin typeface="+mj-ea"/>
                <a:ea typeface="+mj-ea"/>
                <a:cs typeface="PingFang SC"/>
              </a:rPr>
              <a:t>营销知识库</a:t>
            </a:r>
            <a:r>
              <a:rPr sz="1200" b="0" dirty="0">
                <a:solidFill>
                  <a:srgbClr val="0B243F"/>
                </a:solidFill>
                <a:latin typeface="+mj-ea"/>
                <a:ea typeface="+mj-ea"/>
                <a:cs typeface="PingFang SC"/>
              </a:rPr>
              <a:t> / </a:t>
            </a:r>
            <a:r>
              <a:rPr sz="1200" b="0" dirty="0" err="1">
                <a:solidFill>
                  <a:srgbClr val="0B243F"/>
                </a:solidFill>
                <a:latin typeface="+mj-ea"/>
                <a:ea typeface="+mj-ea"/>
                <a:cs typeface="PingFang SC"/>
              </a:rPr>
              <a:t>材料制作</a:t>
            </a:r>
            <a:r>
              <a:rPr sz="1200" b="0" dirty="0">
                <a:solidFill>
                  <a:srgbClr val="0B243F"/>
                </a:solidFill>
                <a:latin typeface="+mj-ea"/>
                <a:ea typeface="+mj-ea"/>
                <a:cs typeface="PingFang SC"/>
              </a:rPr>
              <a:t> / </a:t>
            </a:r>
            <a:r>
              <a:rPr sz="1200" b="0" dirty="0" err="1">
                <a:solidFill>
                  <a:srgbClr val="0B243F"/>
                </a:solidFill>
                <a:latin typeface="+mj-ea"/>
                <a:ea typeface="+mj-ea"/>
                <a:cs typeface="PingFang SC"/>
              </a:rPr>
              <a:t>客户问答</a:t>
            </a:r>
            <a:endParaRPr sz="1200" b="0" dirty="0">
              <a:solidFill>
                <a:srgbClr val="0B243F"/>
              </a:solidFill>
              <a:latin typeface="+mj-ea"/>
              <a:ea typeface="+mj-ea"/>
              <a:cs typeface="PingFang SC"/>
            </a:endParaRPr>
          </a:p>
        </p:txBody>
      </p:sp>
      <p:sp>
        <p:nvSpPr>
          <p:cNvPr id="17" name="矩形 16"/>
          <p:cNvSpPr/>
          <p:nvPr/>
        </p:nvSpPr>
        <p:spPr>
          <a:xfrm>
            <a:off x="461872" y="3554321"/>
            <a:ext cx="1428750" cy="438150"/>
          </a:xfrm>
          <a:prstGeom prst="rect">
            <a:avLst/>
          </a:prstGeom>
          <a:solidFill>
            <a:srgbClr val="005096"/>
          </a:solidFill>
          <a:ln w="0">
            <a:solidFill>
              <a:srgbClr val="000000">
                <a:alpha val="0"/>
              </a:srgbClr>
            </a:solidFill>
            <a:prstDash val="solid"/>
          </a:ln>
        </p:spPr>
        <p:txBody>
          <a:bodyPr/>
          <a:lstStyle/>
          <a:p>
            <a:endParaRPr lang="zh-CN" altLang="en-US" sz="2000">
              <a:latin typeface="+mj-ea"/>
              <a:ea typeface="+mj-ea"/>
            </a:endParaRPr>
          </a:p>
        </p:txBody>
      </p:sp>
      <p:sp>
        <p:nvSpPr>
          <p:cNvPr id="19" name="矩形 18"/>
          <p:cNvSpPr/>
          <p:nvPr/>
        </p:nvSpPr>
        <p:spPr>
          <a:xfrm>
            <a:off x="652372" y="3668621"/>
            <a:ext cx="1047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PingFang SC"/>
                <a:ea typeface="PingFang SC"/>
                <a:cs typeface="PingFang SC"/>
              </a:defRPr>
            </a:pPr>
            <a:r>
              <a:rPr sz="1200" b="1">
                <a:solidFill>
                  <a:srgbClr val="FFFFFF"/>
                </a:solidFill>
                <a:latin typeface="+mj-ea"/>
                <a:ea typeface="+mj-ea"/>
                <a:cs typeface="PingFang SC"/>
              </a:rPr>
              <a:t>运营合规</a:t>
            </a:r>
          </a:p>
        </p:txBody>
      </p:sp>
      <p:sp>
        <p:nvSpPr>
          <p:cNvPr id="20" name="矩形 19"/>
          <p:cNvSpPr/>
          <p:nvPr/>
        </p:nvSpPr>
        <p:spPr>
          <a:xfrm>
            <a:off x="1890622" y="3554321"/>
            <a:ext cx="6762750" cy="438150"/>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21" name="矩形 20"/>
          <p:cNvSpPr/>
          <p:nvPr/>
        </p:nvSpPr>
        <p:spPr>
          <a:xfrm>
            <a:off x="2138272" y="3678146"/>
            <a:ext cx="666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B243F"/>
                </a:solidFill>
                <a:latin typeface="PingFang SC"/>
                <a:ea typeface="PingFang SC"/>
                <a:cs typeface="PingFang SC"/>
              </a:defRPr>
            </a:pPr>
            <a:r>
              <a:rPr sz="1200" b="0">
                <a:solidFill>
                  <a:srgbClr val="0B243F"/>
                </a:solidFill>
                <a:latin typeface="+mj-ea"/>
                <a:ea typeface="+mj-ea"/>
                <a:cs typeface="PingFang SC"/>
              </a:rPr>
              <a:t>合规审核 / 信息抽取 / 舆情监控</a:t>
            </a:r>
          </a:p>
        </p:txBody>
      </p:sp>
      <p:sp>
        <p:nvSpPr>
          <p:cNvPr id="22" name="矩形 21"/>
          <p:cNvSpPr/>
          <p:nvPr/>
        </p:nvSpPr>
        <p:spPr>
          <a:xfrm>
            <a:off x="461872" y="4106771"/>
            <a:ext cx="1428750" cy="438150"/>
          </a:xfrm>
          <a:prstGeom prst="rect">
            <a:avLst/>
          </a:prstGeom>
          <a:solidFill>
            <a:srgbClr val="12B8D7"/>
          </a:solidFill>
          <a:ln w="0">
            <a:solidFill>
              <a:srgbClr val="000000">
                <a:alpha val="0"/>
              </a:srgbClr>
            </a:solidFill>
            <a:prstDash val="solid"/>
          </a:ln>
        </p:spPr>
        <p:txBody>
          <a:bodyPr/>
          <a:lstStyle/>
          <a:p>
            <a:endParaRPr lang="zh-CN" altLang="en-US" sz="2000">
              <a:latin typeface="+mj-ea"/>
              <a:ea typeface="+mj-ea"/>
            </a:endParaRPr>
          </a:p>
        </p:txBody>
      </p:sp>
      <p:sp>
        <p:nvSpPr>
          <p:cNvPr id="23" name="矩形 22"/>
          <p:cNvSpPr/>
          <p:nvPr/>
        </p:nvSpPr>
        <p:spPr>
          <a:xfrm>
            <a:off x="652372" y="4221071"/>
            <a:ext cx="1047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PingFang SC"/>
                <a:ea typeface="PingFang SC"/>
                <a:cs typeface="PingFang SC"/>
              </a:defRPr>
            </a:pPr>
            <a:r>
              <a:rPr sz="1200" b="1">
                <a:solidFill>
                  <a:srgbClr val="FFFFFF"/>
                </a:solidFill>
                <a:latin typeface="+mj-ea"/>
                <a:ea typeface="+mj-ea"/>
                <a:cs typeface="PingFang SC"/>
              </a:rPr>
              <a:t>办公</a:t>
            </a:r>
          </a:p>
        </p:txBody>
      </p:sp>
      <p:sp>
        <p:nvSpPr>
          <p:cNvPr id="24" name="矩形 23"/>
          <p:cNvSpPr/>
          <p:nvPr/>
        </p:nvSpPr>
        <p:spPr>
          <a:xfrm>
            <a:off x="1890622" y="4106771"/>
            <a:ext cx="6762750" cy="438150"/>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25" name="矩形 24"/>
          <p:cNvSpPr/>
          <p:nvPr/>
        </p:nvSpPr>
        <p:spPr>
          <a:xfrm>
            <a:off x="2138272" y="4230596"/>
            <a:ext cx="666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B243F"/>
                </a:solidFill>
                <a:latin typeface="PingFang SC"/>
                <a:ea typeface="PingFang SC"/>
                <a:cs typeface="PingFang SC"/>
              </a:defRPr>
            </a:pPr>
            <a:r>
              <a:rPr sz="1200" b="0">
                <a:solidFill>
                  <a:srgbClr val="0B243F"/>
                </a:solidFill>
                <a:latin typeface="+mj-ea"/>
                <a:ea typeface="+mj-ea"/>
                <a:cs typeface="PingFang SC"/>
              </a:rPr>
              <a:t>公共知识库 / 翻译摘要 / 文档处理</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EWork</a:t>
            </a:r>
            <a:r>
              <a:rPr lang="zh-CN" altLang="en-US" dirty="0"/>
              <a:t>所驱动的</a:t>
            </a:r>
            <a:r>
              <a:rPr lang="en-US" altLang="zh-CN" dirty="0"/>
              <a:t>AI</a:t>
            </a:r>
            <a:r>
              <a:rPr lang="zh-CN" altLang="en-US" dirty="0"/>
              <a:t>原生组织方式变革</a:t>
            </a:r>
          </a:p>
        </p:txBody>
      </p:sp>
      <p:sp>
        <p:nvSpPr>
          <p:cNvPr id="11" name="AutoShape 5"/>
          <p:cNvSpPr/>
          <p:nvPr/>
        </p:nvSpPr>
        <p:spPr>
          <a:xfrm>
            <a:off x="539204" y="1253067"/>
            <a:ext cx="256201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3" name="AutoShape 7"/>
          <p:cNvSpPr/>
          <p:nvPr/>
        </p:nvSpPr>
        <p:spPr>
          <a:xfrm>
            <a:off x="3290994" y="1253067"/>
            <a:ext cx="256201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5" name="AutoShape 9"/>
          <p:cNvSpPr/>
          <p:nvPr/>
        </p:nvSpPr>
        <p:spPr>
          <a:xfrm>
            <a:off x="6042784" y="1253067"/>
            <a:ext cx="2562011" cy="3056466"/>
          </a:xfrm>
          <a:prstGeom prst="rect">
            <a:avLst/>
          </a:prstGeom>
          <a:solidFill>
            <a:srgbClr val="B7DDFF">
              <a:alpha val="23137"/>
            </a:srgbClr>
          </a:solidFill>
          <a:ln>
            <a:noFill/>
          </a:ln>
        </p:spPr>
        <p:txBody>
          <a:bodyPr anchor="ctr"/>
          <a:lstStyle/>
          <a:p>
            <a:pPr algn="r"/>
            <a:endParaRPr lang="zh-CN" altLang="en-US" sz="1200" b="1">
              <a:solidFill>
                <a:schemeClr val="accent1"/>
              </a:solidFill>
              <a:latin typeface="+mj-ea"/>
              <a:ea typeface="+mj-ea"/>
            </a:endParaRPr>
          </a:p>
        </p:txBody>
      </p:sp>
      <p:sp>
        <p:nvSpPr>
          <p:cNvPr id="19" name="TextBox 14"/>
          <p:cNvSpPr txBox="1"/>
          <p:nvPr/>
        </p:nvSpPr>
        <p:spPr>
          <a:xfrm>
            <a:off x="683482" y="1717169"/>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流程构建者</a:t>
            </a:r>
          </a:p>
        </p:txBody>
      </p:sp>
      <p:sp>
        <p:nvSpPr>
          <p:cNvPr id="20" name="TextBox 15"/>
          <p:cNvSpPr txBox="1"/>
          <p:nvPr/>
        </p:nvSpPr>
        <p:spPr>
          <a:xfrm>
            <a:off x="3480771" y="1717169"/>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系统维护者</a:t>
            </a:r>
          </a:p>
        </p:txBody>
      </p:sp>
      <p:sp>
        <p:nvSpPr>
          <p:cNvPr id="21" name="TextBox 16"/>
          <p:cNvSpPr txBox="1"/>
          <p:nvPr/>
        </p:nvSpPr>
        <p:spPr>
          <a:xfrm>
            <a:off x="6232562" y="1717169"/>
            <a:ext cx="2182455" cy="247964"/>
          </a:xfrm>
          <a:prstGeom prst="rect">
            <a:avLst/>
          </a:prstGeom>
          <a:solidFill>
            <a:srgbClr val="000000">
              <a:alpha val="0"/>
            </a:srgbClr>
          </a:solidFill>
        </p:spPr>
        <p:txBody>
          <a:bodyPr lIns="0" tIns="0" rIns="0" bIns="0" rtlCol="0" anchor="ctr"/>
          <a:lstStyle/>
          <a:p>
            <a:pPr indent="0" algn="l">
              <a:lnSpc>
                <a:spcPct val="120000"/>
              </a:lnSpc>
              <a:defRPr/>
            </a:pPr>
            <a:r>
              <a:rPr lang="zh-CN" altLang="en-US" sz="1600" b="1">
                <a:solidFill>
                  <a:schemeClr val="accent1"/>
                </a:solidFill>
                <a:latin typeface="+mj-ea"/>
                <a:ea typeface="+mj-ea"/>
              </a:rPr>
              <a:t>关键决策者</a:t>
            </a:r>
          </a:p>
        </p:txBody>
      </p:sp>
      <p:sp>
        <p:nvSpPr>
          <p:cNvPr id="23" name="TextBox 18"/>
          <p:cNvSpPr txBox="1"/>
          <p:nvPr/>
        </p:nvSpPr>
        <p:spPr>
          <a:xfrm>
            <a:off x="683482" y="2115614"/>
            <a:ext cx="2273454" cy="844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100">
                <a:solidFill>
                  <a:schemeClr val="accent4"/>
                </a:solidFill>
                <a:latin typeface="+mj-ea"/>
                <a:ea typeface="+mj-ea"/>
              </a:rPr>
              <a:t>围绕真实业务场景，定义任务目标、输入输出、处理步骤和验收标准，将原本依赖个人经验的工作方法，沉淀为可复用的流程模板、</a:t>
            </a:r>
            <a:r>
              <a:rPr lang="en-GB" altLang="zh-CN" sz="1100">
                <a:solidFill>
                  <a:schemeClr val="accent4"/>
                </a:solidFill>
                <a:latin typeface="+mj-ea"/>
                <a:ea typeface="+mj-ea"/>
              </a:rPr>
              <a:t>Skill</a:t>
            </a:r>
            <a:r>
              <a:rPr lang="zh-CN" altLang="en-US" sz="1100">
                <a:solidFill>
                  <a:schemeClr val="accent4"/>
                </a:solidFill>
                <a:latin typeface="+mj-ea"/>
                <a:ea typeface="+mj-ea"/>
              </a:rPr>
              <a:t>和</a:t>
            </a:r>
            <a:r>
              <a:rPr lang="en-GB" altLang="zh-CN" sz="1100">
                <a:solidFill>
                  <a:schemeClr val="accent4"/>
                </a:solidFill>
                <a:latin typeface="+mj-ea"/>
                <a:ea typeface="+mj-ea"/>
              </a:rPr>
              <a:t>Agent</a:t>
            </a:r>
            <a:r>
              <a:rPr lang="zh-CN" altLang="en-US" sz="1100">
                <a:solidFill>
                  <a:schemeClr val="accent4"/>
                </a:solidFill>
                <a:latin typeface="+mj-ea"/>
                <a:ea typeface="+mj-ea"/>
              </a:rPr>
              <a:t>任务链，让组织能力可以被持续复制和迭代。</a:t>
            </a:r>
          </a:p>
        </p:txBody>
      </p:sp>
      <p:sp>
        <p:nvSpPr>
          <p:cNvPr id="24" name="TextBox 19"/>
          <p:cNvSpPr txBox="1"/>
          <p:nvPr/>
        </p:nvSpPr>
        <p:spPr>
          <a:xfrm>
            <a:off x="3480771" y="2118449"/>
            <a:ext cx="2182455" cy="10456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100">
                <a:solidFill>
                  <a:schemeClr val="accent4"/>
                </a:solidFill>
                <a:latin typeface="+mj-ea"/>
                <a:ea typeface="+mj-ea"/>
              </a:rPr>
              <a:t>维护</a:t>
            </a:r>
            <a:r>
              <a:rPr lang="en-US" altLang="zh-CN" sz="1100">
                <a:solidFill>
                  <a:schemeClr val="accent4"/>
                </a:solidFill>
                <a:latin typeface="+mj-ea"/>
                <a:ea typeface="+mj-ea"/>
              </a:rPr>
              <a:t>EWork</a:t>
            </a:r>
            <a:r>
              <a:rPr lang="zh-CN" altLang="en-US" sz="1100">
                <a:solidFill>
                  <a:schemeClr val="accent4"/>
                </a:solidFill>
                <a:latin typeface="+mj-ea"/>
                <a:ea typeface="+mj-ea"/>
              </a:rPr>
              <a:t>系统所承载的模型、数据、工具、权限、评测和运行环境，监控</a:t>
            </a:r>
            <a:r>
              <a:rPr lang="en-GB" altLang="zh-CN" sz="1100">
                <a:solidFill>
                  <a:schemeClr val="accent4"/>
                </a:solidFill>
                <a:latin typeface="+mj-ea"/>
                <a:ea typeface="+mj-ea"/>
              </a:rPr>
              <a:t>Agent</a:t>
            </a:r>
            <a:r>
              <a:rPr lang="zh-CN" altLang="en-US" sz="1100">
                <a:solidFill>
                  <a:schemeClr val="accent4"/>
                </a:solidFill>
                <a:latin typeface="+mj-ea"/>
                <a:ea typeface="+mj-ea"/>
              </a:rPr>
              <a:t>执行质量、成本、异常和风险，对流程和能力进行持续优化，确保</a:t>
            </a:r>
            <a:r>
              <a:rPr lang="en-GB" altLang="zh-CN" sz="1100">
                <a:solidFill>
                  <a:schemeClr val="accent4"/>
                </a:solidFill>
                <a:latin typeface="+mj-ea"/>
                <a:ea typeface="+mj-ea"/>
              </a:rPr>
              <a:t>AI</a:t>
            </a:r>
            <a:r>
              <a:rPr lang="zh-CN" altLang="en-US" sz="1100">
                <a:solidFill>
                  <a:schemeClr val="accent4"/>
                </a:solidFill>
                <a:latin typeface="+mj-ea"/>
                <a:ea typeface="+mj-ea"/>
              </a:rPr>
              <a:t>系统不是一次性上线，而是在真实使用中不断演进。</a:t>
            </a:r>
          </a:p>
        </p:txBody>
      </p:sp>
      <p:sp>
        <p:nvSpPr>
          <p:cNvPr id="25" name="TextBox 20"/>
          <p:cNvSpPr txBox="1"/>
          <p:nvPr/>
        </p:nvSpPr>
        <p:spPr>
          <a:xfrm>
            <a:off x="6232562" y="2115614"/>
            <a:ext cx="2182454" cy="971799"/>
          </a:xfrm>
          <a:prstGeom prst="rect">
            <a:avLst/>
          </a:prstGeom>
          <a:solidFill>
            <a:srgbClr val="000000">
              <a:alpha val="0"/>
            </a:srgbClr>
          </a:solidFill>
        </p:spPr>
        <p:txBody>
          <a:bodyPr lIns="0" tIns="0" rIns="0" bIns="0" rtlCol="0" anchor="t"/>
          <a:lstStyle/>
          <a:p>
            <a:pPr indent="0" algn="just">
              <a:lnSpc>
                <a:spcPct val="150000"/>
              </a:lnSpc>
              <a:defRPr/>
            </a:pPr>
            <a:r>
              <a:rPr lang="zh-CN" altLang="en-US" sz="1100">
                <a:solidFill>
                  <a:schemeClr val="accent4"/>
                </a:solidFill>
                <a:latin typeface="+mj-ea"/>
                <a:ea typeface="+mj-ea"/>
              </a:rPr>
              <a:t>在重要节点设定目标、确认边界、审批高风险动作、复核关键结果，并对最终业务判断负责。</a:t>
            </a:r>
            <a:r>
              <a:rPr lang="en-GB" altLang="zh-CN" sz="1100">
                <a:solidFill>
                  <a:schemeClr val="accent4"/>
                </a:solidFill>
                <a:latin typeface="+mj-ea"/>
                <a:ea typeface="+mj-ea"/>
              </a:rPr>
              <a:t>AI</a:t>
            </a:r>
            <a:r>
              <a:rPr lang="zh-CN" altLang="en-US" sz="1100">
                <a:solidFill>
                  <a:schemeClr val="accent4"/>
                </a:solidFill>
                <a:latin typeface="+mj-ea"/>
                <a:ea typeface="+mj-ea"/>
              </a:rPr>
              <a:t>可以承担信息处理和任务执行，但战略取舍、风险判断和受托责任仍由人掌握。</a:t>
            </a:r>
          </a:p>
        </p:txBody>
      </p:sp>
      <p:sp>
        <p:nvSpPr>
          <p:cNvPr id="3" name="矩形 2"/>
          <p:cNvSpPr/>
          <p:nvPr/>
        </p:nvSpPr>
        <p:spPr bwMode="auto">
          <a:xfrm>
            <a:off x="539204" y="1253067"/>
            <a:ext cx="2562011" cy="76200"/>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4" name="矩形 3"/>
          <p:cNvSpPr/>
          <p:nvPr/>
        </p:nvSpPr>
        <p:spPr bwMode="auto">
          <a:xfrm>
            <a:off x="3299337" y="1253067"/>
            <a:ext cx="2562011" cy="76200"/>
          </a:xfrm>
          <a:prstGeom prst="rect">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
        <p:nvSpPr>
          <p:cNvPr id="5" name="矩形 4"/>
          <p:cNvSpPr/>
          <p:nvPr/>
        </p:nvSpPr>
        <p:spPr bwMode="auto">
          <a:xfrm>
            <a:off x="6042537" y="1253067"/>
            <a:ext cx="2562011" cy="76200"/>
          </a:xfrm>
          <a:prstGeom prst="rect">
            <a:avLst/>
          </a:prstGeom>
          <a:solidFill>
            <a:schemeClr val="accent3"/>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MS PGothic" charset="0"/>
              <a:cs typeface="MS PGothic"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497"/>
            <a:ext cx="6719574" cy="267876"/>
          </a:xfrm>
        </p:spPr>
        <p:txBody>
          <a:bodyPr/>
          <a:lstStyle/>
          <a:p>
            <a:r>
              <a:rPr lang="zh-CN" altLang="en-US" dirty="0"/>
              <a:t>在变化中突破惯性，在重构中走向未来</a:t>
            </a:r>
          </a:p>
        </p:txBody>
      </p:sp>
      <p:sp>
        <p:nvSpPr>
          <p:cNvPr id="22" name="文本框 21"/>
          <p:cNvSpPr txBox="1"/>
          <p:nvPr/>
        </p:nvSpPr>
        <p:spPr>
          <a:xfrm>
            <a:off x="331706" y="996197"/>
            <a:ext cx="8522579" cy="397673"/>
          </a:xfrm>
          <a:prstGeom prst="rect">
            <a:avLst/>
          </a:prstGeom>
          <a:noFill/>
        </p:spPr>
        <p:txBody>
          <a:bodyPr wrap="square" rtlCol="0">
            <a:spAutoFit/>
          </a:bodyPr>
          <a:lstStyle/>
          <a:p>
            <a:pPr defTabSz="685165" fontAlgn="auto">
              <a:lnSpc>
                <a:spcPct val="150000"/>
              </a:lnSpc>
              <a:spcBef>
                <a:spcPts val="0"/>
              </a:spcBef>
              <a:spcAft>
                <a:spcPts val="0"/>
              </a:spcAft>
              <a:defRPr/>
            </a:pPr>
            <a:r>
              <a:rPr lang="zh-CN" altLang="en-US" sz="1500" dirty="0">
                <a:solidFill>
                  <a:schemeClr val="accent1"/>
                </a:solidFill>
                <a:latin typeface="+mj-ea"/>
                <a:ea typeface="+mj-ea"/>
              </a:rPr>
              <a:t>未来三年资管行业的发展将会出现明显分化</a:t>
            </a:r>
            <a:endParaRPr lang="en-US" altLang="zh-CN" sz="1500" dirty="0">
              <a:solidFill>
                <a:schemeClr val="accent1"/>
              </a:solidFill>
              <a:latin typeface="+mj-ea"/>
              <a:ea typeface="+mj-ea"/>
            </a:endParaRPr>
          </a:p>
        </p:txBody>
      </p:sp>
      <p:sp>
        <p:nvSpPr>
          <p:cNvPr id="26" name="文本框 25"/>
          <p:cNvSpPr txBox="1"/>
          <p:nvPr/>
        </p:nvSpPr>
        <p:spPr>
          <a:xfrm>
            <a:off x="350649" y="1468507"/>
            <a:ext cx="8286750" cy="2911182"/>
          </a:xfrm>
          <a:prstGeom prst="rect">
            <a:avLst/>
          </a:prstGeom>
          <a:noFill/>
        </p:spPr>
        <p:txBody>
          <a:bodyPr wrap="square" rtlCol="0">
            <a:spAutoFit/>
          </a:bodyPr>
          <a:lstStyle/>
          <a:p>
            <a:pPr>
              <a:lnSpc>
                <a:spcPct val="150000"/>
              </a:lnSpc>
            </a:pPr>
            <a:r>
              <a:rPr lang="zh-CN" altLang="en-US" sz="1200">
                <a:solidFill>
                  <a:schemeClr val="accent4"/>
                </a:solidFill>
                <a:latin typeface="+mj-ea"/>
                <a:ea typeface="+mj-ea"/>
              </a:rPr>
              <a:t>当</a:t>
            </a:r>
            <a:r>
              <a:rPr lang="en-GB" altLang="zh-CN" sz="1200">
                <a:solidFill>
                  <a:schemeClr val="accent4"/>
                </a:solidFill>
                <a:latin typeface="+mj-ea"/>
                <a:ea typeface="+mj-ea"/>
              </a:rPr>
              <a:t>AI</a:t>
            </a:r>
            <a:r>
              <a:rPr lang="zh-CN" altLang="en-US" sz="1200">
                <a:solidFill>
                  <a:schemeClr val="accent4"/>
                </a:solidFill>
                <a:latin typeface="+mj-ea"/>
                <a:ea typeface="+mj-ea"/>
              </a:rPr>
              <a:t>能力逐步普及，行业不会简单地一起变快，而会因为流程、数据、模型、技能和治理体系的差异，形成新的效率差距和能力差距。</a:t>
            </a:r>
            <a:endParaRPr lang="en-US" altLang="zh-CN" sz="1200">
              <a:solidFill>
                <a:schemeClr val="accent4"/>
              </a:solidFill>
              <a:latin typeface="+mj-ea"/>
              <a:ea typeface="+mj-ea"/>
            </a:endParaRPr>
          </a:p>
          <a:p>
            <a:pPr>
              <a:lnSpc>
                <a:spcPct val="150000"/>
              </a:lnSpc>
            </a:pPr>
            <a:endParaRPr lang="en-US" altLang="zh-CN" sz="1200">
              <a:solidFill>
                <a:schemeClr val="accent4"/>
              </a:solidFill>
              <a:latin typeface="+mj-ea"/>
              <a:ea typeface="+mj-ea"/>
            </a:endParaRPr>
          </a:p>
          <a:p>
            <a:pPr>
              <a:lnSpc>
                <a:spcPct val="150000"/>
              </a:lnSpc>
            </a:pPr>
            <a:r>
              <a:rPr lang="zh-CN" altLang="en-US" sz="1200">
                <a:solidFill>
                  <a:schemeClr val="accent4"/>
                </a:solidFill>
                <a:latin typeface="+mj-ea"/>
                <a:ea typeface="+mj-ea"/>
              </a:rPr>
              <a:t>真正的机会，不只是把已有工作做得更快，而是重新思考：</a:t>
            </a:r>
          </a:p>
          <a:p>
            <a:pPr marL="171450" indent="-171450">
              <a:lnSpc>
                <a:spcPct val="150000"/>
              </a:lnSpc>
              <a:buFont typeface="Arial" charset="0"/>
              <a:buChar char="•"/>
            </a:pPr>
            <a:r>
              <a:rPr lang="zh-CN" altLang="en-US" sz="1200">
                <a:solidFill>
                  <a:schemeClr val="accent4"/>
                </a:solidFill>
                <a:latin typeface="+mj-ea"/>
                <a:ea typeface="+mj-ea"/>
              </a:rPr>
              <a:t>哪些任务可以被重新定义</a:t>
            </a:r>
          </a:p>
          <a:p>
            <a:pPr marL="171450" indent="-171450">
              <a:lnSpc>
                <a:spcPct val="150000"/>
              </a:lnSpc>
              <a:buFont typeface="Arial" charset="0"/>
              <a:buChar char="•"/>
            </a:pPr>
            <a:r>
              <a:rPr lang="zh-CN" altLang="en-US" sz="1200">
                <a:solidFill>
                  <a:schemeClr val="accent4"/>
                </a:solidFill>
                <a:latin typeface="+mj-ea"/>
                <a:ea typeface="+mj-ea"/>
              </a:rPr>
              <a:t>哪些流程可以被重新编排</a:t>
            </a:r>
          </a:p>
          <a:p>
            <a:pPr marL="171450" indent="-171450">
              <a:lnSpc>
                <a:spcPct val="150000"/>
              </a:lnSpc>
              <a:buFont typeface="Arial" charset="0"/>
              <a:buChar char="•"/>
            </a:pPr>
            <a:r>
              <a:rPr lang="zh-CN" altLang="en-US" sz="1200">
                <a:solidFill>
                  <a:schemeClr val="accent4"/>
                </a:solidFill>
                <a:latin typeface="+mj-ea"/>
                <a:ea typeface="+mj-ea"/>
              </a:rPr>
              <a:t>哪些经验可以被沉淀复用</a:t>
            </a:r>
          </a:p>
          <a:p>
            <a:pPr marL="171450" indent="-171450">
              <a:lnSpc>
                <a:spcPct val="150000"/>
              </a:lnSpc>
              <a:buFont typeface="Arial" charset="0"/>
              <a:buChar char="•"/>
            </a:pPr>
            <a:r>
              <a:rPr lang="zh-CN" altLang="en-US" sz="1200">
                <a:solidFill>
                  <a:schemeClr val="accent4"/>
                </a:solidFill>
                <a:latin typeface="+mj-ea"/>
                <a:ea typeface="+mj-ea"/>
              </a:rPr>
              <a:t>哪些边界可以被系统治理</a:t>
            </a:r>
            <a:endParaRPr lang="en-US" altLang="zh-CN" sz="1200">
              <a:solidFill>
                <a:schemeClr val="accent4"/>
              </a:solidFill>
              <a:latin typeface="+mj-ea"/>
              <a:ea typeface="+mj-ea"/>
            </a:endParaRPr>
          </a:p>
        </p:txBody>
      </p:sp>
      <p:sp>
        <p:nvSpPr>
          <p:cNvPr id="1027" name="收束结论"/>
          <p:cNvSpPr txBox="1"/>
          <p:nvPr/>
        </p:nvSpPr>
        <p:spPr>
          <a:xfrm>
            <a:off x="350649" y="4200000"/>
            <a:ext cx="8286750" cy="330000"/>
          </a:xfrm>
          <a:prstGeom prst="rect">
            <a:avLst/>
          </a:prstGeom>
          <a:noFill/>
          <a:ln>
            <a:noFill/>
          </a:ln>
        </p:spPr>
        <p:txBody>
          <a:bodyPr wrap="none" lIns="0" tIns="0" rIns="0" bIns="0">
            <a:noAutofit/>
          </a:bodyPr>
          <a:lstStyle/>
          <a:p>
            <a:pPr/>
            <a:r>
              <a:rPr lang="zh-CN" altLang="en-US" sz="1600" b="1">
                <a:solidFill>
                  <a:schemeClr val="accent1"/>
                </a:solidFill>
                <a:latin typeface="+mj-ea"/>
                <a:ea typeface="+mj-ea"/>
              </a:rPr>
              <a:t>越早重构，越能在新周期中掌握主动</a:t>
            </a:r>
            <a:endParaRPr lang="zh-CN" altLang="en-US" sz="16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a:xfrm>
            <a:off x="672308" y="1157459"/>
            <a:ext cx="2491376" cy="1316803"/>
          </a:xfrm>
          <a:prstGeom prst="rect">
            <a:avLst/>
          </a:prstGeom>
        </p:spPr>
        <p:txBody>
          <a:bodyPr vert="horz" lIns="0" tIns="0" rIns="0" bIns="0" rtlCol="0" anchor="t" anchorCtr="0">
            <a:noAutofit/>
          </a:bodyPr>
          <a:lstStyle>
            <a:lvl1pPr marL="0" indent="0" algn="l" defTabSz="457200" rtl="0" eaLnBrk="1" latinLnBrk="0" hangingPunct="1">
              <a:lnSpc>
                <a:spcPts val="4300"/>
              </a:lnSpc>
              <a:spcBef>
                <a:spcPts val="0"/>
              </a:spcBef>
              <a:buFont typeface="Arial" charset="0"/>
              <a:buNone/>
              <a:defRPr sz="3600" b="1" i="0" kern="1200">
                <a:solidFill>
                  <a:schemeClr val="bg1"/>
                </a:solidFill>
                <a:latin typeface="Arial" charset="0"/>
                <a:ea typeface="+mn-ea"/>
                <a:cs typeface="Arial" charset="0"/>
              </a:defRPr>
            </a:lvl1pPr>
            <a:lvl2pPr marL="0" indent="0" algn="l" defTabSz="457200" rtl="0" eaLnBrk="1" latinLnBrk="0" hangingPunct="1">
              <a:lnSpc>
                <a:spcPts val="2500"/>
              </a:lnSpc>
              <a:spcBef>
                <a:spcPts val="0"/>
              </a:spcBef>
              <a:buFont typeface="Arial" charset="0"/>
              <a:buNone/>
              <a:defRPr sz="1500" kern="1200">
                <a:solidFill>
                  <a:schemeClr val="bg1"/>
                </a:solidFill>
                <a:latin typeface="Arial" charset="0"/>
                <a:ea typeface="+mn-ea"/>
                <a:cs typeface="Arial" charset="0"/>
              </a:defRPr>
            </a:lvl2pPr>
            <a:lvl3pPr marL="0" indent="0" algn="l" defTabSz="457200" rtl="0" eaLnBrk="1" latinLnBrk="0" hangingPunct="1">
              <a:lnSpc>
                <a:spcPts val="1800"/>
              </a:lnSpc>
              <a:spcBef>
                <a:spcPts val="0"/>
              </a:spcBef>
              <a:buFont typeface="Arial" charset="0"/>
              <a:buNone/>
              <a:defRPr sz="1500" kern="1200">
                <a:solidFill>
                  <a:schemeClr val="bg1"/>
                </a:solidFill>
                <a:latin typeface="Arial" charset="0"/>
                <a:ea typeface="+mn-ea"/>
                <a:cs typeface="Arial" charset="0"/>
              </a:defRPr>
            </a:lvl3pPr>
            <a:lvl4pPr marL="0" indent="0" algn="l" defTabSz="457200" rtl="0" eaLnBrk="1" latinLnBrk="0" hangingPunct="1">
              <a:lnSpc>
                <a:spcPts val="1800"/>
              </a:lnSpc>
              <a:spcBef>
                <a:spcPts val="0"/>
              </a:spcBef>
              <a:buFont typeface="Arial" charset="0"/>
              <a:buNone/>
              <a:defRPr sz="1500" kern="1200">
                <a:solidFill>
                  <a:schemeClr val="bg1"/>
                </a:solidFill>
                <a:latin typeface="Arial" charset="0"/>
                <a:ea typeface="+mn-ea"/>
                <a:cs typeface="Arial" charset="0"/>
              </a:defRPr>
            </a:lvl4pPr>
            <a:lvl5pPr marL="0" indent="0" algn="l" defTabSz="457200" rtl="0" eaLnBrk="1" latinLnBrk="0" hangingPunct="1">
              <a:lnSpc>
                <a:spcPts val="1800"/>
              </a:lnSpc>
              <a:spcBef>
                <a:spcPts val="0"/>
              </a:spcBef>
              <a:buFont typeface="Arial" charset="0"/>
              <a:buNone/>
              <a:defRPr sz="1500" kern="1200">
                <a:solidFill>
                  <a:schemeClr val="bg1"/>
                </a:solidFill>
                <a:latin typeface="Arial" charset="0"/>
                <a:ea typeface="+mn-ea"/>
                <a:cs typeface="Arial" charset="0"/>
              </a:defRPr>
            </a:lvl5pPr>
            <a:lvl6pPr marL="25146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9pPr>
          </a:lstStyle>
          <a:p>
            <a:pPr>
              <a:lnSpc>
                <a:spcPct val="150000"/>
              </a:lnSpc>
            </a:pPr>
            <a:r>
              <a:rPr lang="zh-CN" altLang="en-US" sz="5400" dirty="0">
                <a:solidFill>
                  <a:schemeClr val="accent1"/>
                </a:solidFill>
                <a:latin typeface="Arial" charset="0"/>
                <a:ea typeface="华文黑体_易方达" pitchFamily="2" charset="-122"/>
                <a:cs typeface="Arial" charset="0"/>
              </a:rPr>
              <a:t>谢谢</a:t>
            </a:r>
            <a:endParaRPr lang="en-US" altLang="zh-TW" sz="5400" dirty="0">
              <a:solidFill>
                <a:schemeClr val="accent1"/>
              </a:solidFill>
              <a:latin typeface="Arial" charset="0"/>
              <a:ea typeface="华文黑体_易方达" pitchFamily="2" charset="-122"/>
              <a:cs typeface="Arial" charset="0"/>
            </a:endParaRPr>
          </a:p>
        </p:txBody>
      </p:sp>
      <p:sp>
        <p:nvSpPr>
          <p:cNvPr id="6" name="矩形 5"/>
          <p:cNvSpPr/>
          <p:nvPr/>
        </p:nvSpPr>
        <p:spPr bwMode="auto">
          <a:xfrm>
            <a:off x="-1774552" y="22794"/>
            <a:ext cx="1669315" cy="3602023"/>
          </a:xfrm>
          <a:prstGeom prst="rect">
            <a:avLst/>
          </a:prstGeom>
          <a:solidFill>
            <a:schemeClr val="accent5"/>
          </a:solidFill>
          <a:ln w="9525" cap="flat" cmpd="sng" algn="ctr">
            <a:noFill/>
            <a:prstDash val="dash"/>
            <a:round/>
            <a:headEnd type="none" w="med" len="med"/>
            <a:tailEnd type="none" w="med" len="med"/>
          </a:ln>
          <a:effectLst/>
        </p:spPr>
        <p:txBody>
          <a:bodyPr vert="horz" wrap="square" lIns="91377" tIns="45688" rIns="91377" bIns="45688" numCol="1" rtlCol="0" anchor="t" anchorCtr="0" compatLnSpc="1"/>
          <a:lstStyle/>
          <a:p>
            <a:pPr eaLnBrk="0" hangingPunct="0"/>
            <a:r>
              <a:rPr lang="zh-CN" altLang="en-US" sz="1000" b="1" dirty="0">
                <a:solidFill>
                  <a:schemeClr val="bg1"/>
                </a:solidFill>
                <a:latin typeface="Arial" charset="0"/>
                <a:ea typeface="华文黑体_易方达" pitchFamily="2" charset="-122"/>
                <a:cs typeface="Arial" charset="0"/>
              </a:rPr>
              <a:t>封底页规则</a:t>
            </a:r>
            <a:endParaRPr lang="en-US" altLang="zh-CN" sz="1000" b="1" dirty="0">
              <a:solidFill>
                <a:schemeClr val="bg1"/>
              </a:solidFill>
              <a:latin typeface="Arial" charset="0"/>
              <a:ea typeface="华文黑体_易方达" pitchFamily="2" charset="-122"/>
              <a:cs typeface="Arial" charset="0"/>
            </a:endParaRPr>
          </a:p>
          <a:p>
            <a:pPr marL="228600" indent="-228600" eaLnBrk="0" hangingPunct="0">
              <a:buFont typeface="+mj-lt"/>
              <a:buAutoNum type="arabicPeriod"/>
            </a:pP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答谢词字体：华文黑体，</a:t>
            </a:r>
            <a:r>
              <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rPr>
              <a:t>45</a:t>
            </a: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号，加粗，答谢词</a:t>
            </a:r>
            <a:r>
              <a:rPr lang="zh-CN" altLang="en-US" sz="1000" dirty="0">
                <a:solidFill>
                  <a:schemeClr val="bg1"/>
                </a:solidFill>
                <a:latin typeface="Arial" charset="0"/>
                <a:ea typeface="华文黑体_易方达" pitchFamily="2" charset="-122"/>
                <a:cs typeface="Arial" charset="0"/>
              </a:rPr>
              <a:t>内容</a:t>
            </a: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可根据实际需要修改</a:t>
            </a:r>
            <a:endPar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endParaRPr>
          </a:p>
          <a:p>
            <a:pPr marL="228600" indent="-228600" eaLnBrk="0" hangingPunct="0">
              <a:buFont typeface="+mj-lt"/>
              <a:buAutoNum type="arabicPeriod"/>
            </a:pPr>
            <a:r>
              <a:rPr lang="zh-CN" altLang="en-US" sz="1000" dirty="0">
                <a:solidFill>
                  <a:schemeClr val="bg1"/>
                </a:solidFill>
                <a:latin typeface="Arial" charset="0"/>
                <a:ea typeface="华文黑体_易方达" pitchFamily="2" charset="-122"/>
                <a:cs typeface="Arial" charset="0"/>
              </a:rPr>
              <a:t>人员联系方式（非必须）：中文为华文黑体，</a:t>
            </a:r>
            <a:r>
              <a:rPr lang="en-US" altLang="zh-CN" sz="1000" dirty="0">
                <a:solidFill>
                  <a:schemeClr val="bg1"/>
                </a:solidFill>
                <a:latin typeface="Arial" charset="0"/>
                <a:ea typeface="华文黑体_易方达" pitchFamily="2" charset="-122"/>
                <a:cs typeface="Arial" charset="0"/>
              </a:rPr>
              <a:t>12</a:t>
            </a:r>
            <a:r>
              <a:rPr lang="zh-CN" altLang="en-US" sz="1000" dirty="0">
                <a:solidFill>
                  <a:schemeClr val="bg1"/>
                </a:solidFill>
                <a:latin typeface="Arial" charset="0"/>
                <a:ea typeface="华文黑体_易方达" pitchFamily="2" charset="-122"/>
                <a:cs typeface="Arial" charset="0"/>
              </a:rPr>
              <a:t>号；英文和数字字体为</a:t>
            </a:r>
            <a:r>
              <a:rPr lang="en-US" altLang="zh-CN" sz="1000" dirty="0">
                <a:solidFill>
                  <a:schemeClr val="bg1"/>
                </a:solidFill>
                <a:latin typeface="Arial" charset="0"/>
                <a:ea typeface="华文黑体_易方达" pitchFamily="2" charset="-122"/>
                <a:cs typeface="Arial" charset="0"/>
              </a:rPr>
              <a:t>Arial</a:t>
            </a:r>
            <a:r>
              <a:rPr lang="zh-CN" altLang="en-US" sz="1000" dirty="0">
                <a:solidFill>
                  <a:schemeClr val="bg1"/>
                </a:solidFill>
                <a:latin typeface="Arial" charset="0"/>
                <a:ea typeface="华文黑体_易方达" pitchFamily="2" charset="-122"/>
                <a:cs typeface="Arial" charset="0"/>
              </a:rPr>
              <a:t>，</a:t>
            </a:r>
            <a:r>
              <a:rPr lang="en-US" altLang="zh-CN" sz="1000" dirty="0">
                <a:solidFill>
                  <a:schemeClr val="bg1"/>
                </a:solidFill>
                <a:latin typeface="Arial" charset="0"/>
                <a:ea typeface="华文黑体_易方达" pitchFamily="2" charset="-122"/>
                <a:cs typeface="Arial" charset="0"/>
              </a:rPr>
              <a:t>12</a:t>
            </a:r>
            <a:r>
              <a:rPr lang="zh-CN" altLang="en-US" sz="1000" dirty="0">
                <a:solidFill>
                  <a:schemeClr val="bg1"/>
                </a:solidFill>
                <a:latin typeface="Arial" charset="0"/>
                <a:ea typeface="华文黑体_易方达" pitchFamily="2" charset="-122"/>
                <a:cs typeface="Arial" charset="0"/>
              </a:rPr>
              <a:t>号；深蓝（</a:t>
            </a:r>
            <a:r>
              <a:rPr lang="en-US" altLang="zh-CN" sz="1000" dirty="0">
                <a:solidFill>
                  <a:schemeClr val="bg1"/>
                </a:solidFill>
                <a:latin typeface="Arial" charset="0"/>
                <a:ea typeface="华文黑体_易方达" pitchFamily="2" charset="-122"/>
                <a:cs typeface="Arial" charset="0"/>
              </a:rPr>
              <a:t>R0</a:t>
            </a:r>
            <a:r>
              <a:rPr lang="zh-CN" altLang="en-US" sz="1000" dirty="0">
                <a:solidFill>
                  <a:schemeClr val="bg1"/>
                </a:solidFill>
                <a:latin typeface="Arial" charset="0"/>
                <a:ea typeface="华文黑体_易方达" pitchFamily="2" charset="-122"/>
                <a:cs typeface="Arial" charset="0"/>
              </a:rPr>
              <a:t>，</a:t>
            </a:r>
            <a:r>
              <a:rPr lang="en-US" altLang="zh-CN" sz="1000" dirty="0">
                <a:solidFill>
                  <a:schemeClr val="bg1"/>
                </a:solidFill>
                <a:latin typeface="Arial" charset="0"/>
                <a:ea typeface="华文黑体_易方达" pitchFamily="2" charset="-122"/>
                <a:cs typeface="Arial" charset="0"/>
              </a:rPr>
              <a:t>G80</a:t>
            </a:r>
            <a:r>
              <a:rPr lang="zh-CN" altLang="en-US" sz="1000" dirty="0">
                <a:solidFill>
                  <a:schemeClr val="bg1"/>
                </a:solidFill>
                <a:latin typeface="Arial" charset="0"/>
                <a:ea typeface="华文黑体_易方达" pitchFamily="2" charset="-122"/>
                <a:cs typeface="Arial" charset="0"/>
              </a:rPr>
              <a:t>，</a:t>
            </a:r>
            <a:r>
              <a:rPr lang="en-US" altLang="zh-CN" sz="1000" dirty="0">
                <a:solidFill>
                  <a:schemeClr val="bg1"/>
                </a:solidFill>
                <a:latin typeface="Arial" charset="0"/>
                <a:ea typeface="华文黑体_易方达" pitchFamily="2" charset="-122"/>
                <a:cs typeface="Arial" charset="0"/>
              </a:rPr>
              <a:t>B150</a:t>
            </a:r>
            <a:r>
              <a:rPr lang="zh-CN" altLang="en-US" sz="1000" dirty="0">
                <a:solidFill>
                  <a:schemeClr val="bg1"/>
                </a:solidFill>
                <a:latin typeface="Arial" charset="0"/>
                <a:ea typeface="华文黑体_易方达" pitchFamily="2" charset="-122"/>
                <a:cs typeface="Arial" charset="0"/>
              </a:rPr>
              <a:t>），内容可根据需要调整</a:t>
            </a:r>
            <a:endParaRPr lang="en-US" altLang="zh-CN" sz="1000" dirty="0">
              <a:solidFill>
                <a:schemeClr val="bg1"/>
              </a:solidFill>
              <a:latin typeface="Arial" charset="0"/>
              <a:ea typeface="华文黑体_易方达" pitchFamily="2" charset="-122"/>
              <a:cs typeface="Arial" charset="0"/>
            </a:endParaRPr>
          </a:p>
          <a:p>
            <a:pPr marL="228600" indent="-228600" eaLnBrk="0" hangingPunct="0">
              <a:buFont typeface="+mj-lt"/>
              <a:buAutoNum type="arabicPeriod"/>
            </a:pP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公司信息：中文为华文黑体，</a:t>
            </a:r>
            <a:r>
              <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rPr>
              <a:t>11</a:t>
            </a: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号；英文和数字字体为</a:t>
            </a:r>
            <a:r>
              <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rPr>
              <a:t>Arial</a:t>
            </a: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a:t>
            </a:r>
            <a:r>
              <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rPr>
              <a:t>11</a:t>
            </a: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号，公司名称、处所等</a:t>
            </a:r>
            <a:r>
              <a:rPr lang="zh-CN" altLang="en-US" sz="1000" dirty="0">
                <a:solidFill>
                  <a:schemeClr val="bg1"/>
                </a:solidFill>
                <a:latin typeface="Arial" charset="0"/>
                <a:ea typeface="华文黑体_易方达" pitchFamily="2" charset="-122"/>
                <a:cs typeface="Arial" charset="0"/>
              </a:rPr>
              <a:t>相关</a:t>
            </a: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信息可根据具体需要修改</a:t>
            </a:r>
            <a:endPar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endParaRPr>
          </a:p>
          <a:p>
            <a:pPr eaLnBrk="0" hangingPunct="0"/>
            <a:endPar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endParaRPr>
          </a:p>
          <a:p>
            <a:pPr marL="171450" indent="-171450" eaLnBrk="0" hangingPunct="0">
              <a:buFont typeface="Arial" charset="0"/>
              <a:buChar char="•"/>
            </a:pPr>
            <a:r>
              <a:rPr lang="zh-CN" altLang="en-US" sz="1000" dirty="0">
                <a:solidFill>
                  <a:schemeClr val="bg1"/>
                </a:solidFill>
                <a:latin typeface="Arial" charset="0"/>
                <a:ea typeface="华文黑体_易方达" pitchFamily="2" charset="-122"/>
                <a:cs typeface="Arial" charset="0"/>
              </a:rPr>
              <a:t>封底页不得擅自添加任何图片</a:t>
            </a:r>
            <a:endParaRPr lang="en-US" altLang="zh-CN" sz="1000" dirty="0">
              <a:solidFill>
                <a:schemeClr val="bg1"/>
              </a:solidFill>
              <a:latin typeface="Arial" charset="0"/>
              <a:ea typeface="华文黑体_易方达" pitchFamily="2" charset="-122"/>
              <a:cs typeface="Arial" charset="0"/>
            </a:endParaRPr>
          </a:p>
          <a:p>
            <a:pPr marL="171450" indent="-171450" eaLnBrk="0" hangingPunct="0">
              <a:buFont typeface="Arial" charset="0"/>
              <a:buChar char="•"/>
            </a:pPr>
            <a:r>
              <a:rPr kumimoji="0" lang="zh-CN" altLang="en-US" sz="1000" b="0" i="0" u="none" strike="noStrike" cap="none" normalizeH="0" baseline="0" dirty="0">
                <a:ln>
                  <a:noFill/>
                </a:ln>
                <a:solidFill>
                  <a:schemeClr val="bg1"/>
                </a:solidFill>
                <a:effectLst/>
                <a:latin typeface="Arial" charset="0"/>
                <a:ea typeface="华文黑体_易方达" pitchFamily="2" charset="-122"/>
                <a:cs typeface="Arial" charset="0"/>
              </a:rPr>
              <a:t>文字、颜色、位置等不得擅自变动</a:t>
            </a:r>
            <a:endParaRPr kumimoji="0" lang="en-US" altLang="zh-CN" sz="1000" b="0" i="0" u="none" strike="noStrike" cap="none" normalizeH="0" baseline="0" dirty="0">
              <a:ln>
                <a:noFill/>
              </a:ln>
              <a:solidFill>
                <a:schemeClr val="bg1"/>
              </a:solidFill>
              <a:effectLst/>
              <a:latin typeface="Arial" charset="0"/>
              <a:ea typeface="华文黑体_易方达" pitchFamily="2" charset="-122"/>
              <a:cs typeface="Arial" charset="0"/>
            </a:endParaRPr>
          </a:p>
        </p:txBody>
      </p:sp>
      <p:sp>
        <p:nvSpPr>
          <p:cNvPr id="9" name="Content Placeholder 2"/>
          <p:cNvSpPr txBox="1"/>
          <p:nvPr/>
        </p:nvSpPr>
        <p:spPr>
          <a:xfrm>
            <a:off x="350572" y="2474262"/>
            <a:ext cx="2716581" cy="1316803"/>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charset="0"/>
              <a:buNone/>
              <a:defRPr sz="3600" b="1" i="0" kern="1200">
                <a:solidFill>
                  <a:schemeClr val="bg1"/>
                </a:solidFill>
                <a:latin typeface="Arial" charset="0"/>
                <a:ea typeface="+mn-ea"/>
                <a:cs typeface="Arial" charset="0"/>
              </a:defRPr>
            </a:lvl1pPr>
            <a:lvl2pPr marL="0" indent="0" algn="l" defTabSz="457200" rtl="0" eaLnBrk="1" latinLnBrk="0" hangingPunct="1">
              <a:lnSpc>
                <a:spcPts val="2500"/>
              </a:lnSpc>
              <a:spcBef>
                <a:spcPts val="0"/>
              </a:spcBef>
              <a:buFont typeface="Arial" charset="0"/>
              <a:buNone/>
              <a:defRPr sz="1500" kern="1200">
                <a:solidFill>
                  <a:schemeClr val="bg1"/>
                </a:solidFill>
                <a:latin typeface="Arial" charset="0"/>
                <a:ea typeface="+mn-ea"/>
                <a:cs typeface="Arial" charset="0"/>
              </a:defRPr>
            </a:lvl2pPr>
            <a:lvl3pPr marL="0" indent="0" algn="l" defTabSz="457200" rtl="0" eaLnBrk="1" latinLnBrk="0" hangingPunct="1">
              <a:lnSpc>
                <a:spcPts val="1800"/>
              </a:lnSpc>
              <a:spcBef>
                <a:spcPts val="0"/>
              </a:spcBef>
              <a:buFont typeface="Arial" charset="0"/>
              <a:buNone/>
              <a:defRPr sz="1500" kern="1200">
                <a:solidFill>
                  <a:schemeClr val="bg1"/>
                </a:solidFill>
                <a:latin typeface="Arial" charset="0"/>
                <a:ea typeface="+mn-ea"/>
                <a:cs typeface="Arial" charset="0"/>
              </a:defRPr>
            </a:lvl3pPr>
            <a:lvl4pPr marL="0" indent="0" algn="l" defTabSz="457200" rtl="0" eaLnBrk="1" latinLnBrk="0" hangingPunct="1">
              <a:lnSpc>
                <a:spcPts val="1800"/>
              </a:lnSpc>
              <a:spcBef>
                <a:spcPts val="0"/>
              </a:spcBef>
              <a:buFont typeface="Arial" charset="0"/>
              <a:buNone/>
              <a:defRPr sz="1500" kern="1200">
                <a:solidFill>
                  <a:schemeClr val="bg1"/>
                </a:solidFill>
                <a:latin typeface="Arial" charset="0"/>
                <a:ea typeface="+mn-ea"/>
                <a:cs typeface="Arial" charset="0"/>
              </a:defRPr>
            </a:lvl4pPr>
            <a:lvl5pPr marL="0" indent="0" algn="l" defTabSz="457200" rtl="0" eaLnBrk="1" latinLnBrk="0" hangingPunct="1">
              <a:lnSpc>
                <a:spcPts val="1800"/>
              </a:lnSpc>
              <a:spcBef>
                <a:spcPts val="0"/>
              </a:spcBef>
              <a:buFont typeface="Arial" charset="0"/>
              <a:buNone/>
              <a:defRPr sz="1500" kern="1200">
                <a:solidFill>
                  <a:schemeClr val="bg1"/>
                </a:solidFill>
                <a:latin typeface="Arial" charset="0"/>
                <a:ea typeface="+mn-ea"/>
                <a:cs typeface="Arial" charset="0"/>
              </a:defRPr>
            </a:lvl5pPr>
            <a:lvl6pPr marL="25146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charset="0"/>
              <a:buChar char="•"/>
              <a:defRPr sz="2000" kern="1200">
                <a:solidFill>
                  <a:schemeClr val="tx1"/>
                </a:solidFill>
                <a:latin typeface="+mn-lt"/>
                <a:ea typeface="+mn-ea"/>
                <a:cs typeface="+mn-cs"/>
              </a:defRPr>
            </a:lvl9pPr>
          </a:lstStyle>
          <a:p>
            <a:pPr>
              <a:lnSpc>
                <a:spcPct val="170000"/>
              </a:lnSpc>
            </a:pPr>
            <a:endParaRPr lang="en-US" altLang="zh-CN" sz="1500" dirty="0">
              <a:solidFill>
                <a:srgbClr val="005096"/>
              </a:solidFill>
              <a:latin typeface="+mn-ea"/>
              <a:cs typeface="Arial" charset="0"/>
            </a:endParaRPr>
          </a:p>
          <a:p>
            <a:pPr>
              <a:lnSpc>
                <a:spcPct val="170000"/>
              </a:lnSpc>
            </a:pPr>
            <a:endParaRPr lang="en-US" sz="1400" dirty="0">
              <a:solidFill>
                <a:srgbClr val="005096"/>
              </a:solidFill>
              <a:latin typeface="+mn-ea"/>
              <a:cs typeface="Arial" charset="0"/>
            </a:endParaRPr>
          </a:p>
        </p:txBody>
      </p:sp>
    </p:spTree>
  </p:cSld>
  <p:clrMapOvr>
    <a:masterClrMapping/>
  </p:clrMapOvr>
</p:sld>
</file>

<file path=ppt/theme/theme1.xml><?xml version="1.0" encoding="utf-8"?>
<a:theme xmlns:a="http://schemas.openxmlformats.org/drawingml/2006/main" name="EFund_PowerPoint">
  <a:themeElements>
    <a:clrScheme name="易方达ppt色彩体系">
      <a:dk1>
        <a:srgbClr val="000000"/>
      </a:dk1>
      <a:lt1>
        <a:srgbClr val="FFFFFF"/>
      </a:lt1>
      <a:dk2>
        <a:srgbClr val="000000"/>
      </a:dk2>
      <a:lt2>
        <a:srgbClr val="FFFFFF"/>
      </a:lt2>
      <a:accent1>
        <a:srgbClr val="005096"/>
      </a:accent1>
      <a:accent2>
        <a:srgbClr val="0078B4"/>
      </a:accent2>
      <a:accent3>
        <a:srgbClr val="1EB9E1"/>
      </a:accent3>
      <a:accent4>
        <a:srgbClr val="3C3C3C"/>
      </a:accent4>
      <a:accent5>
        <a:srgbClr val="969696"/>
      </a:accent5>
      <a:accent6>
        <a:srgbClr val="C1C6C8"/>
      </a:accent6>
      <a:hlink>
        <a:srgbClr val="EEEEEE"/>
      </a:hlink>
      <a:folHlink>
        <a:srgbClr val="B3EBFF"/>
      </a:folHlink>
    </a:clrScheme>
    <a:fontScheme name="自定义 1">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a:ln>
              <a:noFill/>
            </a:ln>
            <a:solidFill>
              <a:schemeClr val="tx1"/>
            </a:solidFill>
            <a:effectLst/>
            <a:latin typeface="Arial" charset="0"/>
            <a:ea typeface="MS PGothic" charset="0"/>
            <a:cs typeface="MS PGothic"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a:ln>
              <a:noFill/>
            </a:ln>
            <a:solidFill>
              <a:schemeClr val="tx1"/>
            </a:solidFill>
            <a:effectLst/>
            <a:latin typeface="Arial" charset="0"/>
            <a:ea typeface="MS PGothic" charset="0"/>
            <a:cs typeface="MS PGothic" charset="0"/>
          </a:defRPr>
        </a:defPPr>
      </a:lstStyle>
    </a:lnDef>
    <a:txDef>
      <a:spPr>
        <a:noFill/>
      </a:spPr>
      <a:bodyPr wrap="square" rtlCol="0">
        <a:spAutoFit/>
      </a:bodyPr>
      <a:lstStyle>
        <a:defPPr>
          <a:defRPr sz="1600" dirty="0" smtClean="0">
            <a:latin typeface="+mn-ea"/>
            <a:ea typeface="+mn-ea"/>
          </a:defRPr>
        </a:defPPr>
      </a:lstStyle>
    </a:txDef>
  </a:objectDefaults>
  <a:extraClrSchemeLst>
    <a:extraClrScheme>
      <a:clrScheme name="Ramax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Ramax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Ramax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Ramax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Ramax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Ramax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Ramaxe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Ramax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Ramax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Ramax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Ramax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Ramax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易方达ppt色彩体系">
      <a:dk1>
        <a:srgbClr val="000000"/>
      </a:dk1>
      <a:lt1>
        <a:srgbClr val="FFFFFF"/>
      </a:lt1>
      <a:dk2>
        <a:srgbClr val="000000"/>
      </a:dk2>
      <a:lt2>
        <a:srgbClr val="FFFFFF"/>
      </a:lt2>
      <a:accent1>
        <a:srgbClr val="005096"/>
      </a:accent1>
      <a:accent2>
        <a:srgbClr val="0078B4"/>
      </a:accent2>
      <a:accent3>
        <a:srgbClr val="1EB9E1"/>
      </a:accent3>
      <a:accent4>
        <a:srgbClr val="3C3C3C"/>
      </a:accent4>
      <a:accent5>
        <a:srgbClr val="969696"/>
      </a:accent5>
      <a:accent6>
        <a:srgbClr val="C1C6C8"/>
      </a:accent6>
      <a:hlink>
        <a:srgbClr val="EEEEEE"/>
      </a:hlink>
      <a:folHlink>
        <a:srgbClr val="B3EBFF"/>
      </a:folHlink>
    </a:clrScheme>
    <a:fontScheme name="易方达">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易方达ppt色彩体系">
      <a:dk1>
        <a:srgbClr val="000000"/>
      </a:dk1>
      <a:lt1>
        <a:srgbClr val="FFFFFF"/>
      </a:lt1>
      <a:dk2>
        <a:srgbClr val="000000"/>
      </a:dk2>
      <a:lt2>
        <a:srgbClr val="FFFFFF"/>
      </a:lt2>
      <a:accent1>
        <a:srgbClr val="005096"/>
      </a:accent1>
      <a:accent2>
        <a:srgbClr val="0078B4"/>
      </a:accent2>
      <a:accent3>
        <a:srgbClr val="1EB9E1"/>
      </a:accent3>
      <a:accent4>
        <a:srgbClr val="3C3C3C"/>
      </a:accent4>
      <a:accent5>
        <a:srgbClr val="969696"/>
      </a:accent5>
      <a:accent6>
        <a:srgbClr val="C1C6C8"/>
      </a:accent6>
      <a:hlink>
        <a:srgbClr val="EEEEEE"/>
      </a:hlink>
      <a:folHlink>
        <a:srgbClr val="B3EBFF"/>
      </a:folHlink>
    </a:clrScheme>
    <a:fontScheme name="易方达">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3977</Words>
  <Application>Microsoft Macintosh PowerPoint</Application>
  <PresentationFormat>全屏显示(16:9)</PresentationFormat>
  <Paragraphs>512</Paragraphs>
  <Slides>33</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等线</vt:lpstr>
      <vt:lpstr>黑体</vt:lpstr>
      <vt:lpstr>华文黑体</vt:lpstr>
      <vt:lpstr>华文黑体_易方达</vt:lpstr>
      <vt:lpstr>Times</vt:lpstr>
      <vt:lpstr>Arial</vt:lpstr>
      <vt:lpstr>Arial Narrow</vt:lpstr>
      <vt:lpstr>Verdana</vt:lpstr>
      <vt:lpstr>EFund_PowerPoint</vt:lpstr>
      <vt:lpstr>PowerPoint 演示文稿</vt:lpstr>
      <vt:lpstr>AI转型，还是AI原生？</vt:lpstr>
      <vt:lpstr>目前全球企业的人工智能实施方式</vt:lpstr>
      <vt:lpstr>我们需要企业级的AI操作系统</vt:lpstr>
      <vt:lpstr>企业级AI操作系统的六大核心能力</vt:lpstr>
      <vt:lpstr>资管操作系统演进的三大阶段</vt:lpstr>
      <vt:lpstr>EWork：Agentic Workforce的运作系统</vt:lpstr>
      <vt:lpstr>EWork内实现的智能体工程类型</vt:lpstr>
      <vt:lpstr>EWork与传统资管系统的核心差异</vt:lpstr>
      <vt:lpstr>EWork平台的五层架构设计</vt:lpstr>
      <vt:lpstr>算力层：统筹云端资源，优化弹性伸缩与成本</vt:lpstr>
      <vt:lpstr>PowerPoint 演示文稿</vt:lpstr>
      <vt:lpstr>PowerPoint 演示文稿</vt:lpstr>
      <vt:lpstr>PowerPoint 演示文稿</vt:lpstr>
      <vt:lpstr>数据层：汇聚全量数据，转化语义化 AI 资产</vt:lpstr>
      <vt:lpstr>以数据治理为例：AI数据移民，把数据变成AI可用</vt:lpstr>
      <vt:lpstr>PowerPoint 演示文稿</vt:lpstr>
      <vt:lpstr>模型层：整合大小模型，实现推理与场景匹配</vt:lpstr>
      <vt:lpstr>PowerPoint 演示文稿</vt:lpstr>
      <vt:lpstr>PowerPoint 演示文稿</vt:lpstr>
      <vt:lpstr>PowerPoint 演示文稿</vt:lpstr>
      <vt:lpstr>架构层：解决调度瓶颈，提升系统可靠与安全</vt:lpstr>
      <vt:lpstr>PowerPoint 演示文稿</vt:lpstr>
      <vt:lpstr>以安全为例：EWork所提供的金融级安全体系</vt:lpstr>
      <vt:lpstr>技能层：封装标准工具箱，打造可组合技能单元</vt:lpstr>
      <vt:lpstr>Trace挖掘与Skill自进化闭环</vt:lpstr>
      <vt:lpstr>以指数Skill为例：指数直通车AI Skills</vt:lpstr>
      <vt:lpstr>以营销Skill为例：智能营销内容生产Agent</vt:lpstr>
      <vt:lpstr>PowerPoint 演示文稿</vt:lpstr>
      <vt:lpstr>EWork从平台试点到业务负载运作</vt:lpstr>
      <vt:lpstr>EWork所驱动的AI原生组织方式变革</vt:lpstr>
      <vt:lpstr>在变化中突破惯性，在重构中走向未来</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
  <cp:revision>1</cp:revision>
  <dcterms:modified xsi:type="dcterms:W3CDTF">2026-07-23T03:43:33Z</dcterms:modified>
</cp:coreProperties>
</file>